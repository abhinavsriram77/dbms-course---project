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5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F172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F172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9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85800"/>
            <a:ext cx="9144000" cy="10160"/>
          </a:xfrm>
          <a:custGeom>
            <a:avLst/>
            <a:gdLst/>
            <a:ahLst/>
            <a:cxnLst/>
            <a:rect l="l" t="t" r="r" b="b"/>
            <a:pathLst>
              <a:path w="9144000" h="10159">
                <a:moveTo>
                  <a:pt x="9143999" y="9599"/>
                </a:moveTo>
                <a:lnTo>
                  <a:pt x="0" y="95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59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495934"/>
          </a:xfrm>
          <a:custGeom>
            <a:avLst/>
            <a:gdLst/>
            <a:ahLst/>
            <a:cxnLst/>
            <a:rect l="l" t="t" r="r" b="b"/>
            <a:pathLst>
              <a:path w="9144000" h="495934">
                <a:moveTo>
                  <a:pt x="8763000" y="266712"/>
                </a:moveTo>
                <a:lnTo>
                  <a:pt x="8750186" y="224434"/>
                </a:lnTo>
                <a:lnTo>
                  <a:pt x="8715959" y="196303"/>
                </a:lnTo>
                <a:lnTo>
                  <a:pt x="8686800" y="190512"/>
                </a:lnTo>
                <a:lnTo>
                  <a:pt x="8534400" y="190512"/>
                </a:lnTo>
                <a:lnTo>
                  <a:pt x="8504733" y="196494"/>
                </a:lnTo>
                <a:lnTo>
                  <a:pt x="8480514" y="212826"/>
                </a:lnTo>
                <a:lnTo>
                  <a:pt x="8464182" y="237045"/>
                </a:lnTo>
                <a:lnTo>
                  <a:pt x="8458200" y="266712"/>
                </a:lnTo>
                <a:lnTo>
                  <a:pt x="8458200" y="419112"/>
                </a:lnTo>
                <a:lnTo>
                  <a:pt x="8464182" y="448767"/>
                </a:lnTo>
                <a:lnTo>
                  <a:pt x="8480514" y="472986"/>
                </a:lnTo>
                <a:lnTo>
                  <a:pt x="8504733" y="489318"/>
                </a:lnTo>
                <a:lnTo>
                  <a:pt x="8534400" y="495312"/>
                </a:lnTo>
                <a:lnTo>
                  <a:pt x="8686800" y="495312"/>
                </a:lnTo>
                <a:lnTo>
                  <a:pt x="8716454" y="489318"/>
                </a:lnTo>
                <a:lnTo>
                  <a:pt x="8740673" y="472986"/>
                </a:lnTo>
                <a:lnTo>
                  <a:pt x="8757006" y="448767"/>
                </a:lnTo>
                <a:lnTo>
                  <a:pt x="8763000" y="419112"/>
                </a:lnTo>
                <a:lnTo>
                  <a:pt x="8763000" y="266712"/>
                </a:lnTo>
                <a:close/>
              </a:path>
              <a:path w="9144000" h="495934">
                <a:moveTo>
                  <a:pt x="9144000" y="0"/>
                </a:moveTo>
                <a:lnTo>
                  <a:pt x="0" y="0"/>
                </a:lnTo>
                <a:lnTo>
                  <a:pt x="0" y="38112"/>
                </a:lnTo>
                <a:lnTo>
                  <a:pt x="9144000" y="38112"/>
                </a:lnTo>
                <a:lnTo>
                  <a:pt x="9144000" y="0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3450" y="285750"/>
            <a:ext cx="114299" cy="114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F172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0700" y="1008126"/>
            <a:ext cx="3376295" cy="307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64738B"/>
                </a:solidFill>
                <a:latin typeface="Yu Gothic"/>
                <a:cs typeface="Yu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F172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300" y="91151"/>
            <a:ext cx="7620634" cy="520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F172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537" y="1785937"/>
            <a:ext cx="3857625" cy="1635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4419600" y="428625"/>
            <a:ext cx="304800" cy="304800"/>
            <a:chOff x="4419600" y="428625"/>
            <a:chExt cx="304800" cy="304800"/>
          </a:xfrm>
        </p:grpSpPr>
        <p:sp>
          <p:nvSpPr>
            <p:cNvPr id="5" name="object 5"/>
            <p:cNvSpPr/>
            <p:nvPr/>
          </p:nvSpPr>
          <p:spPr>
            <a:xfrm>
              <a:off x="4419600" y="4286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8599" y="304799"/>
                  </a:moveTo>
                  <a:lnTo>
                    <a:pt x="76199" y="304799"/>
                  </a:lnTo>
                  <a:lnTo>
                    <a:pt x="46539" y="298811"/>
                  </a:lnTo>
                  <a:lnTo>
                    <a:pt x="22318" y="282481"/>
                  </a:lnTo>
                  <a:lnTo>
                    <a:pt x="5988" y="258260"/>
                  </a:lnTo>
                  <a:lnTo>
                    <a:pt x="0" y="228599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228599" y="0"/>
                  </a:lnTo>
                  <a:lnTo>
                    <a:pt x="270875" y="12802"/>
                  </a:lnTo>
                  <a:lnTo>
                    <a:pt x="298999" y="47039"/>
                  </a:lnTo>
                  <a:lnTo>
                    <a:pt x="304799" y="76199"/>
                  </a:lnTo>
                  <a:lnTo>
                    <a:pt x="304799" y="228599"/>
                  </a:lnTo>
                  <a:lnTo>
                    <a:pt x="298811" y="258260"/>
                  </a:lnTo>
                  <a:lnTo>
                    <a:pt x="282481" y="282481"/>
                  </a:lnTo>
                  <a:lnTo>
                    <a:pt x="258260" y="298811"/>
                  </a:lnTo>
                  <a:lnTo>
                    <a:pt x="228599" y="3047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4850" y="52324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191000" y="82867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42949" y="38099"/>
                </a:moveTo>
                <a:lnTo>
                  <a:pt x="19049" y="38099"/>
                </a:lnTo>
                <a:lnTo>
                  <a:pt x="11634" y="36602"/>
                </a:lnTo>
                <a:lnTo>
                  <a:pt x="5579" y="32520"/>
                </a:lnTo>
                <a:lnTo>
                  <a:pt x="1497" y="26465"/>
                </a:lnTo>
                <a:lnTo>
                  <a:pt x="0" y="19049"/>
                </a:lnTo>
                <a:lnTo>
                  <a:pt x="1497" y="11634"/>
                </a:lnTo>
                <a:lnTo>
                  <a:pt x="5579" y="5579"/>
                </a:lnTo>
                <a:lnTo>
                  <a:pt x="11634" y="1497"/>
                </a:lnTo>
                <a:lnTo>
                  <a:pt x="19049" y="0"/>
                </a:lnTo>
                <a:lnTo>
                  <a:pt x="748002" y="0"/>
                </a:lnTo>
                <a:lnTo>
                  <a:pt x="752847" y="2006"/>
                </a:lnTo>
                <a:lnTo>
                  <a:pt x="759992" y="9152"/>
                </a:lnTo>
                <a:lnTo>
                  <a:pt x="761999" y="13997"/>
                </a:lnTo>
                <a:lnTo>
                  <a:pt x="761999" y="19049"/>
                </a:lnTo>
                <a:lnTo>
                  <a:pt x="760502" y="26465"/>
                </a:lnTo>
                <a:lnTo>
                  <a:pt x="756420" y="32520"/>
                </a:lnTo>
                <a:lnTo>
                  <a:pt x="750365" y="36602"/>
                </a:lnTo>
                <a:lnTo>
                  <a:pt x="742949" y="38099"/>
                </a:lnTo>
                <a:close/>
              </a:path>
            </a:pathLst>
          </a:custGeom>
          <a:solidFill>
            <a:srgbClr val="0D9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286500" y="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857500" y="2857499"/>
                </a:moveTo>
                <a:lnTo>
                  <a:pt x="0" y="0"/>
                </a:lnTo>
                <a:lnTo>
                  <a:pt x="2857500" y="0"/>
                </a:lnTo>
                <a:lnTo>
                  <a:pt x="2857500" y="2857499"/>
                </a:lnTo>
                <a:close/>
              </a:path>
            </a:pathLst>
          </a:custGeom>
          <a:solidFill>
            <a:srgbClr val="F0FCF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22634" y="1004723"/>
            <a:ext cx="80930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8054" marR="5080" indent="-3475990">
              <a:lnSpc>
                <a:spcPct val="100000"/>
              </a:lnSpc>
              <a:spcBef>
                <a:spcPts val="100"/>
              </a:spcBef>
            </a:pPr>
            <a:r>
              <a:rPr sz="2000" spc="-25" dirty="0"/>
              <a:t>Pharmacy</a:t>
            </a:r>
            <a:r>
              <a:rPr sz="2000" spc="-50" dirty="0"/>
              <a:t> </a:t>
            </a:r>
            <a:r>
              <a:rPr sz="2000" spc="-20" dirty="0" err="1"/>
              <a:t>Pr</a:t>
            </a:r>
            <a:r>
              <a:rPr lang="en-IN" sz="2000" spc="-20" dirty="0"/>
              <a:t>e</a:t>
            </a:r>
            <a:r>
              <a:rPr sz="2000" spc="-20" dirty="0" err="1"/>
              <a:t>scription</a:t>
            </a:r>
            <a:r>
              <a:rPr sz="2000" spc="370" dirty="0" err="1"/>
              <a:t>s</a:t>
            </a:r>
            <a:r>
              <a:rPr sz="2000" spc="-45" dirty="0"/>
              <a:t> </a:t>
            </a:r>
            <a:r>
              <a:rPr sz="2000" dirty="0"/>
              <a:t>M</a:t>
            </a:r>
            <a:r>
              <a:rPr lang="en-IN" sz="2000" dirty="0"/>
              <a:t>e</a:t>
            </a:r>
            <a:r>
              <a:rPr sz="2000" dirty="0" err="1"/>
              <a:t>dicin</a:t>
            </a:r>
            <a:r>
              <a:rPr lang="en-IN" sz="2000" dirty="0"/>
              <a:t>e</a:t>
            </a:r>
            <a:r>
              <a:rPr sz="2000" dirty="0"/>
              <a:t>s</a:t>
            </a:r>
            <a:r>
              <a:rPr sz="2000" spc="-50" dirty="0"/>
              <a:t> </a:t>
            </a:r>
            <a:r>
              <a:rPr lang="en-IN" sz="2000" spc="-10" dirty="0"/>
              <a:t>stock</a:t>
            </a:r>
            <a:r>
              <a:rPr sz="2000" spc="-10" dirty="0"/>
              <a:t>Manag</a:t>
            </a:r>
            <a:r>
              <a:rPr lang="en-IN" sz="2000" spc="-10" dirty="0"/>
              <a:t>e</a:t>
            </a:r>
            <a:r>
              <a:rPr sz="2000" spc="-10" dirty="0"/>
              <a:t>m</a:t>
            </a:r>
            <a:r>
              <a:rPr lang="en-IN" sz="2000" spc="-10" dirty="0"/>
              <a:t>e</a:t>
            </a:r>
            <a:r>
              <a:rPr sz="2000" spc="-10" dirty="0" err="1"/>
              <a:t>nt</a:t>
            </a:r>
            <a:r>
              <a:rPr sz="2000" spc="-10" dirty="0"/>
              <a:t> Syst</a:t>
            </a:r>
            <a:r>
              <a:rPr lang="en-IN" sz="2000" spc="-10" dirty="0"/>
              <a:t>e</a:t>
            </a:r>
            <a:r>
              <a:rPr sz="2000" spc="-10" dirty="0"/>
              <a:t>m</a:t>
            </a:r>
            <a:endParaRPr sz="2000" dirty="0"/>
          </a:p>
        </p:txBody>
      </p:sp>
      <p:sp>
        <p:nvSpPr>
          <p:cNvPr id="3" name="object 3"/>
          <p:cNvSpPr/>
          <p:nvPr/>
        </p:nvSpPr>
        <p:spPr>
          <a:xfrm>
            <a:off x="0" y="3562393"/>
            <a:ext cx="1905000" cy="1581150"/>
          </a:xfrm>
          <a:custGeom>
            <a:avLst/>
            <a:gdLst/>
            <a:ahLst/>
            <a:cxnLst/>
            <a:rect l="l" t="t" r="r" b="b"/>
            <a:pathLst>
              <a:path w="1905000" h="1581150">
                <a:moveTo>
                  <a:pt x="1904999" y="1581106"/>
                </a:moveTo>
                <a:lnTo>
                  <a:pt x="0" y="1581106"/>
                </a:lnTo>
                <a:lnTo>
                  <a:pt x="0" y="268695"/>
                </a:lnTo>
                <a:lnTo>
                  <a:pt x="71943" y="231957"/>
                </a:lnTo>
                <a:lnTo>
                  <a:pt x="116944" y="209898"/>
                </a:lnTo>
                <a:lnTo>
                  <a:pt x="160814" y="189082"/>
                </a:lnTo>
                <a:lnTo>
                  <a:pt x="203572" y="169487"/>
                </a:lnTo>
                <a:lnTo>
                  <a:pt x="245240" y="151092"/>
                </a:lnTo>
                <a:lnTo>
                  <a:pt x="285836" y="133874"/>
                </a:lnTo>
                <a:lnTo>
                  <a:pt x="325383" y="117812"/>
                </a:lnTo>
                <a:lnTo>
                  <a:pt x="363899" y="102883"/>
                </a:lnTo>
                <a:lnTo>
                  <a:pt x="401405" y="89066"/>
                </a:lnTo>
                <a:lnTo>
                  <a:pt x="437922" y="76338"/>
                </a:lnTo>
                <a:lnTo>
                  <a:pt x="508069" y="54062"/>
                </a:lnTo>
                <a:lnTo>
                  <a:pt x="574501" y="35880"/>
                </a:lnTo>
                <a:lnTo>
                  <a:pt x="637381" y="21616"/>
                </a:lnTo>
                <a:lnTo>
                  <a:pt x="696872" y="11093"/>
                </a:lnTo>
                <a:lnTo>
                  <a:pt x="753136" y="4135"/>
                </a:lnTo>
                <a:lnTo>
                  <a:pt x="806336" y="567"/>
                </a:lnTo>
                <a:lnTo>
                  <a:pt x="831837" y="0"/>
                </a:lnTo>
                <a:lnTo>
                  <a:pt x="856633" y="213"/>
                </a:lnTo>
                <a:lnTo>
                  <a:pt x="904191" y="2896"/>
                </a:lnTo>
                <a:lnTo>
                  <a:pt x="949171" y="8440"/>
                </a:lnTo>
                <a:lnTo>
                  <a:pt x="991737" y="16669"/>
                </a:lnTo>
                <a:lnTo>
                  <a:pt x="1032050" y="27408"/>
                </a:lnTo>
                <a:lnTo>
                  <a:pt x="1070274" y="40479"/>
                </a:lnTo>
                <a:lnTo>
                  <a:pt x="1106570" y="55708"/>
                </a:lnTo>
                <a:lnTo>
                  <a:pt x="1141100" y="72918"/>
                </a:lnTo>
                <a:lnTo>
                  <a:pt x="1189942" y="102062"/>
                </a:lnTo>
                <a:lnTo>
                  <a:pt x="1235726" y="134673"/>
                </a:lnTo>
                <a:lnTo>
                  <a:pt x="1279001" y="170157"/>
                </a:lnTo>
                <a:lnTo>
                  <a:pt x="1320315" y="207920"/>
                </a:lnTo>
                <a:lnTo>
                  <a:pt x="1382240" y="270214"/>
                </a:lnTo>
                <a:lnTo>
                  <a:pt x="1416389" y="307185"/>
                </a:lnTo>
                <a:lnTo>
                  <a:pt x="1449474" y="344957"/>
                </a:lnTo>
                <a:lnTo>
                  <a:pt x="1481487" y="383506"/>
                </a:lnTo>
                <a:lnTo>
                  <a:pt x="1512416" y="422810"/>
                </a:lnTo>
                <a:lnTo>
                  <a:pt x="1542253" y="462843"/>
                </a:lnTo>
                <a:lnTo>
                  <a:pt x="1570987" y="503583"/>
                </a:lnTo>
                <a:lnTo>
                  <a:pt x="1598608" y="545006"/>
                </a:lnTo>
                <a:lnTo>
                  <a:pt x="1625108" y="587088"/>
                </a:lnTo>
                <a:lnTo>
                  <a:pt x="1650475" y="629805"/>
                </a:lnTo>
                <a:lnTo>
                  <a:pt x="1674701" y="673135"/>
                </a:lnTo>
                <a:lnTo>
                  <a:pt x="1697775" y="717052"/>
                </a:lnTo>
                <a:lnTo>
                  <a:pt x="1719688" y="761533"/>
                </a:lnTo>
                <a:lnTo>
                  <a:pt x="1740430" y="806555"/>
                </a:lnTo>
                <a:lnTo>
                  <a:pt x="1759990" y="852094"/>
                </a:lnTo>
                <a:lnTo>
                  <a:pt x="1778360" y="898126"/>
                </a:lnTo>
                <a:lnTo>
                  <a:pt x="1795529" y="944628"/>
                </a:lnTo>
                <a:lnTo>
                  <a:pt x="1811487" y="991576"/>
                </a:lnTo>
                <a:lnTo>
                  <a:pt x="1826225" y="1038946"/>
                </a:lnTo>
                <a:lnTo>
                  <a:pt x="1839733" y="1086714"/>
                </a:lnTo>
                <a:lnTo>
                  <a:pt x="1852001" y="1134857"/>
                </a:lnTo>
                <a:lnTo>
                  <a:pt x="1863020" y="1183352"/>
                </a:lnTo>
                <a:lnTo>
                  <a:pt x="1872779" y="1232174"/>
                </a:lnTo>
                <a:lnTo>
                  <a:pt x="1881268" y="1281299"/>
                </a:lnTo>
                <a:lnTo>
                  <a:pt x="1888478" y="1330705"/>
                </a:lnTo>
                <a:lnTo>
                  <a:pt x="1894400" y="1380367"/>
                </a:lnTo>
                <a:lnTo>
                  <a:pt x="1899022" y="1430262"/>
                </a:lnTo>
                <a:lnTo>
                  <a:pt x="1902336" y="1480366"/>
                </a:lnTo>
                <a:lnTo>
                  <a:pt x="1904332" y="1530655"/>
                </a:lnTo>
                <a:lnTo>
                  <a:pt x="1904999" y="1581106"/>
                </a:lnTo>
                <a:close/>
              </a:path>
            </a:pathLst>
          </a:custGeom>
          <a:solidFill>
            <a:srgbClr val="F0FCF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66737" y="2233612"/>
            <a:ext cx="8010525" cy="2438400"/>
            <a:chOff x="566737" y="2233612"/>
            <a:chExt cx="8010525" cy="2438400"/>
          </a:xfrm>
        </p:grpSpPr>
        <p:sp>
          <p:nvSpPr>
            <p:cNvPr id="10" name="object 10"/>
            <p:cNvSpPr/>
            <p:nvPr/>
          </p:nvSpPr>
          <p:spPr>
            <a:xfrm>
              <a:off x="571500" y="2238375"/>
              <a:ext cx="8001000" cy="2428875"/>
            </a:xfrm>
            <a:custGeom>
              <a:avLst/>
              <a:gdLst/>
              <a:ahLst/>
              <a:cxnLst/>
              <a:rect l="l" t="t" r="r" b="b"/>
              <a:pathLst>
                <a:path w="8001000" h="2428875">
                  <a:moveTo>
                    <a:pt x="7886724" y="2428799"/>
                  </a:moveTo>
                  <a:lnTo>
                    <a:pt x="114275" y="2428799"/>
                  </a:lnTo>
                  <a:lnTo>
                    <a:pt x="69794" y="2419819"/>
                  </a:lnTo>
                  <a:lnTo>
                    <a:pt x="33470" y="2395329"/>
                  </a:lnTo>
                  <a:lnTo>
                    <a:pt x="8980" y="2359006"/>
                  </a:lnTo>
                  <a:lnTo>
                    <a:pt x="0" y="2314524"/>
                  </a:lnTo>
                  <a:lnTo>
                    <a:pt x="0" y="114274"/>
                  </a:lnTo>
                  <a:lnTo>
                    <a:pt x="8980" y="69794"/>
                  </a:lnTo>
                  <a:lnTo>
                    <a:pt x="33470" y="33470"/>
                  </a:lnTo>
                  <a:lnTo>
                    <a:pt x="69794" y="8980"/>
                  </a:lnTo>
                  <a:lnTo>
                    <a:pt x="114275" y="0"/>
                  </a:lnTo>
                  <a:lnTo>
                    <a:pt x="7886724" y="0"/>
                  </a:lnTo>
                  <a:lnTo>
                    <a:pt x="7930456" y="8698"/>
                  </a:lnTo>
                  <a:lnTo>
                    <a:pt x="7967529" y="33470"/>
                  </a:lnTo>
                  <a:lnTo>
                    <a:pt x="7992301" y="70543"/>
                  </a:lnTo>
                  <a:lnTo>
                    <a:pt x="8000999" y="114274"/>
                  </a:lnTo>
                  <a:lnTo>
                    <a:pt x="8000999" y="2314524"/>
                  </a:lnTo>
                  <a:lnTo>
                    <a:pt x="7992019" y="2359006"/>
                  </a:lnTo>
                  <a:lnTo>
                    <a:pt x="7967529" y="2395329"/>
                  </a:lnTo>
                  <a:lnTo>
                    <a:pt x="7931206" y="2419819"/>
                  </a:lnTo>
                  <a:lnTo>
                    <a:pt x="7886724" y="242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500" y="2238375"/>
              <a:ext cx="8001000" cy="2428875"/>
            </a:xfrm>
            <a:custGeom>
              <a:avLst/>
              <a:gdLst/>
              <a:ahLst/>
              <a:cxnLst/>
              <a:rect l="l" t="t" r="r" b="b"/>
              <a:pathLst>
                <a:path w="8001000" h="2428875">
                  <a:moveTo>
                    <a:pt x="0" y="114274"/>
                  </a:moveTo>
                  <a:lnTo>
                    <a:pt x="8980" y="69794"/>
                  </a:lnTo>
                  <a:lnTo>
                    <a:pt x="33470" y="33470"/>
                  </a:lnTo>
                  <a:lnTo>
                    <a:pt x="69794" y="8980"/>
                  </a:lnTo>
                  <a:lnTo>
                    <a:pt x="114275" y="0"/>
                  </a:lnTo>
                  <a:lnTo>
                    <a:pt x="7886724" y="0"/>
                  </a:lnTo>
                  <a:lnTo>
                    <a:pt x="7930456" y="8698"/>
                  </a:lnTo>
                  <a:lnTo>
                    <a:pt x="7967529" y="33470"/>
                  </a:lnTo>
                  <a:lnTo>
                    <a:pt x="7992301" y="70543"/>
                  </a:lnTo>
                  <a:lnTo>
                    <a:pt x="8000999" y="114274"/>
                  </a:lnTo>
                  <a:lnTo>
                    <a:pt x="8000999" y="2314524"/>
                  </a:lnTo>
                  <a:lnTo>
                    <a:pt x="7992019" y="2359006"/>
                  </a:lnTo>
                  <a:lnTo>
                    <a:pt x="7967529" y="2395329"/>
                  </a:lnTo>
                  <a:lnTo>
                    <a:pt x="7931206" y="2419819"/>
                  </a:lnTo>
                  <a:lnTo>
                    <a:pt x="7886724" y="2428799"/>
                  </a:lnTo>
                  <a:lnTo>
                    <a:pt x="114275" y="2428799"/>
                  </a:lnTo>
                  <a:lnTo>
                    <a:pt x="69794" y="2419819"/>
                  </a:lnTo>
                  <a:lnTo>
                    <a:pt x="33470" y="2395329"/>
                  </a:lnTo>
                  <a:lnTo>
                    <a:pt x="8980" y="2359006"/>
                  </a:lnTo>
                  <a:lnTo>
                    <a:pt x="0" y="2314524"/>
                  </a:lnTo>
                  <a:lnTo>
                    <a:pt x="0" y="114274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1499" y="2238374"/>
              <a:ext cx="76200" cy="2428875"/>
            </a:xfrm>
            <a:custGeom>
              <a:avLst/>
              <a:gdLst/>
              <a:ahLst/>
              <a:cxnLst/>
              <a:rect l="l" t="t" r="r" b="b"/>
              <a:pathLst>
                <a:path w="76200" h="2428875">
                  <a:moveTo>
                    <a:pt x="38099" y="2428799"/>
                  </a:moveTo>
                  <a:lnTo>
                    <a:pt x="23269" y="2425805"/>
                  </a:lnTo>
                  <a:lnTo>
                    <a:pt x="11159" y="2417640"/>
                  </a:lnTo>
                  <a:lnTo>
                    <a:pt x="2994" y="2405530"/>
                  </a:lnTo>
                  <a:lnTo>
                    <a:pt x="0" y="2390699"/>
                  </a:lnTo>
                  <a:lnTo>
                    <a:pt x="0" y="38099"/>
                  </a:lnTo>
                  <a:lnTo>
                    <a:pt x="2943" y="23519"/>
                  </a:lnTo>
                  <a:lnTo>
                    <a:pt x="2994" y="23269"/>
                  </a:lnTo>
                  <a:lnTo>
                    <a:pt x="11159" y="11159"/>
                  </a:lnTo>
                  <a:lnTo>
                    <a:pt x="23409" y="2900"/>
                  </a:lnTo>
                  <a:lnTo>
                    <a:pt x="23735" y="2900"/>
                  </a:lnTo>
                  <a:lnTo>
                    <a:pt x="38099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2390699"/>
                  </a:lnTo>
                  <a:lnTo>
                    <a:pt x="73205" y="2405530"/>
                  </a:lnTo>
                  <a:lnTo>
                    <a:pt x="65040" y="2417640"/>
                  </a:lnTo>
                  <a:lnTo>
                    <a:pt x="52930" y="2425805"/>
                  </a:lnTo>
                  <a:lnTo>
                    <a:pt x="38099" y="24287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4400" y="2466975"/>
              <a:ext cx="1191260" cy="210185"/>
            </a:xfrm>
            <a:custGeom>
              <a:avLst/>
              <a:gdLst/>
              <a:ahLst/>
              <a:cxnLst/>
              <a:rect l="l" t="t" r="r" b="b"/>
              <a:pathLst>
                <a:path w="1191260" h="210185">
                  <a:moveTo>
                    <a:pt x="1085849" y="209699"/>
                  </a:moveTo>
                  <a:lnTo>
                    <a:pt x="104849" y="209699"/>
                  </a:lnTo>
                  <a:lnTo>
                    <a:pt x="64037" y="201460"/>
                  </a:lnTo>
                  <a:lnTo>
                    <a:pt x="30709" y="178990"/>
                  </a:lnTo>
                  <a:lnTo>
                    <a:pt x="8239" y="145662"/>
                  </a:lnTo>
                  <a:lnTo>
                    <a:pt x="0" y="104849"/>
                  </a:lnTo>
                  <a:lnTo>
                    <a:pt x="8239" y="64037"/>
                  </a:lnTo>
                  <a:lnTo>
                    <a:pt x="30710" y="30709"/>
                  </a:lnTo>
                  <a:lnTo>
                    <a:pt x="64037" y="8239"/>
                  </a:lnTo>
                  <a:lnTo>
                    <a:pt x="104849" y="0"/>
                  </a:lnTo>
                  <a:lnTo>
                    <a:pt x="1085849" y="0"/>
                  </a:lnTo>
                  <a:lnTo>
                    <a:pt x="1125974" y="7981"/>
                  </a:lnTo>
                  <a:lnTo>
                    <a:pt x="1159990" y="30709"/>
                  </a:lnTo>
                  <a:lnTo>
                    <a:pt x="1182718" y="64725"/>
                  </a:lnTo>
                  <a:lnTo>
                    <a:pt x="1190699" y="104849"/>
                  </a:lnTo>
                  <a:lnTo>
                    <a:pt x="1182460" y="145662"/>
                  </a:lnTo>
                  <a:lnTo>
                    <a:pt x="1159990" y="178990"/>
                  </a:lnTo>
                  <a:lnTo>
                    <a:pt x="1126662" y="201460"/>
                  </a:lnTo>
                  <a:lnTo>
                    <a:pt x="1085849" y="2096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2000" y="1817015"/>
            <a:ext cx="7218680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00"/>
              </a:spcBef>
            </a:pPr>
            <a:r>
              <a:rPr sz="1500" b="1" spc="-45" dirty="0">
                <a:solidFill>
                  <a:srgbClr val="0D9488"/>
                </a:solidFill>
                <a:latin typeface="Yu Gothic"/>
                <a:cs typeface="Yu Gothic"/>
              </a:rPr>
              <a:t>Final</a:t>
            </a:r>
            <a:r>
              <a:rPr sz="15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0D9488"/>
                </a:solidFill>
                <a:latin typeface="Yu Gothic"/>
                <a:cs typeface="Yu Gothic"/>
              </a:rPr>
              <a:t>Implementation</a:t>
            </a:r>
            <a:r>
              <a:rPr sz="15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190" dirty="0">
                <a:solidFill>
                  <a:srgbClr val="0D9488"/>
                </a:solidFill>
                <a:latin typeface="Yu Gothic"/>
                <a:cs typeface="Yu Gothic"/>
              </a:rPr>
              <a:t>s</a:t>
            </a:r>
            <a:r>
              <a:rPr sz="1500" b="1" spc="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dirty="0">
                <a:solidFill>
                  <a:srgbClr val="0D9488"/>
                </a:solidFill>
                <a:latin typeface="Yu Gothic"/>
                <a:cs typeface="Yu Gothic"/>
              </a:rPr>
              <a:t>Working </a:t>
            </a: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Software</a:t>
            </a:r>
            <a:r>
              <a:rPr sz="15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-25" dirty="0">
                <a:solidFill>
                  <a:srgbClr val="0D9488"/>
                </a:solidFill>
                <a:latin typeface="Yu Gothic"/>
                <a:cs typeface="Yu Gothic"/>
              </a:rPr>
              <a:t>Demonstration</a:t>
            </a:r>
            <a:r>
              <a:rPr sz="1500" b="1" spc="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-40" dirty="0">
                <a:solidFill>
                  <a:srgbClr val="0D9488"/>
                </a:solidFill>
                <a:latin typeface="Yu Gothic"/>
                <a:cs typeface="Yu Gothic"/>
              </a:rPr>
              <a:t>(Presentation-</a:t>
            </a: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III)</a:t>
            </a:r>
            <a:endParaRPr sz="1500" dirty="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500" dirty="0">
              <a:latin typeface="Yu Gothic"/>
              <a:cs typeface="Yu Gothic"/>
            </a:endParaRPr>
          </a:p>
          <a:p>
            <a:pPr marL="139700">
              <a:lnSpc>
                <a:spcPct val="100000"/>
              </a:lnSpc>
            </a:pPr>
            <a:r>
              <a:rPr sz="85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50" b="1" spc="-10" dirty="0">
                <a:solidFill>
                  <a:srgbClr val="0D9488"/>
                </a:solidFill>
                <a:latin typeface="Yu Gothic"/>
                <a:cs typeface="Yu Gothic"/>
              </a:rPr>
              <a:t>PRESENTER</a:t>
            </a:r>
            <a:endParaRPr sz="85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50" b="1" dirty="0">
                <a:solidFill>
                  <a:srgbClr val="0F172A"/>
                </a:solidFill>
                <a:latin typeface="Tahoma"/>
                <a:cs typeface="Tahoma"/>
              </a:rPr>
              <a:t>Y.</a:t>
            </a:r>
            <a:r>
              <a:rPr sz="1850" b="1" spc="-14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lang="en-IN" sz="1850" b="1" spc="-140" dirty="0">
                <a:solidFill>
                  <a:srgbClr val="0F172A"/>
                </a:solidFill>
                <a:latin typeface="Tahoma"/>
                <a:cs typeface="Tahoma"/>
              </a:rPr>
              <a:t>A</a:t>
            </a:r>
            <a:r>
              <a:rPr sz="1850" b="1" spc="-10" dirty="0" err="1">
                <a:solidFill>
                  <a:srgbClr val="0F172A"/>
                </a:solidFill>
                <a:latin typeface="Tahoma"/>
                <a:cs typeface="Tahoma"/>
              </a:rPr>
              <a:t>bhinav</a:t>
            </a:r>
            <a:r>
              <a:rPr sz="1850" b="1" spc="-7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850" b="1" spc="-35" dirty="0">
                <a:solidFill>
                  <a:srgbClr val="0F172A"/>
                </a:solidFill>
                <a:latin typeface="Tahoma"/>
                <a:cs typeface="Tahoma"/>
              </a:rPr>
              <a:t>Sri</a:t>
            </a:r>
            <a:r>
              <a:rPr sz="1850" b="1" spc="-8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850" b="1" spc="-25" dirty="0">
                <a:solidFill>
                  <a:srgbClr val="0F172A"/>
                </a:solidFill>
                <a:latin typeface="Tahoma"/>
                <a:cs typeface="Tahoma"/>
              </a:rPr>
              <a:t>Ram</a:t>
            </a:r>
            <a:endParaRPr sz="18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00" b="1" dirty="0">
                <a:solidFill>
                  <a:srgbClr val="0D9488"/>
                </a:solidFill>
                <a:latin typeface="Yu Gothic"/>
                <a:cs typeface="Yu Gothic"/>
              </a:rPr>
              <a:t>Reg.</a:t>
            </a:r>
            <a:r>
              <a:rPr sz="1000" b="1" spc="-1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dirty="0">
                <a:solidFill>
                  <a:srgbClr val="0D9488"/>
                </a:solidFill>
                <a:latin typeface="Yu Gothic"/>
                <a:cs typeface="Yu Gothic"/>
              </a:rPr>
              <a:t>No:</a:t>
            </a:r>
            <a:r>
              <a:rPr sz="10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10" dirty="0">
                <a:solidFill>
                  <a:srgbClr val="0D9488"/>
                </a:solidFill>
                <a:latin typeface="Yu Gothic"/>
                <a:cs typeface="Yu Gothic"/>
              </a:rPr>
              <a:t>25WU0101158</a:t>
            </a:r>
            <a:endParaRPr sz="1000" dirty="0">
              <a:latin typeface="Yu Gothic"/>
              <a:cs typeface="Yu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3305175"/>
            <a:ext cx="7315200" cy="10160"/>
          </a:xfrm>
          <a:custGeom>
            <a:avLst/>
            <a:gdLst/>
            <a:ahLst/>
            <a:cxnLst/>
            <a:rect l="l" t="t" r="r" b="b"/>
            <a:pathLst>
              <a:path w="7315200" h="10160">
                <a:moveTo>
                  <a:pt x="7315199" y="9599"/>
                </a:moveTo>
                <a:lnTo>
                  <a:pt x="0" y="9599"/>
                </a:lnTo>
                <a:lnTo>
                  <a:pt x="0" y="0"/>
                </a:lnTo>
                <a:lnTo>
                  <a:pt x="7315199" y="0"/>
                </a:lnTo>
                <a:lnTo>
                  <a:pt x="7315199" y="959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01700" y="3389377"/>
            <a:ext cx="3061335" cy="10001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800" b="1" spc="-35" dirty="0">
                <a:solidFill>
                  <a:srgbClr val="94A3B8"/>
                </a:solidFill>
                <a:latin typeface="Yu Gothic"/>
                <a:cs typeface="Yu Gothic"/>
              </a:rPr>
              <a:t>DEGREE</a:t>
            </a:r>
            <a:r>
              <a:rPr sz="800" b="1" spc="-20" dirty="0">
                <a:solidFill>
                  <a:srgbClr val="94A3B8"/>
                </a:solidFill>
                <a:latin typeface="Yu Gothic"/>
                <a:cs typeface="Yu Gothic"/>
              </a:rPr>
              <a:t> </a:t>
            </a:r>
            <a:r>
              <a:rPr sz="800" b="1" spc="105" dirty="0">
                <a:solidFill>
                  <a:srgbClr val="94A3B8"/>
                </a:solidFill>
                <a:latin typeface="Yu Gothic"/>
                <a:cs typeface="Yu Gothic"/>
              </a:rPr>
              <a:t>s</a:t>
            </a:r>
            <a:r>
              <a:rPr sz="800" b="1" spc="-20" dirty="0">
                <a:solidFill>
                  <a:srgbClr val="94A3B8"/>
                </a:solidFill>
                <a:latin typeface="Yu Gothic"/>
                <a:cs typeface="Yu Gothic"/>
              </a:rPr>
              <a:t> </a:t>
            </a:r>
            <a:r>
              <a:rPr sz="800" b="1" spc="-10" dirty="0">
                <a:solidFill>
                  <a:srgbClr val="94A3B8"/>
                </a:solidFill>
                <a:latin typeface="Yu Gothic"/>
                <a:cs typeface="Yu Gothic"/>
              </a:rPr>
              <a:t>PROGRAM</a:t>
            </a:r>
            <a:endParaRPr sz="800">
              <a:latin typeface="Yu Gothic"/>
              <a:cs typeface="Yu Gothic"/>
            </a:endParaRPr>
          </a:p>
          <a:p>
            <a:pPr marL="12700" marR="5080">
              <a:lnSpc>
                <a:spcPct val="103899"/>
              </a:lnSpc>
              <a:spcBef>
                <a:spcPts val="290"/>
              </a:spcBef>
            </a:pP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B.Tech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Computer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Science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and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Engineering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(AI</a:t>
            </a:r>
            <a:r>
              <a:rPr sz="900" b="1" spc="3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spc="140" dirty="0">
                <a:solidFill>
                  <a:srgbClr val="0F172A"/>
                </a:solidFill>
                <a:latin typeface="Yu Gothic"/>
                <a:cs typeface="Yu Gothic"/>
              </a:rPr>
              <a:t>s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spc="-20" dirty="0">
                <a:solidFill>
                  <a:srgbClr val="0F172A"/>
                </a:solidFill>
                <a:latin typeface="Yu Gothic"/>
                <a:cs typeface="Yu Gothic"/>
              </a:rPr>
              <a:t>ML), </a:t>
            </a:r>
            <a:r>
              <a:rPr sz="900" b="1" dirty="0">
                <a:solidFill>
                  <a:srgbClr val="0F172A"/>
                </a:solidFill>
                <a:latin typeface="Yu Gothic"/>
                <a:cs typeface="Yu Gothic"/>
              </a:rPr>
              <a:t>Semester</a:t>
            </a:r>
            <a:r>
              <a:rPr sz="900" b="1" spc="10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spc="30" dirty="0">
                <a:solidFill>
                  <a:srgbClr val="0F172A"/>
                </a:solidFill>
                <a:latin typeface="Yu Gothic"/>
                <a:cs typeface="Yu Gothic"/>
              </a:rPr>
              <a:t>3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800" b="1" spc="-25" dirty="0">
                <a:solidFill>
                  <a:srgbClr val="94A3B8"/>
                </a:solidFill>
                <a:latin typeface="Yu Gothic"/>
                <a:cs typeface="Yu Gothic"/>
              </a:rPr>
              <a:t>DEPARTMENT</a:t>
            </a:r>
            <a:r>
              <a:rPr sz="800" b="1" spc="-15" dirty="0">
                <a:solidFill>
                  <a:srgbClr val="94A3B8"/>
                </a:solidFill>
                <a:latin typeface="Yu Gothic"/>
                <a:cs typeface="Yu Gothic"/>
              </a:rPr>
              <a:t> </a:t>
            </a:r>
            <a:r>
              <a:rPr sz="800" b="1" spc="105" dirty="0">
                <a:solidFill>
                  <a:srgbClr val="94A3B8"/>
                </a:solidFill>
                <a:latin typeface="Yu Gothic"/>
                <a:cs typeface="Yu Gothic"/>
              </a:rPr>
              <a:t>s</a:t>
            </a:r>
            <a:r>
              <a:rPr sz="800" b="1" spc="-15" dirty="0">
                <a:solidFill>
                  <a:srgbClr val="94A3B8"/>
                </a:solidFill>
                <a:latin typeface="Yu Gothic"/>
                <a:cs typeface="Yu Gothic"/>
              </a:rPr>
              <a:t> </a:t>
            </a:r>
            <a:r>
              <a:rPr sz="800" b="1" spc="-10" dirty="0">
                <a:solidFill>
                  <a:srgbClr val="94A3B8"/>
                </a:solidFill>
                <a:latin typeface="Yu Gothic"/>
                <a:cs typeface="Yu Gothic"/>
              </a:rPr>
              <a:t>INSTITUTION</a:t>
            </a:r>
            <a:endParaRPr sz="800">
              <a:latin typeface="Yu Gothic"/>
              <a:cs typeface="Yu Gothic"/>
            </a:endParaRPr>
          </a:p>
          <a:p>
            <a:pPr marL="12700" marR="43180">
              <a:lnSpc>
                <a:spcPct val="100000"/>
              </a:lnSpc>
              <a:spcBef>
                <a:spcPts val="300"/>
              </a:spcBef>
            </a:pP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Department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Computer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Science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475568"/>
                </a:solidFill>
                <a:latin typeface="Tahoma"/>
                <a:cs typeface="Tahoma"/>
              </a:rPr>
              <a:t>&amp;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Engineering,</a:t>
            </a:r>
            <a:r>
              <a:rPr sz="85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School</a:t>
            </a:r>
            <a:r>
              <a:rPr sz="8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475568"/>
                </a:solidFill>
                <a:latin typeface="Tahoma"/>
                <a:cs typeface="Tahoma"/>
              </a:rPr>
              <a:t>of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Technology,</a:t>
            </a:r>
            <a:r>
              <a:rPr sz="850" spc="13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Woxsen</a:t>
            </a:r>
            <a:r>
              <a:rPr sz="850" spc="1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475568"/>
                </a:solidFill>
                <a:latin typeface="Tahoma"/>
                <a:cs typeface="Tahoma"/>
              </a:rPr>
              <a:t>University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2650" y="3388752"/>
            <a:ext cx="2920365" cy="8343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b="1" spc="-10" dirty="0">
                <a:solidFill>
                  <a:srgbClr val="94A3B8"/>
                </a:solidFill>
                <a:latin typeface="Yu Gothic"/>
                <a:cs typeface="Yu Gothic"/>
              </a:rPr>
              <a:t>COURSE</a:t>
            </a:r>
            <a:endParaRPr sz="9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Database</a:t>
            </a:r>
            <a:r>
              <a:rPr sz="1100" b="1" spc="-4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Management</a:t>
            </a:r>
            <a:r>
              <a:rPr sz="1100" b="1" spc="-3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dirty="0">
                <a:solidFill>
                  <a:srgbClr val="0F172A"/>
                </a:solidFill>
                <a:latin typeface="Yu Gothic"/>
                <a:cs typeface="Yu Gothic"/>
              </a:rPr>
              <a:t>Systems</a:t>
            </a:r>
            <a:r>
              <a:rPr sz="1100" b="1" spc="-3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(CSE2101)</a:t>
            </a:r>
            <a:endParaRPr sz="11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b="1" spc="-45" dirty="0">
                <a:solidFill>
                  <a:srgbClr val="94A3B8"/>
                </a:solidFill>
                <a:latin typeface="Yu Gothic"/>
                <a:cs typeface="Yu Gothic"/>
              </a:rPr>
              <a:t>GUIDED</a:t>
            </a:r>
            <a:r>
              <a:rPr sz="950" b="1" spc="-25" dirty="0">
                <a:solidFill>
                  <a:srgbClr val="94A3B8"/>
                </a:solidFill>
                <a:latin typeface="Yu Gothic"/>
                <a:cs typeface="Yu Gothic"/>
              </a:rPr>
              <a:t> BY</a:t>
            </a:r>
            <a:endParaRPr sz="9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b="1" spc="-35" dirty="0">
                <a:solidFill>
                  <a:srgbClr val="0D9488"/>
                </a:solidFill>
                <a:latin typeface="Yu Gothic"/>
                <a:cs typeface="Yu Gothic"/>
              </a:rPr>
              <a:t>Dr.</a:t>
            </a:r>
            <a:r>
              <a:rPr sz="1100" b="1" spc="-6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20" dirty="0">
                <a:solidFill>
                  <a:srgbClr val="0D9488"/>
                </a:solidFill>
                <a:latin typeface="Yu Gothic"/>
                <a:cs typeface="Yu Gothic"/>
              </a:rPr>
              <a:t>Kiran</a:t>
            </a:r>
            <a:r>
              <a:rPr sz="11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D9488"/>
                </a:solidFill>
                <a:latin typeface="Yu Gothic"/>
                <a:cs typeface="Yu Gothic"/>
              </a:rPr>
              <a:t>Mayee</a:t>
            </a:r>
            <a:r>
              <a:rPr sz="11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D9488"/>
                </a:solidFill>
                <a:latin typeface="Yu Gothic"/>
                <a:cs typeface="Yu Gothic"/>
              </a:rPr>
              <a:t>Advala</a:t>
            </a:r>
            <a:endParaRPr sz="1100">
              <a:latin typeface="Yu Gothic"/>
              <a:cs typeface="Yu Gothic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243268-5E7B-D696-8BFD-970FE162E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38100"/>
            </a:xfrm>
            <a:custGeom>
              <a:avLst/>
              <a:gdLst/>
              <a:ahLst/>
              <a:cxnLst/>
              <a:rect l="l" t="t" r="r" b="b"/>
              <a:pathLst>
                <a:path w="9144000" h="38100">
                  <a:moveTo>
                    <a:pt x="9143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8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1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Systsm</a:t>
            </a:r>
            <a:r>
              <a:rPr spc="-55" dirty="0"/>
              <a:t> </a:t>
            </a:r>
            <a:r>
              <a:rPr dirty="0"/>
              <a:t>6rchitscturs</a:t>
            </a:r>
            <a:r>
              <a:rPr spc="-50" dirty="0"/>
              <a:t> </a:t>
            </a:r>
            <a:r>
              <a:rPr spc="325" dirty="0"/>
              <a:t>s</a:t>
            </a:r>
            <a:r>
              <a:rPr spc="-55" dirty="0"/>
              <a:t> </a:t>
            </a:r>
            <a:r>
              <a:rPr spc="-10" dirty="0"/>
              <a:t>Solutions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458200" y="190500"/>
            <a:ext cx="304800" cy="304800"/>
            <a:chOff x="8458200" y="190500"/>
            <a:chExt cx="304800" cy="304800"/>
          </a:xfrm>
        </p:grpSpPr>
        <p:sp>
          <p:nvSpPr>
            <p:cNvPr id="8" name="object 8"/>
            <p:cNvSpPr/>
            <p:nvPr/>
          </p:nvSpPr>
          <p:spPr>
            <a:xfrm>
              <a:off x="8458200" y="190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8599" y="304799"/>
                  </a:moveTo>
                  <a:lnTo>
                    <a:pt x="76199" y="304799"/>
                  </a:lnTo>
                  <a:lnTo>
                    <a:pt x="46539" y="298811"/>
                  </a:lnTo>
                  <a:lnTo>
                    <a:pt x="22318" y="282481"/>
                  </a:lnTo>
                  <a:lnTo>
                    <a:pt x="5988" y="258260"/>
                  </a:lnTo>
                  <a:lnTo>
                    <a:pt x="0" y="228599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228599" y="0"/>
                  </a:lnTo>
                  <a:lnTo>
                    <a:pt x="270875" y="12802"/>
                  </a:lnTo>
                  <a:lnTo>
                    <a:pt x="298999" y="47039"/>
                  </a:lnTo>
                  <a:lnTo>
                    <a:pt x="304799" y="76199"/>
                  </a:lnTo>
                  <a:lnTo>
                    <a:pt x="304799" y="228599"/>
                  </a:lnTo>
                  <a:lnTo>
                    <a:pt x="298811" y="258260"/>
                  </a:lnTo>
                  <a:lnTo>
                    <a:pt x="282481" y="282481"/>
                  </a:lnTo>
                  <a:lnTo>
                    <a:pt x="258260" y="298811"/>
                  </a:lnTo>
                  <a:lnTo>
                    <a:pt x="228599" y="3047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285750"/>
              <a:ext cx="114299" cy="1143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76237" y="909637"/>
            <a:ext cx="3057525" cy="3857625"/>
            <a:chOff x="376237" y="909637"/>
            <a:chExt cx="3057525" cy="3857625"/>
          </a:xfrm>
        </p:grpSpPr>
        <p:sp>
          <p:nvSpPr>
            <p:cNvPr id="11" name="object 11"/>
            <p:cNvSpPr/>
            <p:nvPr/>
          </p:nvSpPr>
          <p:spPr>
            <a:xfrm>
              <a:off x="381000" y="914400"/>
              <a:ext cx="3048000" cy="3848100"/>
            </a:xfrm>
            <a:custGeom>
              <a:avLst/>
              <a:gdLst/>
              <a:ahLst/>
              <a:cxnLst/>
              <a:rect l="l" t="t" r="r" b="b"/>
              <a:pathLst>
                <a:path w="3048000" h="3848100">
                  <a:moveTo>
                    <a:pt x="2933699" y="3848099"/>
                  </a:moveTo>
                  <a:lnTo>
                    <a:pt x="114299" y="3848099"/>
                  </a:lnTo>
                  <a:lnTo>
                    <a:pt x="69809" y="3839117"/>
                  </a:lnTo>
                  <a:lnTo>
                    <a:pt x="33477" y="3814622"/>
                  </a:lnTo>
                  <a:lnTo>
                    <a:pt x="8982" y="3778290"/>
                  </a:lnTo>
                  <a:lnTo>
                    <a:pt x="0" y="3733799"/>
                  </a:lnTo>
                  <a:lnTo>
                    <a:pt x="0" y="114299"/>
                  </a:ln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733799"/>
                  </a:lnTo>
                  <a:lnTo>
                    <a:pt x="3039017" y="3778290"/>
                  </a:lnTo>
                  <a:lnTo>
                    <a:pt x="3014522" y="3814622"/>
                  </a:lnTo>
                  <a:lnTo>
                    <a:pt x="2978190" y="3839117"/>
                  </a:lnTo>
                  <a:lnTo>
                    <a:pt x="2933699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000" y="914400"/>
              <a:ext cx="3048000" cy="3848100"/>
            </a:xfrm>
            <a:custGeom>
              <a:avLst/>
              <a:gdLst/>
              <a:ahLst/>
              <a:cxnLst/>
              <a:rect l="l" t="t" r="r" b="b"/>
              <a:pathLst>
                <a:path w="3048000" h="3848100">
                  <a:moveTo>
                    <a:pt x="0" y="114299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299" y="0"/>
                  </a:lnTo>
                  <a:lnTo>
                    <a:pt x="2933699" y="0"/>
                  </a:lnTo>
                  <a:lnTo>
                    <a:pt x="2977440" y="8700"/>
                  </a:lnTo>
                  <a:lnTo>
                    <a:pt x="3014522" y="33477"/>
                  </a:lnTo>
                  <a:lnTo>
                    <a:pt x="3039299" y="70559"/>
                  </a:lnTo>
                  <a:lnTo>
                    <a:pt x="3047999" y="114299"/>
                  </a:lnTo>
                  <a:lnTo>
                    <a:pt x="3047999" y="3733799"/>
                  </a:lnTo>
                  <a:lnTo>
                    <a:pt x="3039017" y="3778290"/>
                  </a:lnTo>
                  <a:lnTo>
                    <a:pt x="3014522" y="3814622"/>
                  </a:lnTo>
                  <a:lnTo>
                    <a:pt x="2978190" y="3839117"/>
                  </a:lnTo>
                  <a:lnTo>
                    <a:pt x="2933699" y="3848099"/>
                  </a:lnTo>
                  <a:lnTo>
                    <a:pt x="114299" y="3848099"/>
                  </a:lnTo>
                  <a:lnTo>
                    <a:pt x="69809" y="3839117"/>
                  </a:lnTo>
                  <a:lnTo>
                    <a:pt x="33477" y="3814622"/>
                  </a:lnTo>
                  <a:lnTo>
                    <a:pt x="8982" y="3778290"/>
                  </a:lnTo>
                  <a:lnTo>
                    <a:pt x="0" y="3733799"/>
                  </a:lnTo>
                  <a:lnTo>
                    <a:pt x="0" y="11429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999" y="914399"/>
              <a:ext cx="3048000" cy="38100"/>
            </a:xfrm>
            <a:custGeom>
              <a:avLst/>
              <a:gdLst/>
              <a:ahLst/>
              <a:cxnLst/>
              <a:rect l="l" t="t" r="r" b="b"/>
              <a:pathLst>
                <a:path w="3048000" h="38100">
                  <a:moveTo>
                    <a:pt x="30289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3034002" y="0"/>
                  </a:lnTo>
                  <a:lnTo>
                    <a:pt x="3038847" y="2006"/>
                  </a:lnTo>
                  <a:lnTo>
                    <a:pt x="3045992" y="9152"/>
                  </a:lnTo>
                  <a:lnTo>
                    <a:pt x="3047999" y="13997"/>
                  </a:lnTo>
                  <a:lnTo>
                    <a:pt x="3047999" y="19049"/>
                  </a:lnTo>
                  <a:lnTo>
                    <a:pt x="3046502" y="26465"/>
                  </a:lnTo>
                  <a:lnTo>
                    <a:pt x="3042420" y="32520"/>
                  </a:lnTo>
                  <a:lnTo>
                    <a:pt x="3036365" y="36602"/>
                  </a:lnTo>
                  <a:lnTo>
                    <a:pt x="3028949" y="38099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06800" y="897128"/>
            <a:ext cx="1323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9488"/>
                </a:solidFill>
                <a:latin typeface="Yu Gothic"/>
                <a:cs typeface="Yu Gothic"/>
              </a:rPr>
              <a:t>TECHNICAL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 OVERVIEW</a:t>
            </a:r>
            <a:endParaRPr sz="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900" y="1068582"/>
            <a:ext cx="1242060" cy="40449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750" b="1" spc="-30" dirty="0">
                <a:solidFill>
                  <a:srgbClr val="EE4444"/>
                </a:solidFill>
                <a:latin typeface="Yu Gothic"/>
                <a:cs typeface="Yu Gothic"/>
              </a:rPr>
              <a:t>PROBLEM</a:t>
            </a:r>
            <a:r>
              <a:rPr sz="750" b="1" dirty="0">
                <a:solidFill>
                  <a:srgbClr val="EE4444"/>
                </a:solidFill>
                <a:latin typeface="Yu Gothic"/>
                <a:cs typeface="Yu Gothic"/>
              </a:rPr>
              <a:t> </a:t>
            </a:r>
            <a:r>
              <a:rPr sz="750" b="1" spc="-10" dirty="0">
                <a:solidFill>
                  <a:srgbClr val="EE4444"/>
                </a:solidFill>
                <a:latin typeface="Yu Gothic"/>
                <a:cs typeface="Yu Gothic"/>
              </a:rPr>
              <a:t>STATEMENT</a:t>
            </a:r>
            <a:endParaRPr sz="750" dirty="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350" b="1" spc="50" dirty="0" err="1">
                <a:solidFill>
                  <a:srgbClr val="0F172A"/>
                </a:solidFill>
                <a:latin typeface="Tahoma"/>
                <a:cs typeface="Tahoma"/>
              </a:rPr>
              <a:t>Ths</a:t>
            </a:r>
            <a:r>
              <a:rPr sz="1350" b="1" spc="-7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Tahoma"/>
                <a:cs typeface="Tahoma"/>
              </a:rPr>
              <a:t>Chall</a:t>
            </a:r>
            <a:r>
              <a:rPr lang="en-IN" sz="1350" b="1" spc="-10" dirty="0">
                <a:solidFill>
                  <a:srgbClr val="0F172A"/>
                </a:solidFill>
                <a:latin typeface="Tahoma"/>
                <a:cs typeface="Tahoma"/>
              </a:rPr>
              <a:t>e</a:t>
            </a:r>
            <a:r>
              <a:rPr sz="1350" b="1" spc="-10" dirty="0" err="1">
                <a:solidFill>
                  <a:srgbClr val="0F172A"/>
                </a:solidFill>
                <a:latin typeface="Tahoma"/>
                <a:cs typeface="Tahoma"/>
              </a:rPr>
              <a:t>ngs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9600" y="1557337"/>
            <a:ext cx="2590800" cy="2272030"/>
            <a:chOff x="609600" y="1557337"/>
            <a:chExt cx="2590800" cy="2272030"/>
          </a:xfrm>
        </p:grpSpPr>
        <p:sp>
          <p:nvSpPr>
            <p:cNvPr id="16" name="object 16"/>
            <p:cNvSpPr/>
            <p:nvPr/>
          </p:nvSpPr>
          <p:spPr>
            <a:xfrm>
              <a:off x="609600" y="1562100"/>
              <a:ext cx="2590800" cy="0"/>
            </a:xfrm>
            <a:custGeom>
              <a:avLst/>
              <a:gdLst/>
              <a:ahLst/>
              <a:cxnLst/>
              <a:rect l="l" t="t" r="r" b="b"/>
              <a:pathLst>
                <a:path w="2590800">
                  <a:moveTo>
                    <a:pt x="0" y="0"/>
                  </a:moveTo>
                  <a:lnTo>
                    <a:pt x="2590799" y="0"/>
                  </a:lnTo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1733550"/>
              <a:ext cx="190499" cy="1904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2686050"/>
              <a:ext cx="190499" cy="1904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3638550"/>
              <a:ext cx="190499" cy="1904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63600" y="1674849"/>
            <a:ext cx="2103120" cy="51625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90"/>
              </a:spcBef>
            </a:pPr>
            <a:r>
              <a:rPr sz="1050" b="1" spc="-25" dirty="0">
                <a:solidFill>
                  <a:srgbClr val="0F172A"/>
                </a:solidFill>
                <a:latin typeface="Yu Gothic"/>
                <a:cs typeface="Yu Gothic"/>
              </a:rPr>
              <a:t>Manual</a:t>
            </a:r>
            <a:r>
              <a:rPr sz="1050" b="1" spc="-3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Pharmacy</a:t>
            </a:r>
            <a:r>
              <a:rPr sz="1050" b="1" spc="-2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Management </a:t>
            </a:r>
            <a:r>
              <a:rPr sz="950" spc="50" dirty="0">
                <a:solidFill>
                  <a:srgbClr val="475568"/>
                </a:solidFill>
                <a:latin typeface="Tahoma"/>
                <a:cs typeface="Tahoma"/>
              </a:rPr>
              <a:t>Leads</a:t>
            </a:r>
            <a:r>
              <a:rPr sz="9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sz="9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475568"/>
                </a:solidFill>
                <a:latin typeface="Tahoma"/>
                <a:cs typeface="Tahoma"/>
              </a:rPr>
              <a:t>unauthorized</a:t>
            </a:r>
            <a:r>
              <a:rPr sz="9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475568"/>
                </a:solidFill>
                <a:latin typeface="Tahoma"/>
                <a:cs typeface="Tahoma"/>
              </a:rPr>
              <a:t>dispensing</a:t>
            </a:r>
            <a:r>
              <a:rPr sz="9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Tahoma"/>
                <a:cs typeface="Tahoma"/>
              </a:rPr>
              <a:t>of </a:t>
            </a:r>
            <a:r>
              <a:rPr sz="950" spc="20" dirty="0">
                <a:solidFill>
                  <a:srgbClr val="475568"/>
                </a:solidFill>
                <a:latin typeface="Tahoma"/>
                <a:cs typeface="Tahoma"/>
              </a:rPr>
              <a:t>unprescribed</a:t>
            </a:r>
            <a:r>
              <a:rPr sz="9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475568"/>
                </a:solidFill>
                <a:latin typeface="Tahoma"/>
                <a:cs typeface="Tahoma"/>
              </a:rPr>
              <a:t>restricted</a:t>
            </a:r>
            <a:r>
              <a:rPr sz="950" spc="1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Tahoma"/>
                <a:cs typeface="Tahoma"/>
              </a:rPr>
              <a:t>drugs.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12350" y="1097749"/>
            <a:ext cx="5158105" cy="1138555"/>
            <a:chOff x="3612350" y="1097749"/>
            <a:chExt cx="5158105" cy="1138555"/>
          </a:xfrm>
        </p:grpSpPr>
        <p:sp>
          <p:nvSpPr>
            <p:cNvPr id="25" name="object 25"/>
            <p:cNvSpPr/>
            <p:nvPr/>
          </p:nvSpPr>
          <p:spPr>
            <a:xfrm>
              <a:off x="3619500" y="1104899"/>
              <a:ext cx="5143500" cy="1124585"/>
            </a:xfrm>
            <a:custGeom>
              <a:avLst/>
              <a:gdLst/>
              <a:ahLst/>
              <a:cxnLst/>
              <a:rect l="l" t="t" r="r" b="b"/>
              <a:pathLst>
                <a:path w="5143500" h="1124585">
                  <a:moveTo>
                    <a:pt x="5048243" y="1124099"/>
                  </a:move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5048243" y="0"/>
                  </a:lnTo>
                  <a:lnTo>
                    <a:pt x="5101091" y="16004"/>
                  </a:lnTo>
                  <a:lnTo>
                    <a:pt x="5136248" y="58803"/>
                  </a:lnTo>
                  <a:lnTo>
                    <a:pt x="5143499" y="95256"/>
                  </a:lnTo>
                  <a:lnTo>
                    <a:pt x="5143499" y="1028843"/>
                  </a:lnTo>
                  <a:lnTo>
                    <a:pt x="5136014" y="1065921"/>
                  </a:lnTo>
                  <a:lnTo>
                    <a:pt x="5115600" y="1096200"/>
                  </a:lnTo>
                  <a:lnTo>
                    <a:pt x="5085321" y="1116614"/>
                  </a:lnTo>
                  <a:lnTo>
                    <a:pt x="5048243" y="11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19500" y="1104899"/>
              <a:ext cx="5143500" cy="1124585"/>
            </a:xfrm>
            <a:custGeom>
              <a:avLst/>
              <a:gdLst/>
              <a:ahLst/>
              <a:cxnLst/>
              <a:rect l="l" t="t" r="r" b="b"/>
              <a:pathLst>
                <a:path w="5143500" h="1124585">
                  <a:moveTo>
                    <a:pt x="0" y="95256"/>
                  </a:move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5048243" y="0"/>
                  </a:lnTo>
                  <a:lnTo>
                    <a:pt x="5101091" y="16004"/>
                  </a:lnTo>
                  <a:lnTo>
                    <a:pt x="5136248" y="58803"/>
                  </a:lnTo>
                  <a:lnTo>
                    <a:pt x="5143499" y="95256"/>
                  </a:lnTo>
                  <a:lnTo>
                    <a:pt x="5143499" y="1028843"/>
                  </a:lnTo>
                  <a:lnTo>
                    <a:pt x="5136014" y="1065921"/>
                  </a:lnTo>
                  <a:lnTo>
                    <a:pt x="5115600" y="1096200"/>
                  </a:lnTo>
                  <a:lnTo>
                    <a:pt x="5085321" y="1116614"/>
                  </a:lnTo>
                  <a:lnTo>
                    <a:pt x="5048243" y="1124099"/>
                  </a:ln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close/>
                </a:path>
              </a:pathLst>
            </a:custGeom>
            <a:ln w="14299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19500" y="1104899"/>
              <a:ext cx="57785" cy="1124585"/>
            </a:xfrm>
            <a:custGeom>
              <a:avLst/>
              <a:gdLst/>
              <a:ahLst/>
              <a:cxnLst/>
              <a:rect l="l" t="t" r="r" b="b"/>
              <a:pathLst>
                <a:path w="57785" h="1124585">
                  <a:moveTo>
                    <a:pt x="28649" y="1124099"/>
                  </a:moveTo>
                  <a:lnTo>
                    <a:pt x="17498" y="1121848"/>
                  </a:lnTo>
                  <a:lnTo>
                    <a:pt x="8391" y="1115708"/>
                  </a:lnTo>
                  <a:lnTo>
                    <a:pt x="2251" y="1106601"/>
                  </a:lnTo>
                  <a:lnTo>
                    <a:pt x="0" y="10954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095449"/>
                  </a:lnTo>
                  <a:lnTo>
                    <a:pt x="55048" y="1106601"/>
                  </a:lnTo>
                  <a:lnTo>
                    <a:pt x="48908" y="1115708"/>
                  </a:lnTo>
                  <a:lnTo>
                    <a:pt x="39801" y="1121848"/>
                  </a:lnTo>
                  <a:lnTo>
                    <a:pt x="28649" y="1124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1295399"/>
              <a:ext cx="228599" cy="2285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121150" y="1228483"/>
            <a:ext cx="4283710" cy="6864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800" b="1" dirty="0">
                <a:solidFill>
                  <a:srgbClr val="0D9488"/>
                </a:solidFill>
                <a:latin typeface="Yu Gothic"/>
                <a:cs typeface="Yu Gothic"/>
              </a:rPr>
              <a:t>ARCHITECTURE</a:t>
            </a:r>
            <a:r>
              <a:rPr sz="800" b="1" spc="-1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spc="-25" dirty="0">
                <a:solidFill>
                  <a:srgbClr val="0D9488"/>
                </a:solidFill>
                <a:latin typeface="Yu Gothic"/>
                <a:cs typeface="Yu Gothic"/>
              </a:rPr>
              <a:t>01</a:t>
            </a:r>
            <a:endParaRPr sz="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Relational</a:t>
            </a:r>
            <a:r>
              <a:rPr sz="1200" b="1" spc="-4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3NF</a:t>
            </a:r>
            <a:r>
              <a:rPr sz="1200" b="1" spc="-4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MySQL</a:t>
            </a:r>
            <a:r>
              <a:rPr sz="1200" b="1" spc="-4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50" dirty="0">
                <a:solidFill>
                  <a:srgbClr val="0D9488"/>
                </a:solidFill>
                <a:latin typeface="Yu Gothic"/>
                <a:cs typeface="Yu Gothic"/>
              </a:rPr>
              <a:t>8.0</a:t>
            </a:r>
            <a:r>
              <a:rPr sz="1200" b="1" spc="-4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Engine</a:t>
            </a:r>
            <a:endParaRPr sz="1200">
              <a:latin typeface="Yu Gothic"/>
              <a:cs typeface="Yu Gothic"/>
            </a:endParaRPr>
          </a:p>
          <a:p>
            <a:pPr marL="12700" marR="5080">
              <a:lnSpc>
                <a:spcPct val="102800"/>
              </a:lnSpc>
              <a:spcBef>
                <a:spcPts val="305"/>
              </a:spcBef>
            </a:pP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Structured</a:t>
            </a:r>
            <a:r>
              <a:rPr sz="900" spc="2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database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architecture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spanning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across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12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475568"/>
                </a:solidFill>
                <a:latin typeface="Tahoma"/>
                <a:cs typeface="Tahoma"/>
              </a:rPr>
              <a:t>distinct</a:t>
            </a:r>
            <a:r>
              <a:rPr sz="9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Tahoma"/>
                <a:cs typeface="Tahoma"/>
              </a:rPr>
              <a:t>tables, </a:t>
            </a:r>
            <a:r>
              <a:rPr sz="900" spc="45" dirty="0">
                <a:solidFill>
                  <a:srgbClr val="475568"/>
                </a:solidFill>
                <a:latin typeface="Tahoma"/>
                <a:cs typeface="Tahoma"/>
              </a:rPr>
              <a:t>systematically</a:t>
            </a:r>
            <a:r>
              <a:rPr sz="900" spc="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eliminating data</a:t>
            </a:r>
            <a:r>
              <a:rPr sz="900" spc="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redundancy and insertion/deletion</a:t>
            </a:r>
            <a:r>
              <a:rPr sz="900" spc="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Tahoma"/>
                <a:cs typeface="Tahoma"/>
              </a:rPr>
              <a:t>anomalies.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3600" y="2627349"/>
            <a:ext cx="2051685" cy="5162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50" b="1" dirty="0">
                <a:solidFill>
                  <a:srgbClr val="0F172A"/>
                </a:solidFill>
                <a:latin typeface="Yu Gothic"/>
                <a:cs typeface="Yu Gothic"/>
              </a:rPr>
              <a:t>Stock</a:t>
            </a:r>
            <a:r>
              <a:rPr sz="1050" b="1" spc="-5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 err="1">
                <a:solidFill>
                  <a:srgbClr val="0F172A"/>
                </a:solidFill>
                <a:latin typeface="Yu Gothic"/>
                <a:cs typeface="Yu Gothic"/>
              </a:rPr>
              <a:t>Loss</a:t>
            </a:r>
            <a:r>
              <a:rPr sz="1050" b="1" spc="125" dirty="0" err="1">
                <a:solidFill>
                  <a:srgbClr val="0F172A"/>
                </a:solidFill>
                <a:latin typeface="Yu Gothic"/>
                <a:cs typeface="Yu Gothic"/>
              </a:rPr>
              <a:t>s</a:t>
            </a:r>
            <a:r>
              <a:rPr sz="1050" b="1" spc="-5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Expiries</a:t>
            </a:r>
            <a:endParaRPr sz="1050" dirty="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Severe</a:t>
            </a:r>
            <a:r>
              <a:rPr sz="9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financial</a:t>
            </a:r>
            <a:r>
              <a:rPr sz="95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leakage</a:t>
            </a:r>
            <a:r>
              <a:rPr sz="9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driven</a:t>
            </a:r>
            <a:r>
              <a:rPr sz="95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475568"/>
                </a:solidFill>
                <a:latin typeface="Tahoma"/>
                <a:cs typeface="Tahoma"/>
              </a:rPr>
              <a:t>by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untracked</a:t>
            </a:r>
            <a:r>
              <a:rPr sz="950" spc="13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product</a:t>
            </a:r>
            <a:r>
              <a:rPr sz="950" spc="1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expiration</a:t>
            </a:r>
            <a:r>
              <a:rPr sz="950" spc="1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Tahoma"/>
                <a:cs typeface="Tahoma"/>
              </a:rPr>
              <a:t>dates.</a:t>
            </a:r>
            <a:endParaRPr sz="950" dirty="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12350" y="2336000"/>
            <a:ext cx="5158105" cy="1138555"/>
            <a:chOff x="3612350" y="2336000"/>
            <a:chExt cx="5158105" cy="1138555"/>
          </a:xfrm>
        </p:grpSpPr>
        <p:sp>
          <p:nvSpPr>
            <p:cNvPr id="31" name="object 31"/>
            <p:cNvSpPr/>
            <p:nvPr/>
          </p:nvSpPr>
          <p:spPr>
            <a:xfrm>
              <a:off x="3619500" y="2343150"/>
              <a:ext cx="5143500" cy="1124585"/>
            </a:xfrm>
            <a:custGeom>
              <a:avLst/>
              <a:gdLst/>
              <a:ahLst/>
              <a:cxnLst/>
              <a:rect l="l" t="t" r="r" b="b"/>
              <a:pathLst>
                <a:path w="5143500" h="1124585">
                  <a:moveTo>
                    <a:pt x="5048243" y="1124099"/>
                  </a:move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5048243" y="0"/>
                  </a:lnTo>
                  <a:lnTo>
                    <a:pt x="5101091" y="16004"/>
                  </a:lnTo>
                  <a:lnTo>
                    <a:pt x="5136248" y="58803"/>
                  </a:lnTo>
                  <a:lnTo>
                    <a:pt x="5143499" y="95256"/>
                  </a:lnTo>
                  <a:lnTo>
                    <a:pt x="5143499" y="1028843"/>
                  </a:lnTo>
                  <a:lnTo>
                    <a:pt x="5136014" y="1065921"/>
                  </a:lnTo>
                  <a:lnTo>
                    <a:pt x="5115600" y="1096200"/>
                  </a:lnTo>
                  <a:lnTo>
                    <a:pt x="5085321" y="1116614"/>
                  </a:lnTo>
                  <a:lnTo>
                    <a:pt x="5048243" y="11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19500" y="2343150"/>
              <a:ext cx="5143500" cy="1124585"/>
            </a:xfrm>
            <a:custGeom>
              <a:avLst/>
              <a:gdLst/>
              <a:ahLst/>
              <a:cxnLst/>
              <a:rect l="l" t="t" r="r" b="b"/>
              <a:pathLst>
                <a:path w="5143500" h="1124585">
                  <a:moveTo>
                    <a:pt x="0" y="95256"/>
                  </a:move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5048243" y="0"/>
                  </a:lnTo>
                  <a:lnTo>
                    <a:pt x="5101091" y="16004"/>
                  </a:lnTo>
                  <a:lnTo>
                    <a:pt x="5136248" y="58803"/>
                  </a:lnTo>
                  <a:lnTo>
                    <a:pt x="5143499" y="95256"/>
                  </a:lnTo>
                  <a:lnTo>
                    <a:pt x="5143499" y="1028843"/>
                  </a:lnTo>
                  <a:lnTo>
                    <a:pt x="5136014" y="1065921"/>
                  </a:lnTo>
                  <a:lnTo>
                    <a:pt x="5115600" y="1096200"/>
                  </a:lnTo>
                  <a:lnTo>
                    <a:pt x="5085321" y="1116614"/>
                  </a:lnTo>
                  <a:lnTo>
                    <a:pt x="5048243" y="1124099"/>
                  </a:ln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close/>
                </a:path>
              </a:pathLst>
            </a:custGeom>
            <a:ln w="14299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19500" y="2343150"/>
              <a:ext cx="57785" cy="1124585"/>
            </a:xfrm>
            <a:custGeom>
              <a:avLst/>
              <a:gdLst/>
              <a:ahLst/>
              <a:cxnLst/>
              <a:rect l="l" t="t" r="r" b="b"/>
              <a:pathLst>
                <a:path w="57785" h="1124585">
                  <a:moveTo>
                    <a:pt x="28649" y="1124099"/>
                  </a:moveTo>
                  <a:lnTo>
                    <a:pt x="17498" y="1121848"/>
                  </a:lnTo>
                  <a:lnTo>
                    <a:pt x="8391" y="1115708"/>
                  </a:lnTo>
                  <a:lnTo>
                    <a:pt x="2251" y="1106601"/>
                  </a:lnTo>
                  <a:lnTo>
                    <a:pt x="0" y="10954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095449"/>
                  </a:lnTo>
                  <a:lnTo>
                    <a:pt x="55048" y="1106601"/>
                  </a:lnTo>
                  <a:lnTo>
                    <a:pt x="48908" y="1115708"/>
                  </a:lnTo>
                  <a:lnTo>
                    <a:pt x="39801" y="1121848"/>
                  </a:lnTo>
                  <a:lnTo>
                    <a:pt x="28649" y="1124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2533650"/>
              <a:ext cx="228599" cy="2285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121150" y="2466733"/>
            <a:ext cx="4104004" cy="8274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800" b="1" dirty="0">
                <a:solidFill>
                  <a:srgbClr val="0D9488"/>
                </a:solidFill>
                <a:latin typeface="Yu Gothic"/>
                <a:cs typeface="Yu Gothic"/>
              </a:rPr>
              <a:t>SAFETY PROTOCOL </a:t>
            </a:r>
            <a:r>
              <a:rPr sz="800" b="1" spc="40" dirty="0">
                <a:solidFill>
                  <a:srgbClr val="0D9488"/>
                </a:solidFill>
                <a:latin typeface="Yu Gothic"/>
                <a:cs typeface="Yu Gothic"/>
              </a:rPr>
              <a:t>02</a:t>
            </a:r>
            <a:endParaRPr sz="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spc="-20" dirty="0">
                <a:solidFill>
                  <a:srgbClr val="0D9488"/>
                </a:solidFill>
                <a:latin typeface="Yu Gothic"/>
                <a:cs typeface="Yu Gothic"/>
              </a:rPr>
              <a:t>Transactional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Clinical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Guard</a:t>
            </a:r>
            <a:endParaRPr sz="1200">
              <a:latin typeface="Yu Gothic"/>
              <a:cs typeface="Yu Gothic"/>
            </a:endParaRPr>
          </a:p>
          <a:p>
            <a:pPr marL="12700" marR="5080">
              <a:lnSpc>
                <a:spcPct val="102800"/>
              </a:lnSpc>
              <a:spcBef>
                <a:spcPts val="305"/>
              </a:spcBef>
            </a:pP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Automated</a:t>
            </a:r>
            <a:r>
              <a:rPr sz="9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stored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engine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triggers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enforcing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strict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compliance</a:t>
            </a:r>
            <a:r>
              <a:rPr sz="9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by</a:t>
            </a:r>
            <a:r>
              <a:rPr sz="9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Tahoma"/>
                <a:cs typeface="Tahoma"/>
              </a:rPr>
              <a:t>instantly </a:t>
            </a:r>
            <a:r>
              <a:rPr sz="900" spc="50" dirty="0">
                <a:solidFill>
                  <a:srgbClr val="475568"/>
                </a:solidFill>
                <a:latin typeface="Tahoma"/>
                <a:cs typeface="Tahoma"/>
              </a:rPr>
              <a:t>blocking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dispensing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Schedule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70" dirty="0">
                <a:solidFill>
                  <a:srgbClr val="475568"/>
                </a:solidFill>
                <a:latin typeface="Tahoma"/>
                <a:cs typeface="Tahoma"/>
              </a:rPr>
              <a:t>H</a:t>
            </a:r>
            <a:r>
              <a:rPr sz="900" spc="1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475568"/>
                </a:solidFill>
                <a:latin typeface="Tahoma"/>
                <a:cs typeface="Tahoma"/>
              </a:rPr>
              <a:t>drugs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without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a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30" dirty="0">
                <a:solidFill>
                  <a:srgbClr val="475568"/>
                </a:solidFill>
                <a:latin typeface="Tahoma"/>
                <a:cs typeface="Tahoma"/>
              </a:rPr>
              <a:t>valid</a:t>
            </a:r>
            <a:r>
              <a:rPr sz="900" spc="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475568"/>
                </a:solidFill>
                <a:latin typeface="Tahoma"/>
                <a:cs typeface="Tahoma"/>
              </a:rPr>
              <a:t>doctor prescription.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3600" y="3579849"/>
            <a:ext cx="1951355" cy="6610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4099"/>
              </a:lnSpc>
              <a:spcBef>
                <a:spcPts val="215"/>
              </a:spcBef>
            </a:pPr>
            <a:r>
              <a:rPr sz="1050" b="1" dirty="0">
                <a:solidFill>
                  <a:srgbClr val="0F172A"/>
                </a:solidFill>
                <a:latin typeface="Yu Gothic"/>
                <a:cs typeface="Yu Gothic"/>
              </a:rPr>
              <a:t>Orphaned</a:t>
            </a:r>
            <a:r>
              <a:rPr sz="1050" b="1" spc="-4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30" dirty="0">
                <a:solidFill>
                  <a:srgbClr val="0F172A"/>
                </a:solidFill>
                <a:latin typeface="Yu Gothic"/>
                <a:cs typeface="Yu Gothic"/>
              </a:rPr>
              <a:t>Data</a:t>
            </a:r>
            <a:r>
              <a:rPr sz="1050" b="1" spc="-4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Records</a:t>
            </a:r>
            <a:r>
              <a:rPr sz="1050" b="1" spc="50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Critical</a:t>
            </a:r>
            <a:r>
              <a:rPr sz="95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operational</a:t>
            </a:r>
            <a:r>
              <a:rPr sz="95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sz="95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475568"/>
                </a:solidFill>
                <a:latin typeface="Tahoma"/>
                <a:cs typeface="Tahoma"/>
              </a:rPr>
              <a:t>scattered </a:t>
            </a:r>
            <a:r>
              <a:rPr sz="950" spc="50" dirty="0">
                <a:solidFill>
                  <a:srgbClr val="475568"/>
                </a:solidFill>
                <a:latin typeface="Tahoma"/>
                <a:cs typeface="Tahoma"/>
              </a:rPr>
              <a:t>across</a:t>
            </a:r>
            <a:r>
              <a:rPr sz="950" spc="1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unnormalized,</a:t>
            </a:r>
            <a:r>
              <a:rPr sz="9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475568"/>
                </a:solidFill>
                <a:latin typeface="Tahoma"/>
                <a:cs typeface="Tahoma"/>
              </a:rPr>
              <a:t>error-</a:t>
            </a:r>
            <a:r>
              <a:rPr sz="950" spc="-10" dirty="0">
                <a:solidFill>
                  <a:srgbClr val="475568"/>
                </a:solidFill>
                <a:latin typeface="Tahoma"/>
                <a:cs typeface="Tahoma"/>
              </a:rPr>
              <a:t>prone spreadsheets.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612350" y="3574250"/>
            <a:ext cx="5158105" cy="1195705"/>
            <a:chOff x="3612350" y="3574250"/>
            <a:chExt cx="5158105" cy="1195705"/>
          </a:xfrm>
        </p:grpSpPr>
        <p:sp>
          <p:nvSpPr>
            <p:cNvPr id="37" name="object 37"/>
            <p:cNvSpPr/>
            <p:nvPr/>
          </p:nvSpPr>
          <p:spPr>
            <a:xfrm>
              <a:off x="3619500" y="3581400"/>
              <a:ext cx="5143500" cy="1181100"/>
            </a:xfrm>
            <a:custGeom>
              <a:avLst/>
              <a:gdLst/>
              <a:ahLst/>
              <a:cxnLst/>
              <a:rect l="l" t="t" r="r" b="b"/>
              <a:pathLst>
                <a:path w="5143500" h="1181100">
                  <a:moveTo>
                    <a:pt x="5048256" y="1181099"/>
                  </a:moveTo>
                  <a:lnTo>
                    <a:pt x="95243" y="1181099"/>
                  </a:lnTo>
                  <a:lnTo>
                    <a:pt x="58170" y="1173615"/>
                  </a:lnTo>
                  <a:lnTo>
                    <a:pt x="27896" y="1153203"/>
                  </a:lnTo>
                  <a:lnTo>
                    <a:pt x="7484" y="1122929"/>
                  </a:lnTo>
                  <a:lnTo>
                    <a:pt x="0" y="1085856"/>
                  </a:lnTo>
                  <a:lnTo>
                    <a:pt x="0" y="95243"/>
                  </a:lnTo>
                  <a:lnTo>
                    <a:pt x="7484" y="58170"/>
                  </a:lnTo>
                  <a:lnTo>
                    <a:pt x="27896" y="27896"/>
                  </a:lnTo>
                  <a:lnTo>
                    <a:pt x="58170" y="7484"/>
                  </a:lnTo>
                  <a:lnTo>
                    <a:pt x="95243" y="0"/>
                  </a:lnTo>
                  <a:lnTo>
                    <a:pt x="5048256" y="0"/>
                  </a:lnTo>
                  <a:lnTo>
                    <a:pt x="5101097" y="16002"/>
                  </a:lnTo>
                  <a:lnTo>
                    <a:pt x="5136250" y="58795"/>
                  </a:lnTo>
                  <a:lnTo>
                    <a:pt x="5143499" y="95243"/>
                  </a:lnTo>
                  <a:lnTo>
                    <a:pt x="5143499" y="1085856"/>
                  </a:lnTo>
                  <a:lnTo>
                    <a:pt x="5136015" y="1122929"/>
                  </a:lnTo>
                  <a:lnTo>
                    <a:pt x="5115603" y="1153203"/>
                  </a:lnTo>
                  <a:lnTo>
                    <a:pt x="5085329" y="1173615"/>
                  </a:lnTo>
                  <a:lnTo>
                    <a:pt x="5048256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19500" y="3581400"/>
              <a:ext cx="5143500" cy="1181100"/>
            </a:xfrm>
            <a:custGeom>
              <a:avLst/>
              <a:gdLst/>
              <a:ahLst/>
              <a:cxnLst/>
              <a:rect l="l" t="t" r="r" b="b"/>
              <a:pathLst>
                <a:path w="5143500" h="1181100">
                  <a:moveTo>
                    <a:pt x="0" y="95243"/>
                  </a:moveTo>
                  <a:lnTo>
                    <a:pt x="7484" y="58170"/>
                  </a:lnTo>
                  <a:lnTo>
                    <a:pt x="27896" y="27896"/>
                  </a:lnTo>
                  <a:lnTo>
                    <a:pt x="58170" y="7484"/>
                  </a:lnTo>
                  <a:lnTo>
                    <a:pt x="95243" y="0"/>
                  </a:lnTo>
                  <a:lnTo>
                    <a:pt x="5048256" y="0"/>
                  </a:lnTo>
                  <a:lnTo>
                    <a:pt x="5101097" y="16002"/>
                  </a:lnTo>
                  <a:lnTo>
                    <a:pt x="5136250" y="58795"/>
                  </a:lnTo>
                  <a:lnTo>
                    <a:pt x="5143499" y="95243"/>
                  </a:lnTo>
                  <a:lnTo>
                    <a:pt x="5143499" y="1085856"/>
                  </a:lnTo>
                  <a:lnTo>
                    <a:pt x="5136015" y="1122929"/>
                  </a:lnTo>
                  <a:lnTo>
                    <a:pt x="5115603" y="1153203"/>
                  </a:lnTo>
                  <a:lnTo>
                    <a:pt x="5085329" y="1173615"/>
                  </a:lnTo>
                  <a:lnTo>
                    <a:pt x="5048256" y="1181099"/>
                  </a:lnTo>
                  <a:lnTo>
                    <a:pt x="95243" y="1181099"/>
                  </a:lnTo>
                  <a:lnTo>
                    <a:pt x="58170" y="1173615"/>
                  </a:lnTo>
                  <a:lnTo>
                    <a:pt x="27896" y="1153203"/>
                  </a:lnTo>
                  <a:lnTo>
                    <a:pt x="7484" y="1122929"/>
                  </a:lnTo>
                  <a:lnTo>
                    <a:pt x="0" y="1085856"/>
                  </a:lnTo>
                  <a:lnTo>
                    <a:pt x="0" y="95243"/>
                  </a:lnTo>
                  <a:close/>
                </a:path>
              </a:pathLst>
            </a:custGeom>
            <a:ln w="14299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19500" y="3581400"/>
              <a:ext cx="57785" cy="1181100"/>
            </a:xfrm>
            <a:custGeom>
              <a:avLst/>
              <a:gdLst/>
              <a:ahLst/>
              <a:cxnLst/>
              <a:rect l="l" t="t" r="r" b="b"/>
              <a:pathLst>
                <a:path w="57785" h="1181100">
                  <a:moveTo>
                    <a:pt x="28649" y="1181099"/>
                  </a:moveTo>
                  <a:lnTo>
                    <a:pt x="17498" y="1178848"/>
                  </a:lnTo>
                  <a:lnTo>
                    <a:pt x="8391" y="1172708"/>
                  </a:lnTo>
                  <a:lnTo>
                    <a:pt x="2251" y="1163601"/>
                  </a:lnTo>
                  <a:lnTo>
                    <a:pt x="0" y="11524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152449"/>
                  </a:lnTo>
                  <a:lnTo>
                    <a:pt x="55048" y="1163601"/>
                  </a:lnTo>
                  <a:lnTo>
                    <a:pt x="48908" y="1172708"/>
                  </a:lnTo>
                  <a:lnTo>
                    <a:pt x="39801" y="1178848"/>
                  </a:lnTo>
                  <a:lnTo>
                    <a:pt x="28649" y="1181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3771900"/>
              <a:ext cx="228599" cy="2285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4121150" y="3704746"/>
            <a:ext cx="4333240" cy="7340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b="1" spc="-30" dirty="0">
                <a:solidFill>
                  <a:srgbClr val="0D9488"/>
                </a:solidFill>
                <a:latin typeface="Yu Gothic"/>
                <a:cs typeface="Yu Gothic"/>
              </a:rPr>
              <a:t>APPLICATION</a:t>
            </a:r>
            <a:r>
              <a:rPr sz="9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40" dirty="0">
                <a:solidFill>
                  <a:srgbClr val="0D9488"/>
                </a:solidFill>
                <a:latin typeface="Yu Gothic"/>
                <a:cs typeface="Yu Gothic"/>
              </a:rPr>
              <a:t>LAYER</a:t>
            </a:r>
            <a:r>
              <a:rPr sz="9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35" dirty="0">
                <a:solidFill>
                  <a:srgbClr val="0D9488"/>
                </a:solidFill>
                <a:latin typeface="Yu Gothic"/>
                <a:cs typeface="Yu Gothic"/>
              </a:rPr>
              <a:t>03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20" dirty="0">
                <a:solidFill>
                  <a:srgbClr val="0D9488"/>
                </a:solidFill>
                <a:latin typeface="Yu Gothic"/>
                <a:cs typeface="Yu Gothic"/>
              </a:rPr>
              <a:t>Interactive</a:t>
            </a:r>
            <a:r>
              <a:rPr sz="1300" b="1" spc="-1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300" b="1" dirty="0">
                <a:solidFill>
                  <a:srgbClr val="0D9488"/>
                </a:solidFill>
                <a:latin typeface="Yu Gothic"/>
                <a:cs typeface="Yu Gothic"/>
              </a:rPr>
              <a:t>3-Role</a:t>
            </a:r>
            <a:r>
              <a:rPr sz="1300" b="1" spc="-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300" b="1" dirty="0">
                <a:solidFill>
                  <a:srgbClr val="0D9488"/>
                </a:solidFill>
                <a:latin typeface="Yu Gothic"/>
                <a:cs typeface="Yu Gothic"/>
              </a:rPr>
              <a:t>Web</a:t>
            </a:r>
            <a:r>
              <a:rPr sz="1300" b="1" spc="-10" dirty="0">
                <a:solidFill>
                  <a:srgbClr val="0D9488"/>
                </a:solidFill>
                <a:latin typeface="Yu Gothic"/>
                <a:cs typeface="Yu Gothic"/>
              </a:rPr>
              <a:t> Application</a:t>
            </a:r>
            <a:endParaRPr sz="13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Full-</a:t>
            </a:r>
            <a:r>
              <a:rPr sz="1000" spc="50" dirty="0">
                <a:solidFill>
                  <a:srgbClr val="475568"/>
                </a:solidFill>
                <a:latin typeface="Tahoma"/>
                <a:cs typeface="Tahoma"/>
              </a:rPr>
              <a:t>stack</a:t>
            </a:r>
            <a:r>
              <a:rPr sz="100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475568"/>
                </a:solidFill>
                <a:latin typeface="Tahoma"/>
                <a:cs typeface="Tahoma"/>
              </a:rPr>
              <a:t>SaaS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platform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delivering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secure,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role-tailored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real-time</a:t>
            </a:r>
            <a:r>
              <a:rPr sz="10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475568"/>
                </a:solidFill>
                <a:latin typeface="Tahoma"/>
                <a:cs typeface="Tahoma"/>
              </a:rPr>
              <a:t>CRUD workflows </a:t>
            </a:r>
            <a:r>
              <a:rPr sz="1000" spc="20" dirty="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sz="100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475568"/>
                </a:solidFill>
                <a:latin typeface="Tahoma"/>
                <a:cs typeface="Tahoma"/>
              </a:rPr>
              <a:t>System</a:t>
            </a:r>
            <a:r>
              <a:rPr sz="100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475568"/>
                </a:solidFill>
                <a:latin typeface="Tahoma"/>
                <a:cs typeface="Tahoma"/>
              </a:rPr>
              <a:t>Admins,</a:t>
            </a:r>
            <a:r>
              <a:rPr sz="100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475568"/>
                </a:solidFill>
                <a:latin typeface="Tahoma"/>
                <a:cs typeface="Tahoma"/>
              </a:rPr>
              <a:t>Pharmacists,</a:t>
            </a:r>
            <a:r>
              <a:rPr sz="100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00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475568"/>
                </a:solidFill>
                <a:latin typeface="Tahoma"/>
                <a:cs typeface="Tahoma"/>
              </a:rPr>
              <a:t>Inventory</a:t>
            </a:r>
            <a:r>
              <a:rPr sz="100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475568"/>
                </a:solidFill>
                <a:latin typeface="Tahoma"/>
                <a:cs typeface="Tahoma"/>
              </a:rPr>
              <a:t>Managers.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ABCE2D7-0B48-FC5C-D635-8B090FAD5A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495934"/>
            </a:xfrm>
            <a:custGeom>
              <a:avLst/>
              <a:gdLst/>
              <a:ahLst/>
              <a:cxnLst/>
              <a:rect l="l" t="t" r="r" b="b"/>
              <a:pathLst>
                <a:path w="9144000" h="495934">
                  <a:moveTo>
                    <a:pt x="8763000" y="266712"/>
                  </a:moveTo>
                  <a:lnTo>
                    <a:pt x="8750186" y="224434"/>
                  </a:lnTo>
                  <a:lnTo>
                    <a:pt x="8715959" y="196303"/>
                  </a:lnTo>
                  <a:lnTo>
                    <a:pt x="8686800" y="190512"/>
                  </a:lnTo>
                  <a:lnTo>
                    <a:pt x="8534400" y="190512"/>
                  </a:lnTo>
                  <a:lnTo>
                    <a:pt x="8504733" y="196494"/>
                  </a:lnTo>
                  <a:lnTo>
                    <a:pt x="8480514" y="212826"/>
                  </a:lnTo>
                  <a:lnTo>
                    <a:pt x="8464182" y="237045"/>
                  </a:lnTo>
                  <a:lnTo>
                    <a:pt x="8458200" y="266712"/>
                  </a:lnTo>
                  <a:lnTo>
                    <a:pt x="8458200" y="419112"/>
                  </a:lnTo>
                  <a:lnTo>
                    <a:pt x="8464182" y="448767"/>
                  </a:lnTo>
                  <a:lnTo>
                    <a:pt x="8480514" y="472986"/>
                  </a:lnTo>
                  <a:lnTo>
                    <a:pt x="8504733" y="489318"/>
                  </a:lnTo>
                  <a:lnTo>
                    <a:pt x="8534400" y="495312"/>
                  </a:lnTo>
                  <a:lnTo>
                    <a:pt x="8686800" y="495312"/>
                  </a:lnTo>
                  <a:lnTo>
                    <a:pt x="8716454" y="489318"/>
                  </a:lnTo>
                  <a:lnTo>
                    <a:pt x="8740673" y="472986"/>
                  </a:lnTo>
                  <a:lnTo>
                    <a:pt x="8757006" y="448767"/>
                  </a:lnTo>
                  <a:lnTo>
                    <a:pt x="8763000" y="419112"/>
                  </a:lnTo>
                  <a:lnTo>
                    <a:pt x="8763000" y="266712"/>
                  </a:lnTo>
                  <a:close/>
                </a:path>
                <a:path w="9144000" h="495934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2857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End-</a:t>
            </a:r>
            <a:r>
              <a:rPr spc="-25" dirty="0"/>
              <a:t>to-</a:t>
            </a:r>
            <a:r>
              <a:rPr dirty="0"/>
              <a:t>End</a:t>
            </a:r>
            <a:r>
              <a:rPr spc="-35" dirty="0"/>
              <a:t> </a:t>
            </a:r>
            <a:r>
              <a:rPr spc="-50" dirty="0"/>
              <a:t>3-</a:t>
            </a:r>
            <a:r>
              <a:rPr dirty="0"/>
              <a:t>Tisr</a:t>
            </a:r>
            <a:r>
              <a:rPr spc="-30" dirty="0"/>
              <a:t> </a:t>
            </a:r>
            <a:r>
              <a:rPr dirty="0"/>
              <a:t>Systsm</a:t>
            </a:r>
            <a:r>
              <a:rPr spc="-30" dirty="0"/>
              <a:t> </a:t>
            </a:r>
            <a:r>
              <a:rPr spc="-10" dirty="0"/>
              <a:t>6rchitscturs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76237" y="909637"/>
            <a:ext cx="5777230" cy="3857625"/>
            <a:chOff x="376237" y="909637"/>
            <a:chExt cx="5777230" cy="38576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0" y="2657475"/>
              <a:ext cx="190499" cy="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38500" y="2628900"/>
              <a:ext cx="57785" cy="76200"/>
            </a:xfrm>
            <a:custGeom>
              <a:avLst/>
              <a:gdLst/>
              <a:ahLst/>
              <a:cxnLst/>
              <a:rect l="l" t="t" r="r" b="b"/>
              <a:pathLst>
                <a:path w="57785" h="76200">
                  <a:moveTo>
                    <a:pt x="0" y="76199"/>
                  </a:moveTo>
                  <a:lnTo>
                    <a:pt x="0" y="0"/>
                  </a:lnTo>
                  <a:lnTo>
                    <a:pt x="57299" y="38099"/>
                  </a:lnTo>
                  <a:lnTo>
                    <a:pt x="0" y="761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0" y="2657475"/>
              <a:ext cx="190499" cy="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6000" y="2628900"/>
              <a:ext cx="57785" cy="76200"/>
            </a:xfrm>
            <a:custGeom>
              <a:avLst/>
              <a:gdLst/>
              <a:ahLst/>
              <a:cxnLst/>
              <a:rect l="l" t="t" r="r" b="b"/>
              <a:pathLst>
                <a:path w="57785" h="76200">
                  <a:moveTo>
                    <a:pt x="0" y="76199"/>
                  </a:moveTo>
                  <a:lnTo>
                    <a:pt x="0" y="0"/>
                  </a:lnTo>
                  <a:lnTo>
                    <a:pt x="57299" y="38099"/>
                  </a:lnTo>
                  <a:lnTo>
                    <a:pt x="0" y="761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0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2552719" y="3848099"/>
                  </a:move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9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9" y="3848099"/>
                  </a:ln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999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8800" y="1076113"/>
            <a:ext cx="1603375" cy="4343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45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r>
              <a:rPr sz="1000" b="1" spc="-3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25" dirty="0">
                <a:solidFill>
                  <a:srgbClr val="0D9488"/>
                </a:solidFill>
                <a:latin typeface="Yu Gothic"/>
                <a:cs typeface="Yu Gothic"/>
              </a:rPr>
              <a:t>01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25" dirty="0">
                <a:solidFill>
                  <a:srgbClr val="0D9488"/>
                </a:solidFill>
                <a:latin typeface="Yu Gothic"/>
                <a:cs typeface="Yu Gothic"/>
              </a:rPr>
              <a:t>Presentation</a:t>
            </a:r>
            <a:r>
              <a:rPr sz="15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endParaRPr sz="1500">
              <a:latin typeface="Yu Gothic"/>
              <a:cs typeface="Yu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1500" y="909637"/>
            <a:ext cx="5339080" cy="3857625"/>
            <a:chOff x="571500" y="909637"/>
            <a:chExt cx="5339080" cy="3857625"/>
          </a:xfrm>
        </p:grpSpPr>
        <p:sp>
          <p:nvSpPr>
            <p:cNvPr id="18" name="object 18"/>
            <p:cNvSpPr/>
            <p:nvPr/>
          </p:nvSpPr>
          <p:spPr>
            <a:xfrm>
              <a:off x="571500" y="16192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1771650"/>
              <a:ext cx="190499" cy="1904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3124200"/>
              <a:ext cx="190499" cy="190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2385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2552719" y="3848099"/>
                  </a:move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9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385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9" y="3848099"/>
                  </a:ln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38500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16300" y="1076113"/>
            <a:ext cx="1483360" cy="4343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45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r>
              <a:rPr sz="1000" b="1" spc="-3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35" dirty="0">
                <a:solidFill>
                  <a:srgbClr val="0D9488"/>
                </a:solidFill>
                <a:latin typeface="Yu Gothic"/>
                <a:cs typeface="Yu Gothic"/>
              </a:rPr>
              <a:t>02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10" dirty="0">
                <a:solidFill>
                  <a:srgbClr val="0D9488"/>
                </a:solidFill>
                <a:latin typeface="Yu Gothic"/>
                <a:cs typeface="Yu Gothic"/>
              </a:rPr>
              <a:t>Application </a:t>
            </a: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5500" y="1734311"/>
            <a:ext cx="18472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Responsive</a:t>
            </a:r>
            <a:r>
              <a:rPr sz="1100" spc="1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web</a:t>
            </a:r>
            <a:r>
              <a:rPr sz="1100" spc="11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35" dirty="0">
                <a:solidFill>
                  <a:srgbClr val="475568"/>
                </a:solidFill>
                <a:latin typeface="Tahoma"/>
                <a:cs typeface="Tahoma"/>
              </a:rPr>
              <a:t>dashboard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built</a:t>
            </a:r>
            <a:r>
              <a:rPr sz="110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with</a:t>
            </a:r>
            <a:r>
              <a:rPr sz="110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HTML5,</a:t>
            </a:r>
            <a:r>
              <a:rPr sz="110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Tailwind </a:t>
            </a:r>
            <a:r>
              <a:rPr sz="1100" spc="65" dirty="0">
                <a:solidFill>
                  <a:srgbClr val="475568"/>
                </a:solidFill>
                <a:latin typeface="Tahoma"/>
                <a:cs typeface="Tahoma"/>
              </a:rPr>
              <a:t>CSS,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 Lucide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icons,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spc="30" dirty="0">
                <a:solidFill>
                  <a:srgbClr val="475568"/>
                </a:solidFill>
                <a:latin typeface="Tahoma"/>
                <a:cs typeface="Tahoma"/>
              </a:rPr>
              <a:t>asynchronous</a:t>
            </a:r>
            <a:r>
              <a:rPr sz="110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475568"/>
                </a:solidFill>
                <a:latin typeface="Tahoma"/>
                <a:cs typeface="Tahoma"/>
              </a:rPr>
              <a:t>Fetch</a:t>
            </a:r>
            <a:r>
              <a:rPr sz="1100" spc="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475568"/>
                </a:solidFill>
                <a:latin typeface="Tahoma"/>
                <a:cs typeface="Tahoma"/>
              </a:rPr>
              <a:t>API.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5500" y="3086862"/>
            <a:ext cx="19558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475568"/>
                </a:solidFill>
                <a:latin typeface="Tahoma"/>
                <a:cs typeface="Tahoma"/>
              </a:rPr>
              <a:t>Provides</a:t>
            </a: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role-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based</a:t>
            </a:r>
            <a:r>
              <a:rPr sz="1100" spc="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UI</a:t>
            </a:r>
            <a:r>
              <a:rPr sz="1100" spc="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475568"/>
                </a:solidFill>
                <a:latin typeface="Tahoma"/>
                <a:cs typeface="Tahoma"/>
              </a:rPr>
              <a:t>views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sz="1100" spc="1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Admin,</a:t>
            </a:r>
            <a:r>
              <a:rPr sz="110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Pharmacist,</a:t>
            </a:r>
            <a:r>
              <a:rPr sz="11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Inventory</a:t>
            </a:r>
            <a:r>
              <a:rPr sz="1100" spc="1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Manager.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29000" y="909637"/>
            <a:ext cx="5339080" cy="3857625"/>
            <a:chOff x="3429000" y="909637"/>
            <a:chExt cx="5339080" cy="3857625"/>
          </a:xfrm>
        </p:grpSpPr>
        <p:sp>
          <p:nvSpPr>
            <p:cNvPr id="28" name="object 28"/>
            <p:cNvSpPr/>
            <p:nvPr/>
          </p:nvSpPr>
          <p:spPr>
            <a:xfrm>
              <a:off x="3429000" y="16192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0" y="1771650"/>
              <a:ext cx="190499" cy="1904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0" y="3124200"/>
              <a:ext cx="190499" cy="1904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960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2552718" y="3848099"/>
                  </a:move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8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96000" y="914400"/>
              <a:ext cx="2667000" cy="3848100"/>
            </a:xfrm>
            <a:custGeom>
              <a:avLst/>
              <a:gdLst/>
              <a:ahLst/>
              <a:cxnLst/>
              <a:rect l="l" t="t" r="r" b="b"/>
              <a:pathLst>
                <a:path w="2667000" h="38481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733819"/>
                  </a:lnTo>
                  <a:lnTo>
                    <a:pt x="2658019" y="3778302"/>
                  </a:lnTo>
                  <a:lnTo>
                    <a:pt x="2633527" y="3814627"/>
                  </a:lnTo>
                  <a:lnTo>
                    <a:pt x="2597202" y="3839119"/>
                  </a:lnTo>
                  <a:lnTo>
                    <a:pt x="2552718" y="3848099"/>
                  </a:lnTo>
                  <a:lnTo>
                    <a:pt x="114280" y="3848099"/>
                  </a:lnTo>
                  <a:lnTo>
                    <a:pt x="69797" y="3839119"/>
                  </a:lnTo>
                  <a:lnTo>
                    <a:pt x="33472" y="3814627"/>
                  </a:lnTo>
                  <a:lnTo>
                    <a:pt x="8980" y="3778302"/>
                  </a:lnTo>
                  <a:lnTo>
                    <a:pt x="0" y="37338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96000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73800" y="1076113"/>
            <a:ext cx="1308100" cy="4343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b="1" spc="-45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r>
              <a:rPr sz="1000" b="1" spc="-3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35" dirty="0">
                <a:solidFill>
                  <a:srgbClr val="0D9488"/>
                </a:solidFill>
                <a:latin typeface="Yu Gothic"/>
                <a:cs typeface="Yu Gothic"/>
              </a:rPr>
              <a:t>03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Database</a:t>
            </a:r>
            <a:r>
              <a:rPr sz="1500" b="1" spc="-6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500" b="1" spc="-20" dirty="0">
                <a:solidFill>
                  <a:srgbClr val="0D9488"/>
                </a:solidFill>
                <a:latin typeface="Yu Gothic"/>
                <a:cs typeface="Yu Gothic"/>
              </a:rPr>
              <a:t>Tier</a:t>
            </a:r>
            <a:endParaRPr sz="1500">
              <a:latin typeface="Yu Gothic"/>
              <a:cs typeface="Yu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83000" y="1734311"/>
            <a:ext cx="19862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Python</a:t>
            </a:r>
            <a:r>
              <a:rPr sz="11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Flask</a:t>
            </a:r>
            <a:r>
              <a:rPr sz="1100" spc="1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REST</a:t>
            </a:r>
            <a:r>
              <a:rPr sz="11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API</a:t>
            </a:r>
            <a:r>
              <a:rPr sz="1100" spc="1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server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(app.py)</a:t>
            </a:r>
            <a:r>
              <a:rPr sz="11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managing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parameterization,</a:t>
            </a:r>
            <a:r>
              <a:rPr sz="1100" spc="2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connection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pooling,</a:t>
            </a:r>
            <a:r>
              <a:rPr sz="11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1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error</a:t>
            </a:r>
            <a:r>
              <a:rPr sz="110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handling.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86500" y="1619250"/>
            <a:ext cx="2286000" cy="1695450"/>
            <a:chOff x="6286500" y="1619250"/>
            <a:chExt cx="2286000" cy="1695450"/>
          </a:xfrm>
        </p:grpSpPr>
        <p:sp>
          <p:nvSpPr>
            <p:cNvPr id="38" name="object 38"/>
            <p:cNvSpPr/>
            <p:nvPr/>
          </p:nvSpPr>
          <p:spPr>
            <a:xfrm>
              <a:off x="6286500" y="16192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500" y="1771650"/>
              <a:ext cx="190499" cy="1904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500" y="3124200"/>
              <a:ext cx="190499" cy="1904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540500" y="1734311"/>
            <a:ext cx="19551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80" dirty="0">
                <a:solidFill>
                  <a:srgbClr val="475568"/>
                </a:solidFill>
                <a:latin typeface="Tahoma"/>
                <a:cs typeface="Tahoma"/>
              </a:rPr>
              <a:t>MySQL</a:t>
            </a:r>
            <a:r>
              <a:rPr sz="110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8.0</a:t>
            </a:r>
            <a:r>
              <a:rPr sz="1100" spc="9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Server</a:t>
            </a:r>
            <a:r>
              <a:rPr sz="1100" spc="9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(InnoDB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engine)</a:t>
            </a:r>
            <a:r>
              <a:rPr sz="1100" spc="1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enforcing</a:t>
            </a:r>
            <a:r>
              <a:rPr sz="1100" spc="1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declarative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Foreign</a:t>
            </a:r>
            <a:r>
              <a:rPr sz="1100" spc="1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Key</a:t>
            </a:r>
            <a:r>
              <a:rPr sz="110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constraints</a:t>
            </a:r>
            <a:r>
              <a:rPr sz="110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BEFORE</a:t>
            </a:r>
            <a:r>
              <a:rPr sz="1100" spc="19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INSERT</a:t>
            </a:r>
            <a:r>
              <a:rPr sz="1100" spc="18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triggers.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83000" y="3086862"/>
            <a:ext cx="17945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Enforces</a:t>
            </a:r>
            <a:r>
              <a:rPr sz="1100" spc="13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authorization</a:t>
            </a:r>
            <a:r>
              <a:rPr sz="1100" spc="1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routes</a:t>
            </a:r>
            <a:r>
              <a:rPr sz="11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requests</a:t>
            </a:r>
            <a:r>
              <a:rPr sz="11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sz="1100" spc="10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the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relational</a:t>
            </a:r>
            <a:r>
              <a:rPr sz="1100" spc="2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engine.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40500" y="3086862"/>
            <a:ext cx="185673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Manages</a:t>
            </a:r>
            <a:r>
              <a:rPr sz="1100" spc="1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ACID</a:t>
            </a: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transactions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100" spc="1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relational</a:t>
            </a:r>
            <a:r>
              <a:rPr sz="110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sz="1100" spc="11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integrity.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587B038-83B3-F859-A4D3-7FFF83FDC3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495934"/>
            </a:xfrm>
            <a:custGeom>
              <a:avLst/>
              <a:gdLst/>
              <a:ahLst/>
              <a:cxnLst/>
              <a:rect l="l" t="t" r="r" b="b"/>
              <a:pathLst>
                <a:path w="9144000" h="495934">
                  <a:moveTo>
                    <a:pt x="8763000" y="266712"/>
                  </a:moveTo>
                  <a:lnTo>
                    <a:pt x="8750186" y="224434"/>
                  </a:lnTo>
                  <a:lnTo>
                    <a:pt x="8715959" y="196303"/>
                  </a:lnTo>
                  <a:lnTo>
                    <a:pt x="8686800" y="190512"/>
                  </a:lnTo>
                  <a:lnTo>
                    <a:pt x="8534400" y="190512"/>
                  </a:lnTo>
                  <a:lnTo>
                    <a:pt x="8504733" y="196494"/>
                  </a:lnTo>
                  <a:lnTo>
                    <a:pt x="8480514" y="212826"/>
                  </a:lnTo>
                  <a:lnTo>
                    <a:pt x="8464182" y="237045"/>
                  </a:lnTo>
                  <a:lnTo>
                    <a:pt x="8458200" y="266712"/>
                  </a:lnTo>
                  <a:lnTo>
                    <a:pt x="8458200" y="419112"/>
                  </a:lnTo>
                  <a:lnTo>
                    <a:pt x="8464182" y="448767"/>
                  </a:lnTo>
                  <a:lnTo>
                    <a:pt x="8480514" y="472986"/>
                  </a:lnTo>
                  <a:lnTo>
                    <a:pt x="8504733" y="489318"/>
                  </a:lnTo>
                  <a:lnTo>
                    <a:pt x="8534400" y="495312"/>
                  </a:lnTo>
                  <a:lnTo>
                    <a:pt x="8686800" y="495312"/>
                  </a:lnTo>
                  <a:lnTo>
                    <a:pt x="8716454" y="489318"/>
                  </a:lnTo>
                  <a:lnTo>
                    <a:pt x="8740673" y="472986"/>
                  </a:lnTo>
                  <a:lnTo>
                    <a:pt x="8757006" y="448767"/>
                  </a:lnTo>
                  <a:lnTo>
                    <a:pt x="8763000" y="419112"/>
                  </a:lnTo>
                  <a:lnTo>
                    <a:pt x="8763000" y="266712"/>
                  </a:lnTo>
                  <a:close/>
                </a:path>
                <a:path w="9144000" h="495934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2857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8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Rols-</a:t>
            </a:r>
            <a:r>
              <a:rPr dirty="0"/>
              <a:t>Bassd</a:t>
            </a:r>
            <a:r>
              <a:rPr spc="-70" dirty="0"/>
              <a:t> </a:t>
            </a:r>
            <a:r>
              <a:rPr spc="120" dirty="0"/>
              <a:t>6ccsss</a:t>
            </a:r>
            <a:r>
              <a:rPr spc="-70" dirty="0"/>
              <a:t> </a:t>
            </a:r>
            <a:r>
              <a:rPr spc="-35" dirty="0"/>
              <a:t>Control</a:t>
            </a:r>
            <a:r>
              <a:rPr spc="-65" dirty="0"/>
              <a:t> </a:t>
            </a:r>
            <a:r>
              <a:rPr spc="-55" dirty="0"/>
              <a:t>(RB6C)</a:t>
            </a:r>
            <a:r>
              <a:rPr spc="-70" dirty="0"/>
              <a:t> </a:t>
            </a:r>
            <a:r>
              <a:rPr spc="-10" dirty="0"/>
              <a:t>Fsaturs</a:t>
            </a:r>
            <a:r>
              <a:rPr spc="-65" dirty="0"/>
              <a:t> </a:t>
            </a:r>
            <a:r>
              <a:rPr spc="-10" dirty="0"/>
              <a:t>Ssgrsgation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76237" y="909637"/>
            <a:ext cx="2676525" cy="3819525"/>
            <a:chOff x="376237" y="909637"/>
            <a:chExt cx="2676525" cy="3819525"/>
          </a:xfrm>
        </p:grpSpPr>
        <p:sp>
          <p:nvSpPr>
            <p:cNvPr id="9" name="object 9"/>
            <p:cNvSpPr/>
            <p:nvPr/>
          </p:nvSpPr>
          <p:spPr>
            <a:xfrm>
              <a:off x="3810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2552719" y="3809999"/>
                  </a:move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9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0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9" y="3809999"/>
                  </a:ln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8800" y="1087628"/>
            <a:ext cx="119507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0"/>
              </a:lnSpc>
              <a:spcBef>
                <a:spcPts val="100"/>
              </a:spcBef>
            </a:pPr>
            <a:r>
              <a:rPr sz="900" b="1" spc="-20" dirty="0">
                <a:solidFill>
                  <a:srgbClr val="0D9488"/>
                </a:solidFill>
                <a:latin typeface="Yu Gothic"/>
                <a:cs typeface="Yu Gothic"/>
              </a:rPr>
              <a:t>SYSTEM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 CONTROL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ts val="1670"/>
              </a:lnSpc>
            </a:pPr>
            <a:r>
              <a:rPr sz="1400" b="1" spc="-10" dirty="0">
                <a:solidFill>
                  <a:srgbClr val="0F172A"/>
                </a:solidFill>
                <a:latin typeface="Yu Gothic"/>
                <a:cs typeface="Yu Gothic"/>
              </a:rPr>
              <a:t>Administrator</a:t>
            </a:r>
            <a:endParaRPr sz="14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Y.</a:t>
            </a:r>
            <a:r>
              <a:rPr sz="95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Abhinav</a:t>
            </a:r>
            <a:r>
              <a:rPr sz="95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Sri</a:t>
            </a:r>
            <a:r>
              <a:rPr sz="95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Tahoma"/>
                <a:cs typeface="Tahoma"/>
              </a:rPr>
              <a:t>Ram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1500" y="1771650"/>
            <a:ext cx="2286000" cy="2066925"/>
            <a:chOff x="571500" y="1771650"/>
            <a:chExt cx="2286000" cy="2066925"/>
          </a:xfrm>
        </p:grpSpPr>
        <p:sp>
          <p:nvSpPr>
            <p:cNvPr id="14" name="object 14"/>
            <p:cNvSpPr/>
            <p:nvPr/>
          </p:nvSpPr>
          <p:spPr>
            <a:xfrm>
              <a:off x="571500" y="17716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1943100"/>
              <a:ext cx="190499" cy="1904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2743200"/>
              <a:ext cx="190499" cy="1904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648075"/>
              <a:ext cx="190499" cy="1904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25500" y="1905761"/>
            <a:ext cx="19608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Master</a:t>
            </a:r>
            <a:r>
              <a:rPr sz="110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catalog</a:t>
            </a:r>
            <a:r>
              <a:rPr sz="110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governance</a:t>
            </a:r>
            <a:r>
              <a:rPr sz="1100" spc="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475568"/>
                </a:solidFill>
                <a:latin typeface="Tahoma"/>
                <a:cs typeface="Tahoma"/>
              </a:rPr>
              <a:t>&amp;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system</a:t>
            </a:r>
            <a:r>
              <a:rPr sz="1100" spc="-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configuration.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5500" y="2705862"/>
            <a:ext cx="15532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Execution</a:t>
            </a:r>
            <a:r>
              <a:rPr sz="1100" spc="9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sz="1100" spc="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cascade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deletions</a:t>
            </a:r>
            <a:r>
              <a:rPr sz="1100" spc="1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100" spc="1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relational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database</a:t>
            </a:r>
            <a:r>
              <a:rPr sz="1100" spc="25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purges.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5500" y="3610736"/>
            <a:ext cx="176339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Business</a:t>
            </a:r>
            <a:r>
              <a:rPr sz="1100" spc="114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475568"/>
                </a:solidFill>
                <a:latin typeface="Tahoma"/>
                <a:cs typeface="Tahoma"/>
              </a:rPr>
              <a:t>analytics</a:t>
            </a:r>
            <a:r>
              <a:rPr sz="1100" spc="1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complex</a:t>
            </a:r>
            <a:r>
              <a:rPr sz="1100" spc="8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5-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table</a:t>
            </a:r>
            <a:r>
              <a:rPr sz="110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analytical </a:t>
            </a:r>
            <a:r>
              <a:rPr sz="1100" spc="65" dirty="0">
                <a:solidFill>
                  <a:srgbClr val="475568"/>
                </a:solidFill>
                <a:latin typeface="Tahoma"/>
                <a:cs typeface="Tahoma"/>
              </a:rPr>
              <a:t>SQL</a:t>
            </a:r>
            <a:r>
              <a:rPr sz="1100" spc="-3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joins.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33737" y="909637"/>
            <a:ext cx="2676525" cy="3819525"/>
            <a:chOff x="3233737" y="909637"/>
            <a:chExt cx="2676525" cy="3819525"/>
          </a:xfrm>
        </p:grpSpPr>
        <p:sp>
          <p:nvSpPr>
            <p:cNvPr id="22" name="object 22"/>
            <p:cNvSpPr/>
            <p:nvPr/>
          </p:nvSpPr>
          <p:spPr>
            <a:xfrm>
              <a:off x="32385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2552719" y="3809999"/>
                  </a:move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9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385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9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9" y="3809999"/>
                  </a:ln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38499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16300" y="1087628"/>
            <a:ext cx="143256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0"/>
              </a:lnSpc>
              <a:spcBef>
                <a:spcPts val="100"/>
              </a:spcBef>
            </a:pPr>
            <a:r>
              <a:rPr sz="900" b="1" spc="-35" dirty="0">
                <a:solidFill>
                  <a:srgbClr val="0D9488"/>
                </a:solidFill>
                <a:latin typeface="Yu Gothic"/>
                <a:cs typeface="Yu Gothic"/>
              </a:rPr>
              <a:t>DISPENSING</a:t>
            </a:r>
            <a:r>
              <a:rPr sz="9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114" dirty="0">
                <a:solidFill>
                  <a:srgbClr val="0D9488"/>
                </a:solidFill>
                <a:latin typeface="Yu Gothic"/>
                <a:cs typeface="Yu Gothic"/>
              </a:rPr>
              <a:t>s</a:t>
            </a: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20" dirty="0">
                <a:solidFill>
                  <a:srgbClr val="0D9488"/>
                </a:solidFill>
                <a:latin typeface="Yu Gothic"/>
                <a:cs typeface="Yu Gothic"/>
              </a:rPr>
              <a:t>SALES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ts val="1670"/>
              </a:lnSpc>
            </a:pPr>
            <a:r>
              <a:rPr sz="1400" b="1" spc="-10" dirty="0">
                <a:solidFill>
                  <a:srgbClr val="0F172A"/>
                </a:solidFill>
                <a:latin typeface="Yu Gothic"/>
                <a:cs typeface="Yu Gothic"/>
              </a:rPr>
              <a:t>Pharmacist</a:t>
            </a:r>
            <a:endParaRPr sz="14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Front-of-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House</a:t>
            </a:r>
            <a:r>
              <a:rPr sz="950" spc="2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Terminal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29000" y="1771650"/>
            <a:ext cx="2286000" cy="1257300"/>
            <a:chOff x="3429000" y="1771650"/>
            <a:chExt cx="2286000" cy="1257300"/>
          </a:xfrm>
        </p:grpSpPr>
        <p:sp>
          <p:nvSpPr>
            <p:cNvPr id="27" name="object 27"/>
            <p:cNvSpPr/>
            <p:nvPr/>
          </p:nvSpPr>
          <p:spPr>
            <a:xfrm>
              <a:off x="3429000" y="17716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1943100"/>
              <a:ext cx="190499" cy="1904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838450"/>
              <a:ext cx="190499" cy="1904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683000" y="1905761"/>
            <a:ext cx="2040889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Point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Sale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(POS)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dispensing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terminal</a:t>
            </a:r>
            <a:r>
              <a:rPr sz="11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&amp;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live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customer</a:t>
            </a:r>
            <a:r>
              <a:rPr sz="1100" spc="500" dirty="0">
                <a:solidFill>
                  <a:srgbClr val="475568"/>
                </a:solidFill>
                <a:latin typeface="Tahoma"/>
                <a:cs typeface="Tahoma"/>
              </a:rPr>
              <a:t> 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billing.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83000" y="2801112"/>
            <a:ext cx="18243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Real-time</a:t>
            </a:r>
            <a:r>
              <a:rPr sz="1100" spc="1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475568"/>
                </a:solidFill>
                <a:latin typeface="Tahoma"/>
                <a:cs typeface="Tahoma"/>
              </a:rPr>
              <a:t>stock</a:t>
            </a:r>
            <a:r>
              <a:rPr sz="110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lookup</a:t>
            </a:r>
            <a:r>
              <a:rPr sz="1100" spc="1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doctor</a:t>
            </a:r>
            <a:r>
              <a:rPr sz="1100" spc="2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prescription </a:t>
            </a: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verification</a:t>
            </a:r>
            <a:r>
              <a:rPr sz="1100" spc="1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475568"/>
                </a:solidFill>
                <a:latin typeface="Tahoma"/>
                <a:cs typeface="Tahoma"/>
              </a:rPr>
              <a:t>before</a:t>
            </a:r>
            <a:r>
              <a:rPr sz="1100" spc="1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sale.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91237" y="909637"/>
            <a:ext cx="2676525" cy="3819525"/>
            <a:chOff x="6091237" y="909637"/>
            <a:chExt cx="2676525" cy="3819525"/>
          </a:xfrm>
        </p:grpSpPr>
        <p:sp>
          <p:nvSpPr>
            <p:cNvPr id="33" name="object 33"/>
            <p:cNvSpPr/>
            <p:nvPr/>
          </p:nvSpPr>
          <p:spPr>
            <a:xfrm>
              <a:off x="60960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2552718" y="3809999"/>
                  </a:move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8" y="38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6000" y="9144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114280"/>
                  </a:moveTo>
                  <a:lnTo>
                    <a:pt x="8980" y="69797"/>
                  </a:lnTo>
                  <a:lnTo>
                    <a:pt x="33472" y="33472"/>
                  </a:lnTo>
                  <a:lnTo>
                    <a:pt x="69797" y="8980"/>
                  </a:lnTo>
                  <a:lnTo>
                    <a:pt x="114280" y="0"/>
                  </a:lnTo>
                  <a:lnTo>
                    <a:pt x="2552718" y="0"/>
                  </a:lnTo>
                  <a:lnTo>
                    <a:pt x="2596452" y="8699"/>
                  </a:lnTo>
                  <a:lnTo>
                    <a:pt x="2633527" y="33472"/>
                  </a:lnTo>
                  <a:lnTo>
                    <a:pt x="2658300" y="70547"/>
                  </a:lnTo>
                  <a:lnTo>
                    <a:pt x="2666999" y="114280"/>
                  </a:lnTo>
                  <a:lnTo>
                    <a:pt x="2666999" y="3695719"/>
                  </a:lnTo>
                  <a:lnTo>
                    <a:pt x="2658019" y="3740202"/>
                  </a:lnTo>
                  <a:lnTo>
                    <a:pt x="2633527" y="3776527"/>
                  </a:lnTo>
                  <a:lnTo>
                    <a:pt x="2597202" y="3801019"/>
                  </a:lnTo>
                  <a:lnTo>
                    <a:pt x="2552718" y="3809999"/>
                  </a:lnTo>
                  <a:lnTo>
                    <a:pt x="114280" y="3809999"/>
                  </a:lnTo>
                  <a:lnTo>
                    <a:pt x="69797" y="3801019"/>
                  </a:lnTo>
                  <a:lnTo>
                    <a:pt x="33472" y="3776527"/>
                  </a:lnTo>
                  <a:lnTo>
                    <a:pt x="8980" y="3740202"/>
                  </a:lnTo>
                  <a:lnTo>
                    <a:pt x="0" y="3695719"/>
                  </a:lnTo>
                  <a:lnTo>
                    <a:pt x="0" y="114280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5999" y="914399"/>
              <a:ext cx="2667000" cy="57785"/>
            </a:xfrm>
            <a:custGeom>
              <a:avLst/>
              <a:gdLst/>
              <a:ahLst/>
              <a:cxnLst/>
              <a:rect l="l" t="t" r="r" b="b"/>
              <a:pathLst>
                <a:path w="2667000" h="57784">
                  <a:moveTo>
                    <a:pt x="26383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2645948" y="0"/>
                  </a:lnTo>
                  <a:lnTo>
                    <a:pt x="2653235" y="3018"/>
                  </a:lnTo>
                  <a:lnTo>
                    <a:pt x="2663981" y="13764"/>
                  </a:lnTo>
                  <a:lnTo>
                    <a:pt x="2666999" y="21051"/>
                  </a:lnTo>
                  <a:lnTo>
                    <a:pt x="2666999" y="28649"/>
                  </a:lnTo>
                  <a:lnTo>
                    <a:pt x="2664748" y="39801"/>
                  </a:lnTo>
                  <a:lnTo>
                    <a:pt x="2658608" y="48908"/>
                  </a:lnTo>
                  <a:lnTo>
                    <a:pt x="2649501" y="55048"/>
                  </a:lnTo>
                  <a:lnTo>
                    <a:pt x="26383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73800" y="1087628"/>
            <a:ext cx="164973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0"/>
              </a:lnSpc>
              <a:spcBef>
                <a:spcPts val="100"/>
              </a:spcBef>
            </a:pP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STOCK</a:t>
            </a:r>
            <a:r>
              <a:rPr sz="900" b="1" spc="-3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114" dirty="0">
                <a:solidFill>
                  <a:srgbClr val="0D9488"/>
                </a:solidFill>
                <a:latin typeface="Yu Gothic"/>
                <a:cs typeface="Yu Gothic"/>
              </a:rPr>
              <a:t>s</a:t>
            </a:r>
            <a:r>
              <a:rPr sz="900" b="1" spc="-3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LOGISTICS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ts val="1670"/>
              </a:lnSpc>
            </a:pPr>
            <a:r>
              <a:rPr sz="1400" b="1" dirty="0">
                <a:solidFill>
                  <a:srgbClr val="0F172A"/>
                </a:solidFill>
                <a:latin typeface="Yu Gothic"/>
                <a:cs typeface="Yu Gothic"/>
              </a:rPr>
              <a:t>Inventory</a:t>
            </a:r>
            <a:r>
              <a:rPr sz="1400" b="1" spc="-10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400" b="1" spc="-10" dirty="0">
                <a:solidFill>
                  <a:srgbClr val="0F172A"/>
                </a:solidFill>
                <a:latin typeface="Yu Gothic"/>
                <a:cs typeface="Yu Gothic"/>
              </a:rPr>
              <a:t>Manager</a:t>
            </a:r>
            <a:endParaRPr sz="14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Back-of-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House</a:t>
            </a:r>
            <a:r>
              <a:rPr sz="950" spc="3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Operations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86500" y="1771650"/>
            <a:ext cx="2286000" cy="1257300"/>
            <a:chOff x="6286500" y="1771650"/>
            <a:chExt cx="2286000" cy="1257300"/>
          </a:xfrm>
        </p:grpSpPr>
        <p:sp>
          <p:nvSpPr>
            <p:cNvPr id="38" name="object 38"/>
            <p:cNvSpPr/>
            <p:nvPr/>
          </p:nvSpPr>
          <p:spPr>
            <a:xfrm>
              <a:off x="6286500" y="1771650"/>
              <a:ext cx="2286000" cy="10160"/>
            </a:xfrm>
            <a:custGeom>
              <a:avLst/>
              <a:gdLst/>
              <a:ahLst/>
              <a:cxnLst/>
              <a:rect l="l" t="t" r="r" b="b"/>
              <a:pathLst>
                <a:path w="2286000" h="10160">
                  <a:moveTo>
                    <a:pt x="2285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2285999" y="0"/>
                  </a:lnTo>
                  <a:lnTo>
                    <a:pt x="2285999" y="95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1943100"/>
              <a:ext cx="190499" cy="19049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2838450"/>
              <a:ext cx="190499" cy="1904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540500" y="1905761"/>
            <a:ext cx="191452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Inward</a:t>
            </a:r>
            <a:r>
              <a:rPr sz="1100" spc="1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supplier</a:t>
            </a:r>
            <a:r>
              <a:rPr sz="110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batch</a:t>
            </a:r>
            <a:r>
              <a:rPr sz="1100" spc="1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intake </a:t>
            </a:r>
            <a:r>
              <a:rPr sz="1100" spc="-60" dirty="0">
                <a:solidFill>
                  <a:srgbClr val="475568"/>
                </a:solidFill>
                <a:latin typeface="Tahoma"/>
                <a:cs typeface="Tahoma"/>
              </a:rPr>
              <a:t>(+</a:t>
            </a:r>
            <a:r>
              <a:rPr sz="1100" spc="3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70" dirty="0">
                <a:solidFill>
                  <a:srgbClr val="475568"/>
                </a:solidFill>
                <a:latin typeface="Tahoma"/>
                <a:cs typeface="Tahoma"/>
              </a:rPr>
              <a:t>New</a:t>
            </a:r>
            <a:r>
              <a:rPr sz="110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Lots)</a:t>
            </a:r>
            <a:r>
              <a:rPr sz="1100" spc="3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sz="110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acquisition costing.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40500" y="2801112"/>
            <a:ext cx="18097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Unit</a:t>
            </a:r>
            <a:r>
              <a:rPr sz="1100" spc="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475568"/>
                </a:solidFill>
                <a:latin typeface="Tahoma"/>
                <a:cs typeface="Tahoma"/>
              </a:rPr>
              <a:t>cost</a:t>
            </a:r>
            <a:r>
              <a:rPr sz="1100" spc="9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updates,</a:t>
            </a:r>
            <a:r>
              <a:rPr sz="110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physical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count</a:t>
            </a:r>
            <a:r>
              <a:rPr sz="1100" spc="21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adjustments,</a:t>
            </a:r>
            <a:r>
              <a:rPr sz="1100" spc="21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85" dirty="0">
                <a:solidFill>
                  <a:srgbClr val="475568"/>
                </a:solidFill>
                <a:latin typeface="Tahoma"/>
                <a:cs typeface="Tahoma"/>
              </a:rPr>
              <a:t>30-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day</a:t>
            </a:r>
            <a:r>
              <a:rPr sz="1100" spc="1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475568"/>
                </a:solidFill>
                <a:latin typeface="Tahoma"/>
                <a:cs typeface="Tahoma"/>
              </a:rPr>
              <a:t>expiry</a:t>
            </a:r>
            <a:r>
              <a:rPr sz="110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475568"/>
                </a:solidFill>
                <a:latin typeface="Tahoma"/>
                <a:cs typeface="Tahoma"/>
              </a:rPr>
              <a:t>monitoring.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E36EA49-D73A-D10C-1601-18B4BEDBF1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495934"/>
            </a:xfrm>
            <a:custGeom>
              <a:avLst/>
              <a:gdLst/>
              <a:ahLst/>
              <a:cxnLst/>
              <a:rect l="l" t="t" r="r" b="b"/>
              <a:pathLst>
                <a:path w="9144000" h="495934">
                  <a:moveTo>
                    <a:pt x="8763000" y="266712"/>
                  </a:moveTo>
                  <a:lnTo>
                    <a:pt x="8750186" y="224434"/>
                  </a:lnTo>
                  <a:lnTo>
                    <a:pt x="8715959" y="196303"/>
                  </a:lnTo>
                  <a:lnTo>
                    <a:pt x="8686800" y="190512"/>
                  </a:lnTo>
                  <a:lnTo>
                    <a:pt x="8534400" y="190512"/>
                  </a:lnTo>
                  <a:lnTo>
                    <a:pt x="8504733" y="196494"/>
                  </a:lnTo>
                  <a:lnTo>
                    <a:pt x="8480514" y="212826"/>
                  </a:lnTo>
                  <a:lnTo>
                    <a:pt x="8464182" y="237045"/>
                  </a:lnTo>
                  <a:lnTo>
                    <a:pt x="8458200" y="266712"/>
                  </a:lnTo>
                  <a:lnTo>
                    <a:pt x="8458200" y="419112"/>
                  </a:lnTo>
                  <a:lnTo>
                    <a:pt x="8464182" y="448767"/>
                  </a:lnTo>
                  <a:lnTo>
                    <a:pt x="8480514" y="472986"/>
                  </a:lnTo>
                  <a:lnTo>
                    <a:pt x="8504733" y="489318"/>
                  </a:lnTo>
                  <a:lnTo>
                    <a:pt x="8534400" y="495312"/>
                  </a:lnTo>
                  <a:lnTo>
                    <a:pt x="8686800" y="495312"/>
                  </a:lnTo>
                  <a:lnTo>
                    <a:pt x="8716454" y="489318"/>
                  </a:lnTo>
                  <a:lnTo>
                    <a:pt x="8740673" y="472986"/>
                  </a:lnTo>
                  <a:lnTo>
                    <a:pt x="8757006" y="448767"/>
                  </a:lnTo>
                  <a:lnTo>
                    <a:pt x="8763000" y="419112"/>
                  </a:lnTo>
                  <a:lnTo>
                    <a:pt x="8763000" y="266712"/>
                  </a:lnTo>
                  <a:close/>
                </a:path>
                <a:path w="9144000" h="495934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2857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Katabass</a:t>
            </a:r>
            <a:r>
              <a:rPr spc="-65" dirty="0"/>
              <a:t> </a:t>
            </a:r>
            <a:r>
              <a:rPr spc="-55" dirty="0"/>
              <a:t>Normalization</a:t>
            </a:r>
            <a:r>
              <a:rPr spc="-65" dirty="0"/>
              <a:t> </a:t>
            </a:r>
            <a:r>
              <a:rPr spc="-10" dirty="0"/>
              <a:t>Proof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76237" y="871537"/>
            <a:ext cx="8391525" cy="923925"/>
            <a:chOff x="376237" y="871537"/>
            <a:chExt cx="8391525" cy="923925"/>
          </a:xfrm>
        </p:grpSpPr>
        <p:sp>
          <p:nvSpPr>
            <p:cNvPr id="9" name="object 9"/>
            <p:cNvSpPr/>
            <p:nvPr/>
          </p:nvSpPr>
          <p:spPr>
            <a:xfrm>
              <a:off x="381000" y="876300"/>
              <a:ext cx="8382000" cy="914400"/>
            </a:xfrm>
            <a:custGeom>
              <a:avLst/>
              <a:gdLst/>
              <a:ahLst/>
              <a:cxnLst/>
              <a:rect l="l" t="t" r="r" b="b"/>
              <a:pathLst>
                <a:path w="8382000" h="914400">
                  <a:moveTo>
                    <a:pt x="8286756" y="914399"/>
                  </a:moveTo>
                  <a:lnTo>
                    <a:pt x="95243" y="914399"/>
                  </a:lnTo>
                  <a:lnTo>
                    <a:pt x="58170" y="906915"/>
                  </a:lnTo>
                  <a:lnTo>
                    <a:pt x="27896" y="886503"/>
                  </a:lnTo>
                  <a:lnTo>
                    <a:pt x="7484" y="856229"/>
                  </a:lnTo>
                  <a:lnTo>
                    <a:pt x="0" y="819155"/>
                  </a:lnTo>
                  <a:lnTo>
                    <a:pt x="0" y="95243"/>
                  </a:lnTo>
                  <a:lnTo>
                    <a:pt x="7484" y="58170"/>
                  </a:lnTo>
                  <a:lnTo>
                    <a:pt x="27896" y="27896"/>
                  </a:lnTo>
                  <a:lnTo>
                    <a:pt x="58170" y="7484"/>
                  </a:lnTo>
                  <a:lnTo>
                    <a:pt x="95243" y="0"/>
                  </a:lnTo>
                  <a:lnTo>
                    <a:pt x="8286756" y="0"/>
                  </a:lnTo>
                  <a:lnTo>
                    <a:pt x="8339597" y="16002"/>
                  </a:lnTo>
                  <a:lnTo>
                    <a:pt x="8374750" y="58795"/>
                  </a:lnTo>
                  <a:lnTo>
                    <a:pt x="8381999" y="95243"/>
                  </a:lnTo>
                  <a:lnTo>
                    <a:pt x="8381999" y="819155"/>
                  </a:lnTo>
                  <a:lnTo>
                    <a:pt x="8374515" y="856229"/>
                  </a:lnTo>
                  <a:lnTo>
                    <a:pt x="8354103" y="886503"/>
                  </a:lnTo>
                  <a:lnTo>
                    <a:pt x="8323829" y="906915"/>
                  </a:lnTo>
                  <a:lnTo>
                    <a:pt x="8286756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000" y="876300"/>
              <a:ext cx="8382000" cy="914400"/>
            </a:xfrm>
            <a:custGeom>
              <a:avLst/>
              <a:gdLst/>
              <a:ahLst/>
              <a:cxnLst/>
              <a:rect l="l" t="t" r="r" b="b"/>
              <a:pathLst>
                <a:path w="8382000" h="914400">
                  <a:moveTo>
                    <a:pt x="0" y="95243"/>
                  </a:moveTo>
                  <a:lnTo>
                    <a:pt x="7484" y="58170"/>
                  </a:lnTo>
                  <a:lnTo>
                    <a:pt x="27896" y="27896"/>
                  </a:lnTo>
                  <a:lnTo>
                    <a:pt x="58170" y="7484"/>
                  </a:lnTo>
                  <a:lnTo>
                    <a:pt x="95243" y="0"/>
                  </a:lnTo>
                  <a:lnTo>
                    <a:pt x="8286756" y="0"/>
                  </a:lnTo>
                  <a:lnTo>
                    <a:pt x="8339597" y="16002"/>
                  </a:lnTo>
                  <a:lnTo>
                    <a:pt x="8374750" y="58795"/>
                  </a:lnTo>
                  <a:lnTo>
                    <a:pt x="8381999" y="95243"/>
                  </a:lnTo>
                  <a:lnTo>
                    <a:pt x="8381999" y="819155"/>
                  </a:lnTo>
                  <a:lnTo>
                    <a:pt x="8374515" y="856229"/>
                  </a:lnTo>
                  <a:lnTo>
                    <a:pt x="8354103" y="886503"/>
                  </a:lnTo>
                  <a:lnTo>
                    <a:pt x="8323829" y="906915"/>
                  </a:lnTo>
                  <a:lnTo>
                    <a:pt x="8286756" y="914399"/>
                  </a:lnTo>
                  <a:lnTo>
                    <a:pt x="95243" y="914399"/>
                  </a:lnTo>
                  <a:lnTo>
                    <a:pt x="58170" y="906915"/>
                  </a:lnTo>
                  <a:lnTo>
                    <a:pt x="27896" y="886503"/>
                  </a:lnTo>
                  <a:lnTo>
                    <a:pt x="7484" y="856229"/>
                  </a:lnTo>
                  <a:lnTo>
                    <a:pt x="0" y="819155"/>
                  </a:lnTo>
                  <a:lnTo>
                    <a:pt x="0" y="95243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8800" y="1015943"/>
            <a:ext cx="1005205" cy="5924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600" b="1" spc="-315" dirty="0">
                <a:solidFill>
                  <a:srgbClr val="0F172A"/>
                </a:solidFill>
                <a:latin typeface="Tahoma"/>
                <a:cs typeface="Tahoma"/>
              </a:rPr>
              <a:t>12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spc="-25" dirty="0">
                <a:solidFill>
                  <a:srgbClr val="0D9488"/>
                </a:solidFill>
                <a:latin typeface="Yu Gothic"/>
                <a:cs typeface="Yu Gothic"/>
              </a:rPr>
              <a:t>Relational</a:t>
            </a: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Entities</a:t>
            </a:r>
            <a:endParaRPr sz="900">
              <a:latin typeface="Yu Gothic"/>
              <a:cs typeface="Yu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24125" y="1066812"/>
            <a:ext cx="4296410" cy="533400"/>
          </a:xfrm>
          <a:custGeom>
            <a:avLst/>
            <a:gdLst/>
            <a:ahLst/>
            <a:cxnLst/>
            <a:rect l="l" t="t" r="r" b="b"/>
            <a:pathLst>
              <a:path w="4296409" h="533400">
                <a:moveTo>
                  <a:pt x="9588" y="0"/>
                </a:moveTo>
                <a:lnTo>
                  <a:pt x="0" y="0"/>
                </a:lnTo>
                <a:lnTo>
                  <a:pt x="0" y="533400"/>
                </a:lnTo>
                <a:lnTo>
                  <a:pt x="9588" y="533400"/>
                </a:lnTo>
                <a:lnTo>
                  <a:pt x="9588" y="0"/>
                </a:lnTo>
                <a:close/>
              </a:path>
              <a:path w="4296409" h="533400">
                <a:moveTo>
                  <a:pt x="2152713" y="0"/>
                </a:moveTo>
                <a:lnTo>
                  <a:pt x="2143125" y="0"/>
                </a:lnTo>
                <a:lnTo>
                  <a:pt x="2143125" y="533400"/>
                </a:lnTo>
                <a:lnTo>
                  <a:pt x="2152713" y="533400"/>
                </a:lnTo>
                <a:lnTo>
                  <a:pt x="2152713" y="0"/>
                </a:lnTo>
                <a:close/>
              </a:path>
              <a:path w="4296409" h="533400">
                <a:moveTo>
                  <a:pt x="4295838" y="0"/>
                </a:moveTo>
                <a:lnTo>
                  <a:pt x="4286250" y="0"/>
                </a:lnTo>
                <a:lnTo>
                  <a:pt x="4286250" y="533400"/>
                </a:lnTo>
                <a:lnTo>
                  <a:pt x="4295838" y="533400"/>
                </a:lnTo>
                <a:lnTo>
                  <a:pt x="4295838" y="0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01925" y="1015943"/>
            <a:ext cx="989965" cy="5924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600" b="1" spc="-25" dirty="0">
                <a:solidFill>
                  <a:srgbClr val="0F172A"/>
                </a:solidFill>
                <a:latin typeface="Tahoma"/>
                <a:cs typeface="Tahoma"/>
              </a:rPr>
              <a:t>1NF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Atomic</a:t>
            </a:r>
            <a:r>
              <a:rPr sz="9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Attributes</a:t>
            </a:r>
            <a:endParaRPr sz="9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5050" y="1015943"/>
            <a:ext cx="872490" cy="5924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600" b="1" spc="-25" dirty="0">
                <a:solidFill>
                  <a:srgbClr val="0F172A"/>
                </a:solidFill>
                <a:latin typeface="Tahoma"/>
                <a:cs typeface="Tahoma"/>
              </a:rPr>
              <a:t>2NF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Surrogate</a:t>
            </a:r>
            <a:r>
              <a:rPr sz="900" b="1" spc="-5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20" dirty="0">
                <a:solidFill>
                  <a:srgbClr val="0D9488"/>
                </a:solidFill>
                <a:latin typeface="Yu Gothic"/>
                <a:cs typeface="Yu Gothic"/>
              </a:rPr>
              <a:t>Keys</a:t>
            </a:r>
            <a:endParaRPr sz="900">
              <a:latin typeface="Yu Gothic"/>
              <a:cs typeface="Yu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88175" y="1015943"/>
            <a:ext cx="1030605" cy="5924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600" b="1" spc="-25" dirty="0">
                <a:solidFill>
                  <a:srgbClr val="0F172A"/>
                </a:solidFill>
                <a:latin typeface="Tahoma"/>
                <a:cs typeface="Tahoma"/>
              </a:rPr>
              <a:t>3NF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Zero</a:t>
            </a:r>
            <a:r>
              <a:rPr sz="9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20" dirty="0">
                <a:solidFill>
                  <a:srgbClr val="0D9488"/>
                </a:solidFill>
                <a:latin typeface="Yu Gothic"/>
                <a:cs typeface="Yu Gothic"/>
              </a:rPr>
              <a:t>Transitive</a:t>
            </a:r>
            <a:r>
              <a:rPr sz="9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25" dirty="0">
                <a:solidFill>
                  <a:srgbClr val="0D9488"/>
                </a:solidFill>
                <a:latin typeface="Yu Gothic"/>
                <a:cs typeface="Yu Gothic"/>
              </a:rPr>
              <a:t>FD</a:t>
            </a:r>
            <a:endParaRPr sz="900">
              <a:latin typeface="Yu Gothic"/>
              <a:cs typeface="Yu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6237" y="1957387"/>
            <a:ext cx="2676525" cy="1914525"/>
            <a:chOff x="376237" y="1957387"/>
            <a:chExt cx="2676525" cy="1914525"/>
          </a:xfrm>
        </p:grpSpPr>
        <p:sp>
          <p:nvSpPr>
            <p:cNvPr id="17" name="object 17"/>
            <p:cNvSpPr/>
            <p:nvPr/>
          </p:nvSpPr>
          <p:spPr>
            <a:xfrm>
              <a:off x="3810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2571749" y="1904999"/>
                  </a:move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1" y="1877101"/>
                  </a:lnTo>
                  <a:lnTo>
                    <a:pt x="2608825" y="1897514"/>
                  </a:lnTo>
                  <a:lnTo>
                    <a:pt x="2571749" y="1904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0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0" y="95249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1" y="1877101"/>
                  </a:lnTo>
                  <a:lnTo>
                    <a:pt x="2608825" y="1897514"/>
                  </a:lnTo>
                  <a:lnTo>
                    <a:pt x="2571749" y="1904999"/>
                  </a:ln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0999" y="1962149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26479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653002" y="0"/>
                  </a:lnTo>
                  <a:lnTo>
                    <a:pt x="2657847" y="2006"/>
                  </a:lnTo>
                  <a:lnTo>
                    <a:pt x="2664992" y="9152"/>
                  </a:lnTo>
                  <a:lnTo>
                    <a:pt x="2666999" y="13997"/>
                  </a:lnTo>
                  <a:lnTo>
                    <a:pt x="2666999" y="19049"/>
                  </a:lnTo>
                  <a:lnTo>
                    <a:pt x="2665502" y="26465"/>
                  </a:lnTo>
                  <a:lnTo>
                    <a:pt x="2661420" y="32520"/>
                  </a:lnTo>
                  <a:lnTo>
                    <a:pt x="2655365" y="36602"/>
                  </a:lnTo>
                  <a:lnTo>
                    <a:pt x="2647949" y="38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8800" y="2092080"/>
            <a:ext cx="2169795" cy="1210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b="1" spc="-40" dirty="0">
                <a:solidFill>
                  <a:srgbClr val="0D9488"/>
                </a:solidFill>
                <a:latin typeface="Yu Gothic"/>
                <a:cs typeface="Yu Gothic"/>
              </a:rPr>
              <a:t>FIRST</a:t>
            </a:r>
            <a:r>
              <a:rPr sz="1000" b="1" spc="-2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30" dirty="0">
                <a:solidFill>
                  <a:srgbClr val="0D9488"/>
                </a:solidFill>
                <a:latin typeface="Yu Gothic"/>
                <a:cs typeface="Yu Gothic"/>
              </a:rPr>
              <a:t>NORMAL</a:t>
            </a:r>
            <a:r>
              <a:rPr sz="1000" b="1" spc="-20" dirty="0">
                <a:solidFill>
                  <a:srgbClr val="0D9488"/>
                </a:solidFill>
                <a:latin typeface="Yu Gothic"/>
                <a:cs typeface="Yu Gothic"/>
              </a:rPr>
              <a:t> FORM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300" b="1" spc="-100" dirty="0">
                <a:solidFill>
                  <a:srgbClr val="0F172A"/>
                </a:solidFill>
                <a:latin typeface="Tahoma"/>
                <a:cs typeface="Tahoma"/>
              </a:rPr>
              <a:t>1NF</a:t>
            </a:r>
            <a:r>
              <a:rPr sz="1300" b="1" spc="-7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ahoma"/>
                <a:cs typeface="Tahoma"/>
              </a:rPr>
              <a:t>Compliancs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Ensures</a:t>
            </a:r>
            <a:r>
              <a:rPr sz="105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atomic</a:t>
            </a:r>
            <a:r>
              <a:rPr sz="105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scalar</a:t>
            </a:r>
            <a:r>
              <a:rPr sz="1050" spc="12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attributes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with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zero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multivalued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or</a:t>
            </a: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repeating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columns</a:t>
            </a:r>
            <a:r>
              <a:rPr sz="10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55" dirty="0">
                <a:solidFill>
                  <a:srgbClr val="475568"/>
                </a:solidFill>
                <a:latin typeface="Tahoma"/>
                <a:cs typeface="Tahoma"/>
              </a:rPr>
              <a:t>across</a:t>
            </a:r>
            <a:r>
              <a:rPr sz="105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all</a:t>
            </a:r>
            <a:r>
              <a:rPr sz="105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55" dirty="0">
                <a:solidFill>
                  <a:srgbClr val="475568"/>
                </a:solidFill>
                <a:latin typeface="Tahoma"/>
                <a:cs typeface="Tahoma"/>
              </a:rPr>
              <a:t>12</a:t>
            </a:r>
            <a:r>
              <a:rPr sz="1050" spc="6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system entities.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33737" y="1957387"/>
            <a:ext cx="2676525" cy="1914525"/>
            <a:chOff x="3233737" y="1957387"/>
            <a:chExt cx="2676525" cy="1914525"/>
          </a:xfrm>
        </p:grpSpPr>
        <p:sp>
          <p:nvSpPr>
            <p:cNvPr id="22" name="object 22"/>
            <p:cNvSpPr/>
            <p:nvPr/>
          </p:nvSpPr>
          <p:spPr>
            <a:xfrm>
              <a:off x="32385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2571749" y="1904999"/>
                  </a:move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1" y="1877101"/>
                  </a:lnTo>
                  <a:lnTo>
                    <a:pt x="2608825" y="1897514"/>
                  </a:lnTo>
                  <a:lnTo>
                    <a:pt x="2571749" y="1904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385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0" y="95249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1" y="1877101"/>
                  </a:lnTo>
                  <a:lnTo>
                    <a:pt x="2608825" y="1897514"/>
                  </a:lnTo>
                  <a:lnTo>
                    <a:pt x="2571749" y="1904999"/>
                  </a:ln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38499" y="1962149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26479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653002" y="0"/>
                  </a:lnTo>
                  <a:lnTo>
                    <a:pt x="2657847" y="2006"/>
                  </a:lnTo>
                  <a:lnTo>
                    <a:pt x="2664992" y="9152"/>
                  </a:lnTo>
                  <a:lnTo>
                    <a:pt x="2666999" y="13997"/>
                  </a:lnTo>
                  <a:lnTo>
                    <a:pt x="2666999" y="19049"/>
                  </a:lnTo>
                  <a:lnTo>
                    <a:pt x="2665502" y="26465"/>
                  </a:lnTo>
                  <a:lnTo>
                    <a:pt x="2661420" y="32520"/>
                  </a:lnTo>
                  <a:lnTo>
                    <a:pt x="2655365" y="36602"/>
                  </a:lnTo>
                  <a:lnTo>
                    <a:pt x="2647949" y="38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16300" y="2092080"/>
            <a:ext cx="2250440" cy="1210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b="1" spc="-25" dirty="0">
                <a:solidFill>
                  <a:srgbClr val="0D9488"/>
                </a:solidFill>
                <a:latin typeface="Yu Gothic"/>
                <a:cs typeface="Yu Gothic"/>
              </a:rPr>
              <a:t>SECOND</a:t>
            </a:r>
            <a:r>
              <a:rPr sz="1000" b="1" spc="-30" dirty="0">
                <a:solidFill>
                  <a:srgbClr val="0D9488"/>
                </a:solidFill>
                <a:latin typeface="Yu Gothic"/>
                <a:cs typeface="Yu Gothic"/>
              </a:rPr>
              <a:t> NORMAL </a:t>
            </a:r>
            <a:r>
              <a:rPr sz="1000" b="1" spc="-20" dirty="0">
                <a:solidFill>
                  <a:srgbClr val="0D9488"/>
                </a:solidFill>
                <a:latin typeface="Yu Gothic"/>
                <a:cs typeface="Yu Gothic"/>
              </a:rPr>
              <a:t>FORM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300" b="1" spc="-20" dirty="0">
                <a:solidFill>
                  <a:srgbClr val="0F172A"/>
                </a:solidFill>
                <a:latin typeface="Tahoma"/>
                <a:cs typeface="Tahoma"/>
              </a:rPr>
              <a:t>2NF</a:t>
            </a:r>
            <a:r>
              <a:rPr sz="1300" b="1" spc="-6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ahoma"/>
                <a:cs typeface="Tahoma"/>
              </a:rPr>
              <a:t>Compliancs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All</a:t>
            </a:r>
            <a:r>
              <a:rPr sz="1050" spc="2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tables</a:t>
            </a:r>
            <a:r>
              <a:rPr sz="1050" spc="2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utilize</a:t>
            </a:r>
            <a:r>
              <a:rPr sz="1050" spc="2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single-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column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surrogate</a:t>
            </a:r>
            <a:r>
              <a:rPr sz="105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primary</a:t>
            </a:r>
            <a:r>
              <a:rPr sz="10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keys,</a:t>
            </a:r>
            <a:r>
              <a:rPr sz="10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resulting</a:t>
            </a:r>
            <a:r>
              <a:rPr sz="1050" spc="1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475568"/>
                </a:solidFill>
                <a:latin typeface="Tahoma"/>
                <a:cs typeface="Tahoma"/>
              </a:rPr>
              <a:t>in </a:t>
            </a: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zero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partial</a:t>
            </a:r>
            <a:r>
              <a:rPr sz="105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functional</a:t>
            </a:r>
            <a:r>
              <a:rPr sz="1050" spc="5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dependencies.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91237" y="1957387"/>
            <a:ext cx="2676525" cy="1914525"/>
            <a:chOff x="6091237" y="1957387"/>
            <a:chExt cx="2676525" cy="1914525"/>
          </a:xfrm>
        </p:grpSpPr>
        <p:sp>
          <p:nvSpPr>
            <p:cNvPr id="27" name="object 27"/>
            <p:cNvSpPr/>
            <p:nvPr/>
          </p:nvSpPr>
          <p:spPr>
            <a:xfrm>
              <a:off x="60960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2571749" y="1904999"/>
                  </a:move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2" y="1877101"/>
                  </a:lnTo>
                  <a:lnTo>
                    <a:pt x="2608825" y="1897514"/>
                  </a:lnTo>
                  <a:lnTo>
                    <a:pt x="2571749" y="1904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6000" y="196215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0" y="95249"/>
                  </a:moveTo>
                  <a:lnTo>
                    <a:pt x="7485" y="58174"/>
                  </a:lnTo>
                  <a:lnTo>
                    <a:pt x="27898" y="27898"/>
                  </a:lnTo>
                  <a:lnTo>
                    <a:pt x="58174" y="7485"/>
                  </a:lnTo>
                  <a:lnTo>
                    <a:pt x="95249" y="0"/>
                  </a:lnTo>
                  <a:lnTo>
                    <a:pt x="2571749" y="0"/>
                  </a:lnTo>
                  <a:lnTo>
                    <a:pt x="2624594" y="16003"/>
                  </a:lnTo>
                  <a:lnTo>
                    <a:pt x="2659749" y="58799"/>
                  </a:lnTo>
                  <a:lnTo>
                    <a:pt x="2666999" y="95249"/>
                  </a:lnTo>
                  <a:lnTo>
                    <a:pt x="2666999" y="1809749"/>
                  </a:lnTo>
                  <a:lnTo>
                    <a:pt x="2659514" y="1846825"/>
                  </a:lnTo>
                  <a:lnTo>
                    <a:pt x="2639102" y="1877101"/>
                  </a:lnTo>
                  <a:lnTo>
                    <a:pt x="2608825" y="1897514"/>
                  </a:lnTo>
                  <a:lnTo>
                    <a:pt x="2571749" y="1904999"/>
                  </a:lnTo>
                  <a:lnTo>
                    <a:pt x="95249" y="1904999"/>
                  </a:lnTo>
                  <a:lnTo>
                    <a:pt x="58174" y="1897514"/>
                  </a:lnTo>
                  <a:lnTo>
                    <a:pt x="27898" y="1877101"/>
                  </a:lnTo>
                  <a:lnTo>
                    <a:pt x="7485" y="1846825"/>
                  </a:lnTo>
                  <a:lnTo>
                    <a:pt x="0" y="1809749"/>
                  </a:lnTo>
                  <a:lnTo>
                    <a:pt x="0" y="95249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95999" y="1962149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26479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2653002" y="0"/>
                  </a:lnTo>
                  <a:lnTo>
                    <a:pt x="2657847" y="2006"/>
                  </a:lnTo>
                  <a:lnTo>
                    <a:pt x="2664992" y="9152"/>
                  </a:lnTo>
                  <a:lnTo>
                    <a:pt x="2666999" y="13997"/>
                  </a:lnTo>
                  <a:lnTo>
                    <a:pt x="2666999" y="19049"/>
                  </a:lnTo>
                  <a:lnTo>
                    <a:pt x="2665502" y="26465"/>
                  </a:lnTo>
                  <a:lnTo>
                    <a:pt x="2661420" y="32520"/>
                  </a:lnTo>
                  <a:lnTo>
                    <a:pt x="2655365" y="36602"/>
                  </a:lnTo>
                  <a:lnTo>
                    <a:pt x="2647949" y="38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73800" y="2092080"/>
            <a:ext cx="2127885" cy="13709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b="1" spc="-45" dirty="0">
                <a:solidFill>
                  <a:srgbClr val="0D9488"/>
                </a:solidFill>
                <a:latin typeface="Yu Gothic"/>
                <a:cs typeface="Yu Gothic"/>
              </a:rPr>
              <a:t>THIRD</a:t>
            </a:r>
            <a:r>
              <a:rPr sz="1000" b="1" spc="-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30" dirty="0">
                <a:solidFill>
                  <a:srgbClr val="0D9488"/>
                </a:solidFill>
                <a:latin typeface="Yu Gothic"/>
                <a:cs typeface="Yu Gothic"/>
              </a:rPr>
              <a:t>NORMAL</a:t>
            </a:r>
            <a:r>
              <a:rPr sz="1000" b="1" spc="-20" dirty="0">
                <a:solidFill>
                  <a:srgbClr val="0D9488"/>
                </a:solidFill>
                <a:latin typeface="Yu Gothic"/>
                <a:cs typeface="Yu Gothic"/>
              </a:rPr>
              <a:t> FORM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300" b="1" dirty="0">
                <a:solidFill>
                  <a:srgbClr val="0F172A"/>
                </a:solidFill>
                <a:latin typeface="Tahoma"/>
                <a:cs typeface="Tahoma"/>
              </a:rPr>
              <a:t>3NF</a:t>
            </a:r>
            <a:r>
              <a:rPr sz="1300" b="1" spc="-9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Tahoma"/>
                <a:cs typeface="Tahoma"/>
              </a:rPr>
              <a:t>Compliancs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760"/>
              </a:spcBef>
            </a:pP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Complete</a:t>
            </a:r>
            <a:r>
              <a:rPr sz="1050" spc="8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elimination</a:t>
            </a:r>
            <a:r>
              <a:rPr sz="1050" spc="8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sz="105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transitive </a:t>
            </a: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dependencies</a:t>
            </a:r>
            <a:r>
              <a:rPr sz="1050" spc="-2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by</a:t>
            </a:r>
            <a:r>
              <a:rPr sz="1050" spc="-1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decoupling </a:t>
            </a:r>
            <a:r>
              <a:rPr sz="1050" spc="20" dirty="0">
                <a:solidFill>
                  <a:srgbClr val="475568"/>
                </a:solidFill>
                <a:latin typeface="Tahoma"/>
                <a:cs typeface="Tahoma"/>
              </a:rPr>
              <a:t>manufacturers,</a:t>
            </a:r>
            <a:r>
              <a:rPr sz="105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Tahoma"/>
                <a:cs typeface="Tahoma"/>
              </a:rPr>
              <a:t>categories,</a:t>
            </a:r>
            <a:r>
              <a:rPr sz="1050" spc="1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-25" dirty="0">
                <a:solidFill>
                  <a:srgbClr val="475568"/>
                </a:solidFill>
                <a:latin typeface="Tahoma"/>
                <a:cs typeface="Tahoma"/>
              </a:rPr>
              <a:t>and </a:t>
            </a:r>
            <a:r>
              <a:rPr sz="1050" spc="20" dirty="0">
                <a:solidFill>
                  <a:srgbClr val="475568"/>
                </a:solidFill>
                <a:latin typeface="Tahoma"/>
                <a:cs typeface="Tahoma"/>
              </a:rPr>
              <a:t>suppliers</a:t>
            </a: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475568"/>
                </a:solidFill>
                <a:latin typeface="Tahoma"/>
                <a:cs typeface="Tahoma"/>
              </a:rPr>
              <a:t>into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dedicated 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master relations.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76237" y="4014787"/>
            <a:ext cx="8391525" cy="791210"/>
            <a:chOff x="376237" y="4014787"/>
            <a:chExt cx="8391525" cy="791210"/>
          </a:xfrm>
        </p:grpSpPr>
        <p:sp>
          <p:nvSpPr>
            <p:cNvPr id="32" name="object 32"/>
            <p:cNvSpPr/>
            <p:nvPr/>
          </p:nvSpPr>
          <p:spPr>
            <a:xfrm>
              <a:off x="381000" y="4019550"/>
              <a:ext cx="8382000" cy="781685"/>
            </a:xfrm>
            <a:custGeom>
              <a:avLst/>
              <a:gdLst/>
              <a:ahLst/>
              <a:cxnLst/>
              <a:rect l="l" t="t" r="r" b="b"/>
              <a:pathLst>
                <a:path w="8382000" h="781685">
                  <a:moveTo>
                    <a:pt x="8305785" y="781199"/>
                  </a:moveTo>
                  <a:lnTo>
                    <a:pt x="76213" y="781199"/>
                  </a:lnTo>
                  <a:lnTo>
                    <a:pt x="46547" y="775210"/>
                  </a:lnTo>
                  <a:lnTo>
                    <a:pt x="22322" y="758877"/>
                  </a:lnTo>
                  <a:lnTo>
                    <a:pt x="5989" y="734651"/>
                  </a:lnTo>
                  <a:lnTo>
                    <a:pt x="0" y="704985"/>
                  </a:lnTo>
                  <a:lnTo>
                    <a:pt x="0" y="76213"/>
                  </a:lnTo>
                  <a:lnTo>
                    <a:pt x="5989" y="46548"/>
                  </a:lnTo>
                  <a:lnTo>
                    <a:pt x="22322" y="22322"/>
                  </a:lnTo>
                  <a:lnTo>
                    <a:pt x="46547" y="5989"/>
                  </a:lnTo>
                  <a:lnTo>
                    <a:pt x="76213" y="0"/>
                  </a:lnTo>
                  <a:lnTo>
                    <a:pt x="8305785" y="0"/>
                  </a:lnTo>
                  <a:lnTo>
                    <a:pt x="8348069" y="12804"/>
                  </a:lnTo>
                  <a:lnTo>
                    <a:pt x="8376198" y="47048"/>
                  </a:lnTo>
                  <a:lnTo>
                    <a:pt x="8381999" y="76213"/>
                  </a:lnTo>
                  <a:lnTo>
                    <a:pt x="8381999" y="704985"/>
                  </a:lnTo>
                  <a:lnTo>
                    <a:pt x="8376010" y="734651"/>
                  </a:lnTo>
                  <a:lnTo>
                    <a:pt x="8359677" y="758877"/>
                  </a:lnTo>
                  <a:lnTo>
                    <a:pt x="8335451" y="775210"/>
                  </a:lnTo>
                  <a:lnTo>
                    <a:pt x="8305785" y="781199"/>
                  </a:lnTo>
                  <a:close/>
                </a:path>
              </a:pathLst>
            </a:custGeom>
            <a:solidFill>
              <a:srgbClr val="F0F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1000" y="4019550"/>
              <a:ext cx="8382000" cy="781685"/>
            </a:xfrm>
            <a:custGeom>
              <a:avLst/>
              <a:gdLst/>
              <a:ahLst/>
              <a:cxnLst/>
              <a:rect l="l" t="t" r="r" b="b"/>
              <a:pathLst>
                <a:path w="8382000" h="781685">
                  <a:moveTo>
                    <a:pt x="0" y="76213"/>
                  </a:moveTo>
                  <a:lnTo>
                    <a:pt x="5989" y="46548"/>
                  </a:lnTo>
                  <a:lnTo>
                    <a:pt x="22322" y="22322"/>
                  </a:lnTo>
                  <a:lnTo>
                    <a:pt x="46547" y="5989"/>
                  </a:lnTo>
                  <a:lnTo>
                    <a:pt x="76213" y="0"/>
                  </a:lnTo>
                  <a:lnTo>
                    <a:pt x="8305785" y="0"/>
                  </a:lnTo>
                  <a:lnTo>
                    <a:pt x="8348069" y="12804"/>
                  </a:lnTo>
                  <a:lnTo>
                    <a:pt x="8376198" y="47048"/>
                  </a:lnTo>
                  <a:lnTo>
                    <a:pt x="8381999" y="76213"/>
                  </a:lnTo>
                  <a:lnTo>
                    <a:pt x="8381999" y="704985"/>
                  </a:lnTo>
                  <a:lnTo>
                    <a:pt x="8376010" y="734651"/>
                  </a:lnTo>
                  <a:lnTo>
                    <a:pt x="8359677" y="758877"/>
                  </a:lnTo>
                  <a:lnTo>
                    <a:pt x="8335451" y="775210"/>
                  </a:lnTo>
                  <a:lnTo>
                    <a:pt x="8305785" y="781199"/>
                  </a:lnTo>
                  <a:lnTo>
                    <a:pt x="76213" y="781199"/>
                  </a:lnTo>
                  <a:lnTo>
                    <a:pt x="46547" y="775210"/>
                  </a:lnTo>
                  <a:lnTo>
                    <a:pt x="22322" y="758877"/>
                  </a:lnTo>
                  <a:lnTo>
                    <a:pt x="5989" y="734651"/>
                  </a:lnTo>
                  <a:lnTo>
                    <a:pt x="0" y="704985"/>
                  </a:lnTo>
                  <a:lnTo>
                    <a:pt x="0" y="76213"/>
                  </a:lnTo>
                  <a:close/>
                </a:path>
              </a:pathLst>
            </a:custGeom>
            <a:ln w="9524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8800" y="4066152"/>
            <a:ext cx="8014970" cy="5524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850" b="1" spc="-50" dirty="0">
                <a:solidFill>
                  <a:srgbClr val="0D9488"/>
                </a:solidFill>
                <a:latin typeface="Yu Gothic"/>
                <a:cs typeface="Yu Gothic"/>
              </a:rPr>
              <a:t>12</a:t>
            </a:r>
            <a:r>
              <a:rPr sz="850" b="1" spc="-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50" b="1" spc="-35" dirty="0">
                <a:solidFill>
                  <a:srgbClr val="0D9488"/>
                </a:solidFill>
                <a:latin typeface="Yu Gothic"/>
                <a:cs typeface="Yu Gothic"/>
              </a:rPr>
              <a:t>RELATIONAL</a:t>
            </a:r>
            <a:r>
              <a:rPr sz="850" b="1" spc="-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50" b="1" spc="-25" dirty="0">
                <a:solidFill>
                  <a:srgbClr val="0D9488"/>
                </a:solidFill>
                <a:latin typeface="Yu Gothic"/>
                <a:cs typeface="Yu Gothic"/>
              </a:rPr>
              <a:t>SYSTEM</a:t>
            </a:r>
            <a:r>
              <a:rPr sz="850" b="1" spc="-10" dirty="0">
                <a:solidFill>
                  <a:srgbClr val="0D9488"/>
                </a:solidFill>
                <a:latin typeface="Yu Gothic"/>
                <a:cs typeface="Yu Gothic"/>
              </a:rPr>
              <a:t> ENTITIES</a:t>
            </a:r>
            <a:endParaRPr sz="8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50" b="1" dirty="0">
                <a:solidFill>
                  <a:srgbClr val="0F172A"/>
                </a:solidFill>
                <a:latin typeface="Yu Gothic"/>
                <a:cs typeface="Yu Gothic"/>
              </a:rPr>
              <a:t>Core</a:t>
            </a:r>
            <a:r>
              <a:rPr sz="950" b="1" spc="11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50" b="1" dirty="0">
                <a:solidFill>
                  <a:srgbClr val="0F172A"/>
                </a:solidFill>
                <a:latin typeface="Yu Gothic"/>
                <a:cs typeface="Yu Gothic"/>
              </a:rPr>
              <a:t>Schema:</a:t>
            </a:r>
            <a:r>
              <a:rPr sz="950" b="1" spc="16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Categories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Manufacturers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Suppliers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Customers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Prescriptions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Purchases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50" dirty="0">
                <a:solidFill>
                  <a:srgbClr val="0F172A"/>
                </a:solidFill>
                <a:latin typeface="Tahoma"/>
                <a:cs typeface="Tahoma"/>
              </a:rPr>
              <a:t>Medicines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Batches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Sales</a:t>
            </a:r>
            <a:r>
              <a:rPr sz="950" spc="13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12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0F172A"/>
                </a:solidFill>
                <a:latin typeface="Tahoma"/>
                <a:cs typeface="Tahoma"/>
              </a:rPr>
              <a:t>Sale_Items</a:t>
            </a:r>
            <a:endParaRPr sz="950">
              <a:latin typeface="Tahoma"/>
              <a:cs typeface="Tahoma"/>
            </a:endParaRPr>
          </a:p>
          <a:p>
            <a:pPr marL="113664" indent="-100965">
              <a:lnSpc>
                <a:spcPct val="100000"/>
              </a:lnSpc>
              <a:buChar char="•"/>
              <a:tabLst>
                <a:tab pos="113664" algn="l"/>
              </a:tabLst>
            </a:pPr>
            <a:r>
              <a:rPr sz="950" spc="10" dirty="0">
                <a:solidFill>
                  <a:srgbClr val="0F172A"/>
                </a:solidFill>
                <a:latin typeface="Tahoma"/>
                <a:cs typeface="Tahoma"/>
              </a:rPr>
              <a:t>Payments</a:t>
            </a:r>
            <a:r>
              <a:rPr sz="950" spc="7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95" dirty="0">
                <a:solidFill>
                  <a:srgbClr val="0F172A"/>
                </a:solidFill>
                <a:latin typeface="Tahoma"/>
                <a:cs typeface="Tahoma"/>
              </a:rPr>
              <a:t>•</a:t>
            </a:r>
            <a:r>
              <a:rPr sz="950" spc="7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0F172A"/>
                </a:solidFill>
                <a:latin typeface="Tahoma"/>
                <a:cs typeface="Tahoma"/>
              </a:rPr>
              <a:t>Stock_Movements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D74EF0-5D13-6BF7-BAA2-AB3B44894A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300" y="142621"/>
            <a:ext cx="1869439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Database Engine</a:t>
            </a:r>
            <a:r>
              <a:rPr sz="900" b="1" spc="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Clinical</a:t>
            </a:r>
            <a:r>
              <a:rPr sz="9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Trigger</a:t>
            </a:r>
            <a:endParaRPr sz="900">
              <a:latin typeface="Yu Gothic"/>
              <a:cs typeface="Yu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8300" y="297941"/>
            <a:ext cx="2817495" cy="582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 err="1"/>
              <a:t>Enforc</a:t>
            </a:r>
            <a:r>
              <a:rPr lang="en-IN" sz="1850" spc="-10" dirty="0"/>
              <a:t>e </a:t>
            </a:r>
            <a:r>
              <a:rPr sz="1850" spc="-10" dirty="0" err="1"/>
              <a:t>Pr</a:t>
            </a:r>
            <a:r>
              <a:rPr lang="en-IN" sz="1850" spc="-10" dirty="0"/>
              <a:t>e</a:t>
            </a:r>
            <a:r>
              <a:rPr sz="1850" spc="-10" dirty="0" err="1"/>
              <a:t>scriptionRul</a:t>
            </a:r>
            <a:r>
              <a:rPr lang="en-IN" sz="1850" spc="-10" dirty="0"/>
              <a:t>e</a:t>
            </a:r>
            <a:endParaRPr sz="1850" dirty="0"/>
          </a:p>
        </p:txBody>
      </p:sp>
      <p:grpSp>
        <p:nvGrpSpPr>
          <p:cNvPr id="4" name="object 4"/>
          <p:cNvGrpSpPr/>
          <p:nvPr/>
        </p:nvGrpSpPr>
        <p:grpSpPr>
          <a:xfrm>
            <a:off x="373850" y="907249"/>
            <a:ext cx="4396105" cy="3862704"/>
            <a:chOff x="373850" y="907249"/>
            <a:chExt cx="4396105" cy="3862704"/>
          </a:xfrm>
        </p:grpSpPr>
        <p:sp>
          <p:nvSpPr>
            <p:cNvPr id="5" name="object 5"/>
            <p:cNvSpPr/>
            <p:nvPr/>
          </p:nvSpPr>
          <p:spPr>
            <a:xfrm>
              <a:off x="381000" y="914399"/>
              <a:ext cx="4381500" cy="3848100"/>
            </a:xfrm>
            <a:custGeom>
              <a:avLst/>
              <a:gdLst/>
              <a:ahLst/>
              <a:cxnLst/>
              <a:rect l="l" t="t" r="r" b="b"/>
              <a:pathLst>
                <a:path w="4381500" h="3848100">
                  <a:moveTo>
                    <a:pt x="4286259" y="3848099"/>
                  </a:moveTo>
                  <a:lnTo>
                    <a:pt x="95240" y="3848099"/>
                  </a:lnTo>
                  <a:lnTo>
                    <a:pt x="58168" y="3840615"/>
                  </a:lnTo>
                  <a:lnTo>
                    <a:pt x="27895" y="3820204"/>
                  </a:lnTo>
                  <a:lnTo>
                    <a:pt x="7484" y="3789931"/>
                  </a:lnTo>
                  <a:lnTo>
                    <a:pt x="0" y="3752859"/>
                  </a:lnTo>
                  <a:lnTo>
                    <a:pt x="0" y="95240"/>
                  </a:ln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4286259" y="0"/>
                  </a:lnTo>
                  <a:lnTo>
                    <a:pt x="4339099" y="16001"/>
                  </a:lnTo>
                  <a:lnTo>
                    <a:pt x="4374250" y="58793"/>
                  </a:lnTo>
                  <a:lnTo>
                    <a:pt x="4381499" y="95240"/>
                  </a:lnTo>
                  <a:lnTo>
                    <a:pt x="4381499" y="3752859"/>
                  </a:lnTo>
                  <a:lnTo>
                    <a:pt x="4374015" y="3789931"/>
                  </a:lnTo>
                  <a:lnTo>
                    <a:pt x="4353604" y="3820204"/>
                  </a:lnTo>
                  <a:lnTo>
                    <a:pt x="4323331" y="3840615"/>
                  </a:lnTo>
                  <a:lnTo>
                    <a:pt x="4286259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000" y="914399"/>
              <a:ext cx="4381500" cy="3848100"/>
            </a:xfrm>
            <a:custGeom>
              <a:avLst/>
              <a:gdLst/>
              <a:ahLst/>
              <a:cxnLst/>
              <a:rect l="l" t="t" r="r" b="b"/>
              <a:pathLst>
                <a:path w="4381500" h="3848100">
                  <a:moveTo>
                    <a:pt x="0" y="95240"/>
                  </a:move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4286259" y="0"/>
                  </a:lnTo>
                  <a:lnTo>
                    <a:pt x="4339099" y="16001"/>
                  </a:lnTo>
                  <a:lnTo>
                    <a:pt x="4374250" y="58793"/>
                  </a:lnTo>
                  <a:lnTo>
                    <a:pt x="4381499" y="95240"/>
                  </a:lnTo>
                  <a:lnTo>
                    <a:pt x="4381499" y="3752859"/>
                  </a:lnTo>
                  <a:lnTo>
                    <a:pt x="4374015" y="3789931"/>
                  </a:lnTo>
                  <a:lnTo>
                    <a:pt x="4353604" y="3820204"/>
                  </a:lnTo>
                  <a:lnTo>
                    <a:pt x="4323331" y="3840615"/>
                  </a:lnTo>
                  <a:lnTo>
                    <a:pt x="4286259" y="3848099"/>
                  </a:lnTo>
                  <a:lnTo>
                    <a:pt x="95240" y="3848099"/>
                  </a:lnTo>
                  <a:lnTo>
                    <a:pt x="58168" y="3840615"/>
                  </a:lnTo>
                  <a:lnTo>
                    <a:pt x="27895" y="3820204"/>
                  </a:lnTo>
                  <a:lnTo>
                    <a:pt x="7484" y="3789931"/>
                  </a:lnTo>
                  <a:lnTo>
                    <a:pt x="0" y="3752859"/>
                  </a:lnTo>
                  <a:lnTo>
                    <a:pt x="0" y="95240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914399"/>
              <a:ext cx="4381500" cy="342900"/>
            </a:xfrm>
            <a:custGeom>
              <a:avLst/>
              <a:gdLst/>
              <a:ahLst/>
              <a:cxnLst/>
              <a:rect l="l" t="t" r="r" b="b"/>
              <a:pathLst>
                <a:path w="4381500" h="342900">
                  <a:moveTo>
                    <a:pt x="4381499" y="342899"/>
                  </a:moveTo>
                  <a:lnTo>
                    <a:pt x="0" y="342899"/>
                  </a:lnTo>
                  <a:lnTo>
                    <a:pt x="0" y="95248"/>
                  </a:lnTo>
                  <a:lnTo>
                    <a:pt x="7485" y="58174"/>
                  </a:lnTo>
                  <a:lnTo>
                    <a:pt x="27900" y="27898"/>
                  </a:lnTo>
                  <a:lnTo>
                    <a:pt x="58179" y="7485"/>
                  </a:lnTo>
                  <a:lnTo>
                    <a:pt x="95261" y="0"/>
                  </a:lnTo>
                  <a:lnTo>
                    <a:pt x="4286238" y="0"/>
                  </a:lnTo>
                  <a:lnTo>
                    <a:pt x="4339099" y="15999"/>
                  </a:lnTo>
                  <a:lnTo>
                    <a:pt x="4374247" y="58796"/>
                  </a:lnTo>
                  <a:lnTo>
                    <a:pt x="4381499" y="95248"/>
                  </a:lnTo>
                  <a:lnTo>
                    <a:pt x="4381499" y="34289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1257299"/>
              <a:ext cx="4381500" cy="10160"/>
            </a:xfrm>
            <a:custGeom>
              <a:avLst/>
              <a:gdLst/>
              <a:ahLst/>
              <a:cxnLst/>
              <a:rect l="l" t="t" r="r" b="b"/>
              <a:pathLst>
                <a:path w="4381500" h="10159">
                  <a:moveTo>
                    <a:pt x="43814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4381499" y="0"/>
                  </a:lnTo>
                  <a:lnTo>
                    <a:pt x="43814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1047749"/>
              <a:ext cx="76199" cy="76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0" y="1047749"/>
              <a:ext cx="76199" cy="76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" y="1047749"/>
              <a:ext cx="76199" cy="761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MySQL</a:t>
            </a:r>
            <a:r>
              <a:rPr spc="-20" dirty="0"/>
              <a:t> Engine </a:t>
            </a:r>
            <a:r>
              <a:rPr dirty="0"/>
              <a:t>—</a:t>
            </a:r>
            <a:r>
              <a:rPr spc="-20" dirty="0"/>
              <a:t> </a:t>
            </a:r>
            <a:r>
              <a:rPr spc="-10" dirty="0"/>
              <a:t>EnforcePrescriptionRule.sql</a:t>
            </a: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pc="-10" dirty="0"/>
          </a:p>
          <a:p>
            <a:pPr marL="12700" marR="70485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CREATE</a:t>
            </a:r>
            <a:r>
              <a:rPr sz="1000" spc="-7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TRIGGER</a:t>
            </a:r>
            <a:r>
              <a:rPr sz="1000" spc="-6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EnforcePrescriptionRule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BEFORE</a:t>
            </a:r>
            <a:r>
              <a:rPr sz="1000" spc="-5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INSERT</a:t>
            </a:r>
            <a:r>
              <a:rPr sz="1000" spc="-5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ON</a:t>
            </a:r>
            <a:r>
              <a:rPr sz="1000" spc="-4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Sale_Items</a:t>
            </a:r>
            <a:endParaRPr sz="1000">
              <a:latin typeface="Consolas"/>
              <a:cs typeface="Consolas"/>
            </a:endParaRPr>
          </a:p>
          <a:p>
            <a:pPr marL="12700" marR="2518410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FOR</a:t>
            </a:r>
            <a:r>
              <a:rPr sz="1000" spc="-4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EACH</a:t>
            </a:r>
            <a:r>
              <a:rPr sz="1000" spc="-3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spc="-25" dirty="0">
                <a:solidFill>
                  <a:srgbClr val="0D9488"/>
                </a:solidFill>
                <a:latin typeface="Consolas"/>
                <a:cs typeface="Consolas"/>
              </a:rPr>
              <a:t>ROW </a:t>
            </a:r>
            <a:r>
              <a:rPr sz="1000" spc="-10" dirty="0">
                <a:solidFill>
                  <a:srgbClr val="0D9488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DECLARE</a:t>
            </a:r>
            <a:r>
              <a:rPr sz="1000" spc="-10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is_restricted</a:t>
            </a:r>
            <a:r>
              <a:rPr sz="1000" b="0" spc="-95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0D9488"/>
                </a:solidFill>
                <a:latin typeface="Consolas"/>
                <a:cs typeface="Consolas"/>
              </a:rPr>
              <a:t>BOOLEAN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2700" marR="703580">
              <a:lnSpc>
                <a:spcPct val="100000"/>
              </a:lnSpc>
              <a:spcBef>
                <a:spcPts val="300"/>
              </a:spcBef>
            </a:pPr>
            <a:r>
              <a:rPr sz="1000" b="0" i="1" spc="-20" dirty="0">
                <a:solidFill>
                  <a:srgbClr val="94A3B8"/>
                </a:solidFill>
                <a:latin typeface="Consolas"/>
                <a:cs typeface="Consolas"/>
              </a:rPr>
              <a:t>-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-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Check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if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medicine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is</a:t>
            </a:r>
            <a:r>
              <a:rPr sz="1000" b="0" i="1" spc="-40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Schedule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spc="-50" dirty="0">
                <a:solidFill>
                  <a:srgbClr val="94A3B8"/>
                </a:solidFill>
                <a:latin typeface="Consolas"/>
                <a:cs typeface="Consolas"/>
              </a:rPr>
              <a:t>H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SELECT</a:t>
            </a:r>
            <a:r>
              <a:rPr sz="1000" spc="-7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IsRestricted</a:t>
            </a:r>
            <a:r>
              <a:rPr sz="1000" b="0" spc="-65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INTO</a:t>
            </a:r>
            <a:r>
              <a:rPr sz="1000" spc="-7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is_restricted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FROM</a:t>
            </a:r>
            <a:r>
              <a:rPr sz="1000" spc="-4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Medicines</a:t>
            </a:r>
            <a:r>
              <a:rPr sz="1000" b="0" spc="-40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WHERE</a:t>
            </a:r>
            <a:r>
              <a:rPr sz="1000" spc="-4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Id</a:t>
            </a:r>
            <a:r>
              <a:rPr sz="1000" b="0" spc="-45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=</a:t>
            </a:r>
            <a:r>
              <a:rPr sz="1000" b="0" spc="-45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NEW.MedicineID;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IF</a:t>
            </a:r>
            <a:r>
              <a:rPr sz="1000" spc="-5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is_restricted</a:t>
            </a:r>
            <a:r>
              <a:rPr sz="1000" b="0" spc="-50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=</a:t>
            </a:r>
            <a:r>
              <a:rPr sz="1000" b="0" spc="-45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TRUE</a:t>
            </a:r>
            <a:r>
              <a:rPr sz="1000" spc="-5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spc="-20" dirty="0">
                <a:solidFill>
                  <a:srgbClr val="0D9488"/>
                </a:solidFill>
                <a:latin typeface="Consolas"/>
                <a:cs typeface="Consolas"/>
              </a:rPr>
              <a:t>THEN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0" i="1" spc="-20" dirty="0">
                <a:solidFill>
                  <a:srgbClr val="94A3B8"/>
                </a:solidFill>
                <a:latin typeface="Consolas"/>
                <a:cs typeface="Consolas"/>
              </a:rPr>
              <a:t>-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-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Require</a:t>
            </a:r>
            <a:r>
              <a:rPr sz="1000" b="0" i="1" spc="-40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dirty="0">
                <a:solidFill>
                  <a:srgbClr val="94A3B8"/>
                </a:solidFill>
                <a:latin typeface="Consolas"/>
                <a:cs typeface="Consolas"/>
              </a:rPr>
              <a:t>valid</a:t>
            </a:r>
            <a:r>
              <a:rPr sz="1000" b="0" i="1" spc="-45" dirty="0">
                <a:solidFill>
                  <a:srgbClr val="94A3B8"/>
                </a:solidFill>
                <a:latin typeface="Consolas"/>
                <a:cs typeface="Consolas"/>
              </a:rPr>
              <a:t> </a:t>
            </a:r>
            <a:r>
              <a:rPr sz="1000" b="0" i="1" spc="-10" dirty="0">
                <a:solidFill>
                  <a:srgbClr val="94A3B8"/>
                </a:solidFill>
                <a:latin typeface="Consolas"/>
                <a:cs typeface="Consolas"/>
              </a:rPr>
              <a:t>PrescriptionID</a:t>
            </a:r>
            <a:endParaRPr sz="1000">
              <a:latin typeface="Consolas"/>
              <a:cs typeface="Consolas"/>
            </a:endParaRPr>
          </a:p>
          <a:p>
            <a:pPr marL="12700" marR="982980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IF</a:t>
            </a:r>
            <a:r>
              <a:rPr sz="1000" spc="-2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NEW.PrescriptionID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IS</a:t>
            </a:r>
            <a:r>
              <a:rPr sz="1000" spc="-20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NULL</a:t>
            </a:r>
            <a:r>
              <a:rPr sz="1000" spc="-2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spc="-20" dirty="0">
                <a:solidFill>
                  <a:srgbClr val="0D9488"/>
                </a:solidFill>
                <a:latin typeface="Consolas"/>
                <a:cs typeface="Consolas"/>
              </a:rPr>
              <a:t>THEN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SIGNAL</a:t>
            </a:r>
            <a:r>
              <a:rPr sz="1000" spc="-7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SQLSTATE</a:t>
            </a:r>
            <a:r>
              <a:rPr sz="1000" spc="-6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D97706"/>
                </a:solidFill>
                <a:latin typeface="Consolas"/>
                <a:cs typeface="Consolas"/>
              </a:rPr>
              <a:t>'45000'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SET</a:t>
            </a:r>
            <a:r>
              <a:rPr sz="1000" spc="-7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0F172A"/>
                </a:solidFill>
                <a:latin typeface="Consolas"/>
                <a:cs typeface="Consolas"/>
              </a:rPr>
              <a:t>MESSAGE_TEXT</a:t>
            </a:r>
            <a:r>
              <a:rPr sz="1000" b="0" spc="-80" dirty="0">
                <a:solidFill>
                  <a:srgbClr val="0F172A"/>
                </a:solidFill>
                <a:latin typeface="Consolas"/>
                <a:cs typeface="Consolas"/>
              </a:rPr>
              <a:t> </a:t>
            </a:r>
            <a:r>
              <a:rPr sz="1000" b="0" spc="-50" dirty="0">
                <a:solidFill>
                  <a:srgbClr val="0F172A"/>
                </a:solidFill>
                <a:latin typeface="Consolas"/>
                <a:cs typeface="Consolas"/>
              </a:rPr>
              <a:t>=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b="0" dirty="0">
                <a:solidFill>
                  <a:srgbClr val="D97706"/>
                </a:solidFill>
                <a:latin typeface="Consolas"/>
                <a:cs typeface="Consolas"/>
              </a:rPr>
              <a:t>'Prescription</a:t>
            </a:r>
            <a:r>
              <a:rPr sz="1000" b="0" spc="-70" dirty="0">
                <a:solidFill>
                  <a:srgbClr val="D97706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D97706"/>
                </a:solidFill>
                <a:latin typeface="Consolas"/>
                <a:cs typeface="Consolas"/>
              </a:rPr>
              <a:t>required</a:t>
            </a:r>
            <a:r>
              <a:rPr sz="1000" b="0" spc="-70" dirty="0">
                <a:solidFill>
                  <a:srgbClr val="D97706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D97706"/>
                </a:solidFill>
                <a:latin typeface="Consolas"/>
                <a:cs typeface="Consolas"/>
              </a:rPr>
              <a:t>for</a:t>
            </a:r>
            <a:r>
              <a:rPr sz="1000" b="0" spc="-70" dirty="0">
                <a:solidFill>
                  <a:srgbClr val="D97706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D97706"/>
                </a:solidFill>
                <a:latin typeface="Consolas"/>
                <a:cs typeface="Consolas"/>
              </a:rPr>
              <a:t>Schedule</a:t>
            </a:r>
            <a:r>
              <a:rPr sz="1000" b="0" spc="-70" dirty="0">
                <a:solidFill>
                  <a:srgbClr val="D97706"/>
                </a:solidFill>
                <a:latin typeface="Consolas"/>
                <a:cs typeface="Consolas"/>
              </a:rPr>
              <a:t> </a:t>
            </a:r>
            <a:r>
              <a:rPr sz="1000" b="0" dirty="0">
                <a:solidFill>
                  <a:srgbClr val="D97706"/>
                </a:solidFill>
                <a:latin typeface="Consolas"/>
                <a:cs typeface="Consolas"/>
              </a:rPr>
              <a:t>H</a:t>
            </a:r>
            <a:r>
              <a:rPr sz="1000" b="0" spc="-70" dirty="0">
                <a:solidFill>
                  <a:srgbClr val="D97706"/>
                </a:solidFill>
                <a:latin typeface="Consolas"/>
                <a:cs typeface="Consolas"/>
              </a:rPr>
              <a:t> </a:t>
            </a:r>
            <a:r>
              <a:rPr sz="1000" b="0" spc="-10" dirty="0">
                <a:solidFill>
                  <a:srgbClr val="D97706"/>
                </a:solidFill>
                <a:latin typeface="Consolas"/>
                <a:cs typeface="Consolas"/>
              </a:rPr>
              <a:t>medicine'</a:t>
            </a:r>
            <a:r>
              <a:rPr sz="1000" b="0" spc="-10" dirty="0">
                <a:solidFill>
                  <a:srgbClr val="0F172A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2700" marR="2866390" algn="just">
              <a:lnSpc>
                <a:spcPct val="100000"/>
              </a:lnSpc>
            </a:pP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END</a:t>
            </a:r>
            <a:r>
              <a:rPr sz="1000" spc="-3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spc="-25" dirty="0">
                <a:solidFill>
                  <a:srgbClr val="0D9488"/>
                </a:solidFill>
                <a:latin typeface="Consolas"/>
                <a:cs typeface="Consolas"/>
              </a:rPr>
              <a:t>IF</a:t>
            </a:r>
            <a:r>
              <a:rPr sz="1000" b="0" spc="-25" dirty="0">
                <a:solidFill>
                  <a:srgbClr val="0F172A"/>
                </a:solidFill>
                <a:latin typeface="Consolas"/>
                <a:cs typeface="Consolas"/>
              </a:rPr>
              <a:t>; </a:t>
            </a:r>
            <a:r>
              <a:rPr sz="1000" dirty="0">
                <a:solidFill>
                  <a:srgbClr val="0D9488"/>
                </a:solidFill>
                <a:latin typeface="Consolas"/>
                <a:cs typeface="Consolas"/>
              </a:rPr>
              <a:t>END</a:t>
            </a:r>
            <a:r>
              <a:rPr sz="1000" spc="-35" dirty="0">
                <a:solidFill>
                  <a:srgbClr val="0D9488"/>
                </a:solidFill>
                <a:latin typeface="Consolas"/>
                <a:cs typeface="Consolas"/>
              </a:rPr>
              <a:t> </a:t>
            </a:r>
            <a:r>
              <a:rPr sz="1000" spc="-25" dirty="0">
                <a:solidFill>
                  <a:srgbClr val="0D9488"/>
                </a:solidFill>
                <a:latin typeface="Consolas"/>
                <a:cs typeface="Consolas"/>
              </a:rPr>
              <a:t>IF</a:t>
            </a:r>
            <a:r>
              <a:rPr sz="1000" b="0" spc="-25" dirty="0">
                <a:solidFill>
                  <a:srgbClr val="0F172A"/>
                </a:solidFill>
                <a:latin typeface="Consolas"/>
                <a:cs typeface="Consolas"/>
              </a:rPr>
              <a:t>; </a:t>
            </a:r>
            <a:r>
              <a:rPr sz="1000" spc="-20" dirty="0">
                <a:solidFill>
                  <a:srgbClr val="0D9488"/>
                </a:solidFill>
                <a:latin typeface="Consolas"/>
                <a:cs typeface="Consolas"/>
              </a:rPr>
              <a:t>END</a:t>
            </a:r>
            <a:r>
              <a:rPr sz="1000" b="0" spc="-20" dirty="0">
                <a:solidFill>
                  <a:srgbClr val="0F172A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45850" y="907249"/>
            <a:ext cx="3824604" cy="1062355"/>
            <a:chOff x="4945850" y="907249"/>
            <a:chExt cx="3824604" cy="1062355"/>
          </a:xfrm>
        </p:grpSpPr>
        <p:sp>
          <p:nvSpPr>
            <p:cNvPr id="14" name="object 14"/>
            <p:cNvSpPr/>
            <p:nvPr/>
          </p:nvSpPr>
          <p:spPr>
            <a:xfrm>
              <a:off x="4953000" y="914399"/>
              <a:ext cx="3810000" cy="1048385"/>
            </a:xfrm>
            <a:custGeom>
              <a:avLst/>
              <a:gdLst/>
              <a:ahLst/>
              <a:cxnLst/>
              <a:rect l="l" t="t" r="r" b="b"/>
              <a:pathLst>
                <a:path w="3810000" h="1048385">
                  <a:moveTo>
                    <a:pt x="3714745" y="1047899"/>
                  </a:moveTo>
                  <a:lnTo>
                    <a:pt x="95254" y="1047899"/>
                  </a:lnTo>
                  <a:lnTo>
                    <a:pt x="58177" y="1040414"/>
                  </a:lnTo>
                  <a:lnTo>
                    <a:pt x="27899" y="1020000"/>
                  </a:lnTo>
                  <a:lnTo>
                    <a:pt x="7485" y="989723"/>
                  </a:lnTo>
                  <a:lnTo>
                    <a:pt x="0" y="952645"/>
                  </a:lnTo>
                  <a:lnTo>
                    <a:pt x="0" y="95254"/>
                  </a:lnTo>
                  <a:lnTo>
                    <a:pt x="7485" y="58176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4" y="0"/>
                  </a:lnTo>
                  <a:lnTo>
                    <a:pt x="3714745" y="0"/>
                  </a:lnTo>
                  <a:lnTo>
                    <a:pt x="3767592" y="16003"/>
                  </a:lnTo>
                  <a:lnTo>
                    <a:pt x="3802749" y="58801"/>
                  </a:lnTo>
                  <a:lnTo>
                    <a:pt x="3809999" y="95254"/>
                  </a:lnTo>
                  <a:lnTo>
                    <a:pt x="3809999" y="952645"/>
                  </a:lnTo>
                  <a:lnTo>
                    <a:pt x="3802514" y="989723"/>
                  </a:lnTo>
                  <a:lnTo>
                    <a:pt x="3782100" y="1020000"/>
                  </a:lnTo>
                  <a:lnTo>
                    <a:pt x="3751823" y="1040414"/>
                  </a:lnTo>
                  <a:lnTo>
                    <a:pt x="3714745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53000" y="914399"/>
              <a:ext cx="3810000" cy="1048385"/>
            </a:xfrm>
            <a:custGeom>
              <a:avLst/>
              <a:gdLst/>
              <a:ahLst/>
              <a:cxnLst/>
              <a:rect l="l" t="t" r="r" b="b"/>
              <a:pathLst>
                <a:path w="3810000" h="1048385">
                  <a:moveTo>
                    <a:pt x="0" y="95254"/>
                  </a:moveTo>
                  <a:lnTo>
                    <a:pt x="7485" y="58176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4" y="0"/>
                  </a:lnTo>
                  <a:lnTo>
                    <a:pt x="3714745" y="0"/>
                  </a:lnTo>
                  <a:lnTo>
                    <a:pt x="3767592" y="16003"/>
                  </a:lnTo>
                  <a:lnTo>
                    <a:pt x="3802749" y="58801"/>
                  </a:lnTo>
                  <a:lnTo>
                    <a:pt x="3809999" y="95254"/>
                  </a:lnTo>
                  <a:lnTo>
                    <a:pt x="3809999" y="952645"/>
                  </a:lnTo>
                  <a:lnTo>
                    <a:pt x="3802514" y="989723"/>
                  </a:lnTo>
                  <a:lnTo>
                    <a:pt x="3782100" y="1020000"/>
                  </a:lnTo>
                  <a:lnTo>
                    <a:pt x="3751823" y="1040414"/>
                  </a:lnTo>
                  <a:lnTo>
                    <a:pt x="3714745" y="1047899"/>
                  </a:lnTo>
                  <a:lnTo>
                    <a:pt x="95254" y="1047899"/>
                  </a:lnTo>
                  <a:lnTo>
                    <a:pt x="58177" y="1040414"/>
                  </a:lnTo>
                  <a:lnTo>
                    <a:pt x="27899" y="1020000"/>
                  </a:lnTo>
                  <a:lnTo>
                    <a:pt x="7485" y="989723"/>
                  </a:lnTo>
                  <a:lnTo>
                    <a:pt x="0" y="952645"/>
                  </a:lnTo>
                  <a:lnTo>
                    <a:pt x="0" y="95254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53000" y="914399"/>
              <a:ext cx="57785" cy="1048385"/>
            </a:xfrm>
            <a:custGeom>
              <a:avLst/>
              <a:gdLst/>
              <a:ahLst/>
              <a:cxnLst/>
              <a:rect l="l" t="t" r="r" b="b"/>
              <a:pathLst>
                <a:path w="57785" h="1048385">
                  <a:moveTo>
                    <a:pt x="28649" y="1047899"/>
                  </a:moveTo>
                  <a:lnTo>
                    <a:pt x="17498" y="1045648"/>
                  </a:lnTo>
                  <a:lnTo>
                    <a:pt x="8391" y="1039508"/>
                  </a:lnTo>
                  <a:lnTo>
                    <a:pt x="2251" y="1030401"/>
                  </a:lnTo>
                  <a:lnTo>
                    <a:pt x="0" y="10192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019249"/>
                  </a:lnTo>
                  <a:lnTo>
                    <a:pt x="55048" y="1030401"/>
                  </a:lnTo>
                  <a:lnTo>
                    <a:pt x="48908" y="1039508"/>
                  </a:lnTo>
                  <a:lnTo>
                    <a:pt x="39801" y="1045648"/>
                  </a:lnTo>
                  <a:lnTo>
                    <a:pt x="28649" y="10478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30800" y="1001834"/>
            <a:ext cx="3378200" cy="8191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b="1" spc="-40" dirty="0">
                <a:solidFill>
                  <a:srgbClr val="0D9488"/>
                </a:solidFill>
                <a:latin typeface="Yu Gothic"/>
                <a:cs typeface="Yu Gothic"/>
              </a:rPr>
              <a:t>TRIGGER</a:t>
            </a:r>
            <a:r>
              <a:rPr sz="10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40" dirty="0">
                <a:solidFill>
                  <a:srgbClr val="0D9488"/>
                </a:solidFill>
                <a:latin typeface="Yu Gothic"/>
                <a:cs typeface="Yu Gothic"/>
              </a:rPr>
              <a:t>SPECIFICATION</a:t>
            </a:r>
            <a:r>
              <a:rPr sz="10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120" dirty="0">
                <a:solidFill>
                  <a:srgbClr val="0D9488"/>
                </a:solidFill>
                <a:latin typeface="Yu Gothic"/>
                <a:cs typeface="Yu Gothic"/>
              </a:rPr>
              <a:t>s</a:t>
            </a:r>
            <a:r>
              <a:rPr sz="1000" b="1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-10" dirty="0">
                <a:solidFill>
                  <a:srgbClr val="0D9488"/>
                </a:solidFill>
                <a:latin typeface="Yu Gothic"/>
                <a:cs typeface="Yu Gothic"/>
              </a:rPr>
              <a:t>LOGIC</a:t>
            </a:r>
            <a:endParaRPr sz="1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300" b="1" spc="-65" dirty="0">
                <a:solidFill>
                  <a:srgbClr val="0F172A"/>
                </a:solidFill>
                <a:latin typeface="Yu Gothic"/>
                <a:cs typeface="Yu Gothic"/>
              </a:rPr>
              <a:t>BEFORE</a:t>
            </a:r>
            <a:r>
              <a:rPr sz="1300" b="1" spc="-45" dirty="0">
                <a:solidFill>
                  <a:srgbClr val="0F172A"/>
                </a:solidFill>
                <a:latin typeface="Yu Gothic"/>
                <a:cs typeface="Yu Gothic"/>
              </a:rPr>
              <a:t> INSERT </a:t>
            </a:r>
            <a:r>
              <a:rPr sz="1300" b="1" dirty="0">
                <a:solidFill>
                  <a:srgbClr val="0F172A"/>
                </a:solidFill>
                <a:latin typeface="Yu Gothic"/>
                <a:cs typeface="Yu Gothic"/>
              </a:rPr>
              <a:t>ON</a:t>
            </a:r>
            <a:r>
              <a:rPr sz="1300" b="1" spc="-4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300" b="1" spc="-10" dirty="0">
                <a:solidFill>
                  <a:srgbClr val="0F172A"/>
                </a:solidFill>
                <a:latin typeface="Yu Gothic"/>
                <a:cs typeface="Yu Gothic"/>
              </a:rPr>
              <a:t>Sale_Items</a:t>
            </a:r>
            <a:endParaRPr sz="13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Compiles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directly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at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80" dirty="0">
                <a:solidFill>
                  <a:srgbClr val="475568"/>
                </a:solidFill>
                <a:latin typeface="Tahoma"/>
                <a:cs typeface="Tahoma"/>
              </a:rPr>
              <a:t>MySQL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engine</a:t>
            </a:r>
            <a:r>
              <a:rPr sz="105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level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sz="1050" spc="4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55" dirty="0">
                <a:solidFill>
                  <a:srgbClr val="475568"/>
                </a:solidFill>
                <a:latin typeface="Tahoma"/>
                <a:cs typeface="Tahoma"/>
              </a:rPr>
              <a:t>check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if</a:t>
            </a:r>
            <a:r>
              <a:rPr sz="1050" spc="8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sz="105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target</a:t>
            </a:r>
            <a:r>
              <a:rPr sz="105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medicine</a:t>
            </a:r>
            <a:r>
              <a:rPr sz="105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475568"/>
                </a:solidFill>
                <a:latin typeface="Tahoma"/>
                <a:cs typeface="Tahoma"/>
              </a:rPr>
              <a:t>is</a:t>
            </a:r>
            <a:r>
              <a:rPr sz="1050" spc="8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475568"/>
                </a:solidFill>
                <a:latin typeface="Tahoma"/>
                <a:cs typeface="Tahoma"/>
              </a:rPr>
              <a:t>marked</a:t>
            </a:r>
            <a:r>
              <a:rPr sz="1050" spc="10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IsRestricted</a:t>
            </a:r>
            <a:r>
              <a:rPr sz="1050" b="1" spc="6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70" dirty="0">
                <a:solidFill>
                  <a:srgbClr val="0F172A"/>
                </a:solidFill>
                <a:latin typeface="Yu Gothic"/>
                <a:cs typeface="Yu Gothic"/>
              </a:rPr>
              <a:t>=</a:t>
            </a:r>
            <a:r>
              <a:rPr sz="1050" b="1" spc="7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TRUE</a:t>
            </a:r>
            <a:r>
              <a:rPr sz="1050" spc="-10" dirty="0">
                <a:solidFill>
                  <a:srgbClr val="475568"/>
                </a:solidFill>
                <a:latin typeface="Tahoma"/>
                <a:cs typeface="Tahoma"/>
              </a:rPr>
              <a:t>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45850" y="2107400"/>
            <a:ext cx="3824604" cy="1252855"/>
            <a:chOff x="4945850" y="2107400"/>
            <a:chExt cx="3824604" cy="1252855"/>
          </a:xfrm>
        </p:grpSpPr>
        <p:sp>
          <p:nvSpPr>
            <p:cNvPr id="19" name="object 19"/>
            <p:cNvSpPr/>
            <p:nvPr/>
          </p:nvSpPr>
          <p:spPr>
            <a:xfrm>
              <a:off x="4953000" y="2114550"/>
              <a:ext cx="3810000" cy="1238885"/>
            </a:xfrm>
            <a:custGeom>
              <a:avLst/>
              <a:gdLst/>
              <a:ahLst/>
              <a:cxnLst/>
              <a:rect l="l" t="t" r="r" b="b"/>
              <a:pathLst>
                <a:path w="3810000" h="1238885">
                  <a:moveTo>
                    <a:pt x="3714742" y="1238399"/>
                  </a:moveTo>
                  <a:lnTo>
                    <a:pt x="95257" y="1238399"/>
                  </a:lnTo>
                  <a:lnTo>
                    <a:pt x="58179" y="1230914"/>
                  </a:lnTo>
                  <a:lnTo>
                    <a:pt x="27900" y="1210499"/>
                  </a:lnTo>
                  <a:lnTo>
                    <a:pt x="7485" y="1180220"/>
                  </a:lnTo>
                  <a:lnTo>
                    <a:pt x="0" y="1143142"/>
                  </a:lnTo>
                  <a:lnTo>
                    <a:pt x="0" y="95257"/>
                  </a:lnTo>
                  <a:lnTo>
                    <a:pt x="7485" y="58179"/>
                  </a:lnTo>
                  <a:lnTo>
                    <a:pt x="27900" y="27900"/>
                  </a:lnTo>
                  <a:lnTo>
                    <a:pt x="58179" y="7485"/>
                  </a:lnTo>
                  <a:lnTo>
                    <a:pt x="95257" y="0"/>
                  </a:lnTo>
                  <a:lnTo>
                    <a:pt x="3714742" y="0"/>
                  </a:lnTo>
                  <a:lnTo>
                    <a:pt x="3767591" y="16004"/>
                  </a:lnTo>
                  <a:lnTo>
                    <a:pt x="3802748" y="58804"/>
                  </a:lnTo>
                  <a:lnTo>
                    <a:pt x="3809999" y="95257"/>
                  </a:lnTo>
                  <a:lnTo>
                    <a:pt x="3809999" y="1143142"/>
                  </a:lnTo>
                  <a:lnTo>
                    <a:pt x="3802514" y="1180220"/>
                  </a:lnTo>
                  <a:lnTo>
                    <a:pt x="3782099" y="1210499"/>
                  </a:lnTo>
                  <a:lnTo>
                    <a:pt x="3751820" y="1230914"/>
                  </a:lnTo>
                  <a:lnTo>
                    <a:pt x="3714742" y="1238399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53000" y="2114550"/>
              <a:ext cx="3810000" cy="1238885"/>
            </a:xfrm>
            <a:custGeom>
              <a:avLst/>
              <a:gdLst/>
              <a:ahLst/>
              <a:cxnLst/>
              <a:rect l="l" t="t" r="r" b="b"/>
              <a:pathLst>
                <a:path w="3810000" h="1238885">
                  <a:moveTo>
                    <a:pt x="0" y="95257"/>
                  </a:moveTo>
                  <a:lnTo>
                    <a:pt x="7485" y="58179"/>
                  </a:lnTo>
                  <a:lnTo>
                    <a:pt x="27900" y="27900"/>
                  </a:lnTo>
                  <a:lnTo>
                    <a:pt x="58179" y="7485"/>
                  </a:lnTo>
                  <a:lnTo>
                    <a:pt x="95257" y="0"/>
                  </a:lnTo>
                  <a:lnTo>
                    <a:pt x="3714742" y="0"/>
                  </a:lnTo>
                  <a:lnTo>
                    <a:pt x="3767591" y="16004"/>
                  </a:lnTo>
                  <a:lnTo>
                    <a:pt x="3802748" y="58804"/>
                  </a:lnTo>
                  <a:lnTo>
                    <a:pt x="3809999" y="95257"/>
                  </a:lnTo>
                  <a:lnTo>
                    <a:pt x="3809999" y="1143142"/>
                  </a:lnTo>
                  <a:lnTo>
                    <a:pt x="3802514" y="1180220"/>
                  </a:lnTo>
                  <a:lnTo>
                    <a:pt x="3782099" y="1210499"/>
                  </a:lnTo>
                  <a:lnTo>
                    <a:pt x="3751820" y="1230914"/>
                  </a:lnTo>
                  <a:lnTo>
                    <a:pt x="3714742" y="1238399"/>
                  </a:lnTo>
                  <a:lnTo>
                    <a:pt x="95257" y="1238399"/>
                  </a:lnTo>
                  <a:lnTo>
                    <a:pt x="58179" y="1230914"/>
                  </a:lnTo>
                  <a:lnTo>
                    <a:pt x="27900" y="1210499"/>
                  </a:lnTo>
                  <a:lnTo>
                    <a:pt x="7485" y="1180220"/>
                  </a:lnTo>
                  <a:lnTo>
                    <a:pt x="0" y="1143142"/>
                  </a:lnTo>
                  <a:lnTo>
                    <a:pt x="0" y="95257"/>
                  </a:lnTo>
                  <a:close/>
                </a:path>
              </a:pathLst>
            </a:custGeom>
            <a:ln w="14299">
              <a:solidFill>
                <a:srgbClr val="FC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53000" y="2114550"/>
              <a:ext cx="57785" cy="1238885"/>
            </a:xfrm>
            <a:custGeom>
              <a:avLst/>
              <a:gdLst/>
              <a:ahLst/>
              <a:cxnLst/>
              <a:rect l="l" t="t" r="r" b="b"/>
              <a:pathLst>
                <a:path w="57785" h="1238885">
                  <a:moveTo>
                    <a:pt x="28649" y="1238399"/>
                  </a:moveTo>
                  <a:lnTo>
                    <a:pt x="17498" y="1236148"/>
                  </a:lnTo>
                  <a:lnTo>
                    <a:pt x="8391" y="1230008"/>
                  </a:lnTo>
                  <a:lnTo>
                    <a:pt x="2251" y="1220901"/>
                  </a:lnTo>
                  <a:lnTo>
                    <a:pt x="0" y="12097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209749"/>
                  </a:lnTo>
                  <a:lnTo>
                    <a:pt x="55048" y="1220901"/>
                  </a:lnTo>
                  <a:lnTo>
                    <a:pt x="48908" y="1230008"/>
                  </a:lnTo>
                  <a:lnTo>
                    <a:pt x="39801" y="1236148"/>
                  </a:lnTo>
                  <a:lnTo>
                    <a:pt x="28649" y="1238399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30800" y="2278888"/>
            <a:ext cx="1358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35" dirty="0">
                <a:solidFill>
                  <a:srgbClr val="EE4444"/>
                </a:solidFill>
                <a:latin typeface="Tahoma"/>
                <a:cs typeface="Tahoma"/>
              </a:rPr>
              <a:t>RULE</a:t>
            </a:r>
            <a:r>
              <a:rPr sz="1000" b="1" spc="-45" dirty="0">
                <a:solidFill>
                  <a:srgbClr val="EE4444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EE4444"/>
                </a:solidFill>
                <a:latin typeface="Tahoma"/>
                <a:cs typeface="Tahoma"/>
              </a:rPr>
              <a:t>ENFORCEMENT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25603" y="2247900"/>
            <a:ext cx="947419" cy="213360"/>
          </a:xfrm>
          <a:prstGeom prst="rect">
            <a:avLst/>
          </a:prstGeom>
          <a:solidFill>
            <a:srgbClr val="FDE1E1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800" b="1" spc="-35" dirty="0">
                <a:solidFill>
                  <a:srgbClr val="991B1B"/>
                </a:solidFill>
                <a:latin typeface="Yu Gothic"/>
                <a:cs typeface="Yu Gothic"/>
              </a:rPr>
              <a:t>SQLSTATE</a:t>
            </a:r>
            <a:r>
              <a:rPr sz="800" b="1" spc="10" dirty="0">
                <a:solidFill>
                  <a:srgbClr val="991B1B"/>
                </a:solidFill>
                <a:latin typeface="Yu Gothic"/>
                <a:cs typeface="Yu Gothic"/>
              </a:rPr>
              <a:t> </a:t>
            </a:r>
            <a:r>
              <a:rPr sz="800" b="1" spc="35" dirty="0">
                <a:solidFill>
                  <a:srgbClr val="991B1B"/>
                </a:solidFill>
                <a:latin typeface="Yu Gothic"/>
                <a:cs typeface="Yu Gothic"/>
              </a:rPr>
              <a:t>'45000'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30800" y="2500376"/>
            <a:ext cx="3441700" cy="56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7F1C1C"/>
                </a:solidFill>
                <a:latin typeface="Tahoma"/>
                <a:cs typeface="Tahoma"/>
              </a:rPr>
              <a:t>If</a:t>
            </a:r>
            <a:r>
              <a:rPr sz="1050" spc="6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F1C1C"/>
                </a:solidFill>
                <a:latin typeface="Tahoma"/>
                <a:cs typeface="Tahoma"/>
              </a:rPr>
              <a:t>the</a:t>
            </a:r>
            <a:r>
              <a:rPr sz="1050" spc="6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F1C1C"/>
                </a:solidFill>
                <a:latin typeface="Tahoma"/>
                <a:cs typeface="Tahoma"/>
              </a:rPr>
              <a:t>parent</a:t>
            </a:r>
            <a:r>
              <a:rPr sz="1050" spc="6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7F1C1C"/>
                </a:solidFill>
                <a:latin typeface="Tahoma"/>
                <a:cs typeface="Tahoma"/>
              </a:rPr>
              <a:t>sales</a:t>
            </a:r>
            <a:r>
              <a:rPr sz="1050" spc="6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F1C1C"/>
                </a:solidFill>
                <a:latin typeface="Tahoma"/>
                <a:cs typeface="Tahoma"/>
              </a:rPr>
              <a:t>invoice</a:t>
            </a:r>
            <a:r>
              <a:rPr sz="1050" spc="6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7F1C1C"/>
                </a:solidFill>
                <a:latin typeface="Tahoma"/>
                <a:cs typeface="Tahoma"/>
              </a:rPr>
              <a:t>lacks</a:t>
            </a:r>
            <a:r>
              <a:rPr sz="1050" spc="6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F1C1C"/>
                </a:solidFill>
                <a:latin typeface="Tahoma"/>
                <a:cs typeface="Tahoma"/>
              </a:rPr>
              <a:t>a</a:t>
            </a:r>
            <a:r>
              <a:rPr sz="1050" spc="6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7F1C1C"/>
                </a:solidFill>
                <a:latin typeface="Tahoma"/>
                <a:cs typeface="Tahoma"/>
              </a:rPr>
              <a:t>valid</a:t>
            </a:r>
            <a:r>
              <a:rPr sz="1050" spc="8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b="1" spc="-10" dirty="0">
                <a:solidFill>
                  <a:srgbClr val="7F1C1C"/>
                </a:solidFill>
                <a:latin typeface="Yu Gothic"/>
                <a:cs typeface="Yu Gothic"/>
              </a:rPr>
              <a:t>PrescriptionID</a:t>
            </a:r>
            <a:r>
              <a:rPr sz="1050" spc="-10" dirty="0">
                <a:solidFill>
                  <a:srgbClr val="7F1C1C"/>
                </a:solidFill>
                <a:latin typeface="Tahoma"/>
                <a:cs typeface="Tahoma"/>
              </a:rPr>
              <a:t>, </a:t>
            </a:r>
            <a:r>
              <a:rPr sz="1050" spc="10" dirty="0">
                <a:solidFill>
                  <a:srgbClr val="7F1C1C"/>
                </a:solidFill>
                <a:latin typeface="Tahoma"/>
                <a:cs typeface="Tahoma"/>
              </a:rPr>
              <a:t>the</a:t>
            </a:r>
            <a:r>
              <a:rPr sz="1050" spc="140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7F1C1C"/>
                </a:solidFill>
                <a:latin typeface="Tahoma"/>
                <a:cs typeface="Tahoma"/>
              </a:rPr>
              <a:t>engine</a:t>
            </a:r>
            <a:r>
              <a:rPr sz="1050" spc="14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7F1C1C"/>
                </a:solidFill>
                <a:latin typeface="Tahoma"/>
                <a:cs typeface="Tahoma"/>
              </a:rPr>
              <a:t>immediately</a:t>
            </a:r>
            <a:r>
              <a:rPr sz="1050" spc="14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7F1C1C"/>
                </a:solidFill>
                <a:latin typeface="Tahoma"/>
                <a:cs typeface="Tahoma"/>
              </a:rPr>
              <a:t>aborts</a:t>
            </a:r>
            <a:r>
              <a:rPr sz="1050" spc="14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10" dirty="0">
                <a:solidFill>
                  <a:srgbClr val="7F1C1C"/>
                </a:solidFill>
                <a:latin typeface="Tahoma"/>
                <a:cs typeface="Tahoma"/>
              </a:rPr>
              <a:t>transaction</a:t>
            </a:r>
            <a:r>
              <a:rPr sz="1050" spc="145" dirty="0">
                <a:solidFill>
                  <a:srgbClr val="7F1C1C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7F1C1C"/>
                </a:solidFill>
                <a:latin typeface="Tahoma"/>
                <a:cs typeface="Tahoma"/>
              </a:rPr>
              <a:t>execution: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00" spc="-10" dirty="0">
                <a:solidFill>
                  <a:srgbClr val="EE4444"/>
                </a:solidFill>
                <a:latin typeface="Consolas"/>
                <a:cs typeface="Consolas"/>
              </a:rPr>
              <a:t>"Prescription</a:t>
            </a:r>
            <a:r>
              <a:rPr sz="900" spc="-75" dirty="0">
                <a:solidFill>
                  <a:srgbClr val="EE4444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EE4444"/>
                </a:solidFill>
                <a:latin typeface="Consolas"/>
                <a:cs typeface="Consolas"/>
              </a:rPr>
              <a:t>required</a:t>
            </a:r>
            <a:r>
              <a:rPr sz="900" spc="-75" dirty="0">
                <a:solidFill>
                  <a:srgbClr val="EE4444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EE4444"/>
                </a:solidFill>
                <a:latin typeface="Consolas"/>
                <a:cs typeface="Consolas"/>
              </a:rPr>
              <a:t>for</a:t>
            </a:r>
            <a:r>
              <a:rPr sz="900" spc="-70" dirty="0">
                <a:solidFill>
                  <a:srgbClr val="EE4444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EE4444"/>
                </a:solidFill>
                <a:latin typeface="Consolas"/>
                <a:cs typeface="Consolas"/>
              </a:rPr>
              <a:t>Schedule</a:t>
            </a:r>
            <a:r>
              <a:rPr sz="900" spc="-75" dirty="0">
                <a:solidFill>
                  <a:srgbClr val="EE4444"/>
                </a:solidFill>
                <a:latin typeface="Consolas"/>
                <a:cs typeface="Consolas"/>
              </a:rPr>
              <a:t> </a:t>
            </a:r>
            <a:r>
              <a:rPr sz="900" dirty="0">
                <a:solidFill>
                  <a:srgbClr val="EE4444"/>
                </a:solidFill>
                <a:latin typeface="Consolas"/>
                <a:cs typeface="Consolas"/>
              </a:rPr>
              <a:t>H</a:t>
            </a:r>
            <a:r>
              <a:rPr sz="900" spc="-70" dirty="0">
                <a:solidFill>
                  <a:srgbClr val="EE4444"/>
                </a:solidFill>
                <a:latin typeface="Consolas"/>
                <a:cs typeface="Consolas"/>
              </a:rPr>
              <a:t> </a:t>
            </a:r>
            <a:r>
              <a:rPr sz="900" spc="-10" dirty="0">
                <a:solidFill>
                  <a:srgbClr val="EE4444"/>
                </a:solidFill>
                <a:latin typeface="Consolas"/>
                <a:cs typeface="Consolas"/>
              </a:rPr>
              <a:t>medicine"</a:t>
            </a:r>
            <a:endParaRPr sz="90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45850" y="3498050"/>
            <a:ext cx="3824604" cy="1271905"/>
            <a:chOff x="4945850" y="3498050"/>
            <a:chExt cx="3824604" cy="1271905"/>
          </a:xfrm>
        </p:grpSpPr>
        <p:sp>
          <p:nvSpPr>
            <p:cNvPr id="26" name="object 26"/>
            <p:cNvSpPr/>
            <p:nvPr/>
          </p:nvSpPr>
          <p:spPr>
            <a:xfrm>
              <a:off x="4953000" y="3505200"/>
              <a:ext cx="3810000" cy="1257300"/>
            </a:xfrm>
            <a:custGeom>
              <a:avLst/>
              <a:gdLst/>
              <a:ahLst/>
              <a:cxnLst/>
              <a:rect l="l" t="t" r="r" b="b"/>
              <a:pathLst>
                <a:path w="3810000" h="1257300">
                  <a:moveTo>
                    <a:pt x="3714759" y="1257299"/>
                  </a:moveTo>
                  <a:lnTo>
                    <a:pt x="95240" y="1257299"/>
                  </a:lnTo>
                  <a:lnTo>
                    <a:pt x="58168" y="1249815"/>
                  </a:lnTo>
                  <a:lnTo>
                    <a:pt x="27895" y="1229404"/>
                  </a:lnTo>
                  <a:lnTo>
                    <a:pt x="7484" y="1199131"/>
                  </a:lnTo>
                  <a:lnTo>
                    <a:pt x="0" y="1162059"/>
                  </a:lnTo>
                  <a:lnTo>
                    <a:pt x="0" y="95240"/>
                  </a:ln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3714759" y="0"/>
                  </a:lnTo>
                  <a:lnTo>
                    <a:pt x="3767599" y="16001"/>
                  </a:lnTo>
                  <a:lnTo>
                    <a:pt x="3802750" y="58793"/>
                  </a:lnTo>
                  <a:lnTo>
                    <a:pt x="3809999" y="95240"/>
                  </a:lnTo>
                  <a:lnTo>
                    <a:pt x="3809999" y="1162059"/>
                  </a:lnTo>
                  <a:lnTo>
                    <a:pt x="3802515" y="1199131"/>
                  </a:lnTo>
                  <a:lnTo>
                    <a:pt x="3782104" y="1229404"/>
                  </a:lnTo>
                  <a:lnTo>
                    <a:pt x="3751831" y="1249815"/>
                  </a:lnTo>
                  <a:lnTo>
                    <a:pt x="3714759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53000" y="3505200"/>
              <a:ext cx="3810000" cy="1257300"/>
            </a:xfrm>
            <a:custGeom>
              <a:avLst/>
              <a:gdLst/>
              <a:ahLst/>
              <a:cxnLst/>
              <a:rect l="l" t="t" r="r" b="b"/>
              <a:pathLst>
                <a:path w="3810000" h="1257300">
                  <a:moveTo>
                    <a:pt x="0" y="95240"/>
                  </a:move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3714759" y="0"/>
                  </a:lnTo>
                  <a:lnTo>
                    <a:pt x="3767599" y="16001"/>
                  </a:lnTo>
                  <a:lnTo>
                    <a:pt x="3802750" y="58793"/>
                  </a:lnTo>
                  <a:lnTo>
                    <a:pt x="3809999" y="95240"/>
                  </a:lnTo>
                  <a:lnTo>
                    <a:pt x="3809999" y="1162059"/>
                  </a:lnTo>
                  <a:lnTo>
                    <a:pt x="3802515" y="1199131"/>
                  </a:lnTo>
                  <a:lnTo>
                    <a:pt x="3782104" y="1229404"/>
                  </a:lnTo>
                  <a:lnTo>
                    <a:pt x="3751831" y="1249815"/>
                  </a:lnTo>
                  <a:lnTo>
                    <a:pt x="3714759" y="1257299"/>
                  </a:lnTo>
                  <a:lnTo>
                    <a:pt x="95240" y="1257299"/>
                  </a:lnTo>
                  <a:lnTo>
                    <a:pt x="58168" y="1249815"/>
                  </a:lnTo>
                  <a:lnTo>
                    <a:pt x="27895" y="1229404"/>
                  </a:lnTo>
                  <a:lnTo>
                    <a:pt x="7484" y="1199131"/>
                  </a:lnTo>
                  <a:lnTo>
                    <a:pt x="0" y="1162059"/>
                  </a:lnTo>
                  <a:lnTo>
                    <a:pt x="0" y="95240"/>
                  </a:lnTo>
                  <a:close/>
                </a:path>
              </a:pathLst>
            </a:custGeom>
            <a:ln w="14299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24450" y="36766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28599" y="304799"/>
                  </a:moveTo>
                  <a:lnTo>
                    <a:pt x="76199" y="304799"/>
                  </a:lnTo>
                  <a:lnTo>
                    <a:pt x="46539" y="298811"/>
                  </a:lnTo>
                  <a:lnTo>
                    <a:pt x="22318" y="282481"/>
                  </a:lnTo>
                  <a:lnTo>
                    <a:pt x="5988" y="258260"/>
                  </a:lnTo>
                  <a:lnTo>
                    <a:pt x="0" y="228599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228599" y="0"/>
                  </a:lnTo>
                  <a:lnTo>
                    <a:pt x="270875" y="12802"/>
                  </a:lnTo>
                  <a:lnTo>
                    <a:pt x="298999" y="47039"/>
                  </a:lnTo>
                  <a:lnTo>
                    <a:pt x="304799" y="76199"/>
                  </a:lnTo>
                  <a:lnTo>
                    <a:pt x="304799" y="228599"/>
                  </a:lnTo>
                  <a:lnTo>
                    <a:pt x="298811" y="258260"/>
                  </a:lnTo>
                  <a:lnTo>
                    <a:pt x="282481" y="282481"/>
                  </a:lnTo>
                  <a:lnTo>
                    <a:pt x="258260" y="298811"/>
                  </a:lnTo>
                  <a:lnTo>
                    <a:pt x="228599" y="304799"/>
                  </a:lnTo>
                  <a:close/>
                </a:path>
              </a:pathLst>
            </a:custGeom>
            <a:solidFill>
              <a:srgbClr val="CCFA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0650" y="3752850"/>
              <a:ext cx="152399" cy="1808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658100" y="3695700"/>
              <a:ext cx="914400" cy="210185"/>
            </a:xfrm>
            <a:custGeom>
              <a:avLst/>
              <a:gdLst/>
              <a:ahLst/>
              <a:cxnLst/>
              <a:rect l="l" t="t" r="r" b="b"/>
              <a:pathLst>
                <a:path w="914400" h="210185">
                  <a:moveTo>
                    <a:pt x="809549" y="209699"/>
                  </a:moveTo>
                  <a:lnTo>
                    <a:pt x="104849" y="209699"/>
                  </a:lnTo>
                  <a:lnTo>
                    <a:pt x="64037" y="201460"/>
                  </a:lnTo>
                  <a:lnTo>
                    <a:pt x="30709" y="178990"/>
                  </a:lnTo>
                  <a:lnTo>
                    <a:pt x="8239" y="145662"/>
                  </a:lnTo>
                  <a:lnTo>
                    <a:pt x="0" y="104849"/>
                  </a:lnTo>
                  <a:lnTo>
                    <a:pt x="8239" y="64037"/>
                  </a:lnTo>
                  <a:lnTo>
                    <a:pt x="30710" y="30709"/>
                  </a:lnTo>
                  <a:lnTo>
                    <a:pt x="64037" y="8239"/>
                  </a:lnTo>
                  <a:lnTo>
                    <a:pt x="104849" y="0"/>
                  </a:lnTo>
                  <a:lnTo>
                    <a:pt x="809549" y="0"/>
                  </a:lnTo>
                  <a:lnTo>
                    <a:pt x="849674" y="7981"/>
                  </a:lnTo>
                  <a:lnTo>
                    <a:pt x="883689" y="30709"/>
                  </a:lnTo>
                  <a:lnTo>
                    <a:pt x="906418" y="64725"/>
                  </a:lnTo>
                  <a:lnTo>
                    <a:pt x="914399" y="104849"/>
                  </a:lnTo>
                  <a:lnTo>
                    <a:pt x="906160" y="145662"/>
                  </a:lnTo>
                  <a:lnTo>
                    <a:pt x="883690" y="178990"/>
                  </a:lnTo>
                  <a:lnTo>
                    <a:pt x="850362" y="201460"/>
                  </a:lnTo>
                  <a:lnTo>
                    <a:pt x="809549" y="209699"/>
                  </a:lnTo>
                  <a:close/>
                </a:path>
              </a:pathLst>
            </a:custGeom>
            <a:solidFill>
              <a:srgbClr val="D1F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11750" y="3727703"/>
            <a:ext cx="3446145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750" b="1" spc="-80" dirty="0">
                <a:solidFill>
                  <a:srgbClr val="10B981"/>
                </a:solidFill>
                <a:latin typeface="Tahoma"/>
                <a:cs typeface="Tahoma"/>
              </a:rPr>
              <a:t>100%</a:t>
            </a:r>
            <a:r>
              <a:rPr sz="750" b="1" spc="-25" dirty="0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10B981"/>
                </a:solidFill>
                <a:latin typeface="Tahoma"/>
                <a:cs typeface="Tahoma"/>
              </a:rPr>
              <a:t>COMPLI6NT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b="1" spc="-20" dirty="0">
                <a:solidFill>
                  <a:srgbClr val="0F172A"/>
                </a:solidFill>
                <a:latin typeface="Yu Gothic"/>
                <a:cs typeface="Yu Gothic"/>
              </a:rPr>
              <a:t>Real-</a:t>
            </a:r>
            <a:r>
              <a:rPr sz="1000" b="1" dirty="0">
                <a:solidFill>
                  <a:srgbClr val="0F172A"/>
                </a:solidFill>
                <a:latin typeface="Yu Gothic"/>
                <a:cs typeface="Yu Gothic"/>
              </a:rPr>
              <a:t>World</a:t>
            </a:r>
            <a:r>
              <a:rPr sz="1000" b="1" spc="11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00" b="1" dirty="0">
                <a:solidFill>
                  <a:srgbClr val="0F172A"/>
                </a:solidFill>
                <a:latin typeface="Yu Gothic"/>
                <a:cs typeface="Yu Gothic"/>
              </a:rPr>
              <a:t>Security</a:t>
            </a:r>
            <a:r>
              <a:rPr sz="1000" b="1" spc="11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00" b="1" spc="-10" dirty="0">
                <a:solidFill>
                  <a:srgbClr val="0F172A"/>
                </a:solidFill>
                <a:latin typeface="Yu Gothic"/>
                <a:cs typeface="Yu Gothic"/>
              </a:rPr>
              <a:t>Benefit</a:t>
            </a:r>
            <a:endParaRPr sz="1000">
              <a:latin typeface="Yu Gothic"/>
              <a:cs typeface="Yu Gothic"/>
            </a:endParaRPr>
          </a:p>
          <a:p>
            <a:pPr marL="12700" marR="213360">
              <a:lnSpc>
                <a:spcPct val="100000"/>
              </a:lnSpc>
              <a:spcBef>
                <a:spcPts val="310"/>
              </a:spcBef>
            </a:pP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Client-side</a:t>
            </a:r>
            <a:r>
              <a:rPr sz="85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tampering</a:t>
            </a:r>
            <a:r>
              <a:rPr sz="850" spc="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or</a:t>
            </a:r>
            <a:r>
              <a:rPr sz="85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direct</a:t>
            </a:r>
            <a:r>
              <a:rPr sz="850" spc="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API</a:t>
            </a:r>
            <a:r>
              <a:rPr sz="850" spc="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bypass</a:t>
            </a:r>
            <a:r>
              <a:rPr sz="850" spc="7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attempts</a:t>
            </a:r>
            <a:r>
              <a:rPr sz="850" spc="7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475568"/>
                </a:solidFill>
                <a:latin typeface="Tahoma"/>
                <a:cs typeface="Tahoma"/>
              </a:rPr>
              <a:t>are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immediately</a:t>
            </a:r>
            <a:r>
              <a:rPr sz="85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rejected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at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database</a:t>
            </a:r>
            <a:r>
              <a:rPr sz="850" spc="4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475568"/>
                </a:solidFill>
                <a:latin typeface="Tahoma"/>
                <a:cs typeface="Tahoma"/>
              </a:rPr>
              <a:t>layer,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spc="10" dirty="0">
                <a:solidFill>
                  <a:srgbClr val="475568"/>
                </a:solidFill>
                <a:latin typeface="Tahoma"/>
                <a:cs typeface="Tahoma"/>
              </a:rPr>
              <a:t>guaranteeing</a:t>
            </a:r>
            <a:r>
              <a:rPr sz="850" spc="5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850" b="1" spc="-20" dirty="0">
                <a:solidFill>
                  <a:srgbClr val="0D9488"/>
                </a:solidFill>
                <a:latin typeface="Yu Gothic"/>
                <a:cs typeface="Yu Gothic"/>
              </a:rPr>
              <a:t>100% </a:t>
            </a:r>
            <a:r>
              <a:rPr sz="850" b="1" dirty="0">
                <a:solidFill>
                  <a:srgbClr val="0D9488"/>
                </a:solidFill>
                <a:latin typeface="Yu Gothic"/>
                <a:cs typeface="Yu Gothic"/>
              </a:rPr>
              <a:t>regulatory</a:t>
            </a:r>
            <a:r>
              <a:rPr sz="850" b="1" spc="-4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50" b="1" spc="-10" dirty="0">
                <a:solidFill>
                  <a:srgbClr val="0D9488"/>
                </a:solidFill>
                <a:latin typeface="Yu Gothic"/>
                <a:cs typeface="Yu Gothic"/>
              </a:rPr>
              <a:t>compliance</a:t>
            </a:r>
            <a:r>
              <a:rPr sz="850" spc="-10" dirty="0">
                <a:solidFill>
                  <a:srgbClr val="475568"/>
                </a:solidFill>
                <a:latin typeface="Tahoma"/>
                <a:cs typeface="Tahoma"/>
              </a:rPr>
              <a:t>.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C1B2AD5-A6F5-6A11-D3CF-83BFF4AA93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495934"/>
            </a:xfrm>
            <a:custGeom>
              <a:avLst/>
              <a:gdLst/>
              <a:ahLst/>
              <a:cxnLst/>
              <a:rect l="l" t="t" r="r" b="b"/>
              <a:pathLst>
                <a:path w="9144000" h="495934">
                  <a:moveTo>
                    <a:pt x="8839200" y="266712"/>
                  </a:moveTo>
                  <a:lnTo>
                    <a:pt x="8826386" y="224434"/>
                  </a:lnTo>
                  <a:lnTo>
                    <a:pt x="8792159" y="196303"/>
                  </a:lnTo>
                  <a:lnTo>
                    <a:pt x="8763000" y="190512"/>
                  </a:lnTo>
                  <a:lnTo>
                    <a:pt x="8610600" y="190512"/>
                  </a:lnTo>
                  <a:lnTo>
                    <a:pt x="8580933" y="196494"/>
                  </a:lnTo>
                  <a:lnTo>
                    <a:pt x="8556714" y="212826"/>
                  </a:lnTo>
                  <a:lnTo>
                    <a:pt x="8540382" y="237045"/>
                  </a:lnTo>
                  <a:lnTo>
                    <a:pt x="8534400" y="266712"/>
                  </a:lnTo>
                  <a:lnTo>
                    <a:pt x="8534400" y="419112"/>
                  </a:lnTo>
                  <a:lnTo>
                    <a:pt x="8540382" y="448767"/>
                  </a:lnTo>
                  <a:lnTo>
                    <a:pt x="8556714" y="472986"/>
                  </a:lnTo>
                  <a:lnTo>
                    <a:pt x="8580933" y="489318"/>
                  </a:lnTo>
                  <a:lnTo>
                    <a:pt x="8610600" y="495312"/>
                  </a:lnTo>
                  <a:lnTo>
                    <a:pt x="8763000" y="495312"/>
                  </a:lnTo>
                  <a:lnTo>
                    <a:pt x="8792654" y="489318"/>
                  </a:lnTo>
                  <a:lnTo>
                    <a:pt x="8816873" y="472986"/>
                  </a:lnTo>
                  <a:lnTo>
                    <a:pt x="8833206" y="448767"/>
                  </a:lnTo>
                  <a:lnTo>
                    <a:pt x="8839200" y="419112"/>
                  </a:lnTo>
                  <a:lnTo>
                    <a:pt x="8839200" y="266712"/>
                  </a:lnTo>
                  <a:close/>
                </a:path>
                <a:path w="9144000" h="495934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29650" y="2857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68300" y="91151"/>
            <a:ext cx="7620634" cy="500137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850" dirty="0"/>
              <a:t>Livs</a:t>
            </a:r>
            <a:r>
              <a:rPr sz="1850" spc="-75" dirty="0"/>
              <a:t> </a:t>
            </a:r>
            <a:r>
              <a:rPr sz="1850" dirty="0"/>
              <a:t>W</a:t>
            </a:r>
            <a:r>
              <a:rPr lang="en-IN" sz="1850" dirty="0"/>
              <a:t>e</a:t>
            </a:r>
            <a:r>
              <a:rPr sz="1850" dirty="0"/>
              <a:t>b</a:t>
            </a:r>
            <a:r>
              <a:rPr sz="1850" spc="-75" dirty="0"/>
              <a:t> </a:t>
            </a:r>
            <a:r>
              <a:rPr lang="en-IN" sz="1850" spc="-35" dirty="0"/>
              <a:t>de</a:t>
            </a:r>
            <a:r>
              <a:rPr sz="1850" spc="-35" dirty="0" err="1"/>
              <a:t>monstration</a:t>
            </a:r>
            <a:r>
              <a:rPr sz="1850" spc="-35" dirty="0"/>
              <a:t>:</a:t>
            </a:r>
            <a:r>
              <a:rPr sz="1850" spc="-75" dirty="0"/>
              <a:t> </a:t>
            </a:r>
            <a:r>
              <a:rPr sz="1850" spc="-70" dirty="0"/>
              <a:t>VIEW</a:t>
            </a:r>
            <a:r>
              <a:rPr lang="en-IN" sz="1850" spc="285" dirty="0"/>
              <a:t>,</a:t>
            </a:r>
            <a:r>
              <a:rPr sz="1850" spc="-75" dirty="0"/>
              <a:t> </a:t>
            </a:r>
            <a:r>
              <a:rPr sz="1850" spc="-80" dirty="0"/>
              <a:t>INSERT</a:t>
            </a:r>
            <a:r>
              <a:rPr sz="1850" spc="-75" dirty="0"/>
              <a:t> </a:t>
            </a:r>
            <a:r>
              <a:rPr sz="1850" spc="-10" dirty="0"/>
              <a:t>Op</a:t>
            </a:r>
            <a:r>
              <a:rPr lang="en-IN" sz="1850" spc="-10" dirty="0"/>
              <a:t>e</a:t>
            </a:r>
            <a:r>
              <a:rPr sz="1850" spc="-10" dirty="0"/>
              <a:t>rations</a:t>
            </a:r>
            <a:endParaRPr sz="1850" dirty="0"/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800" dirty="0">
                <a:solidFill>
                  <a:srgbClr val="0D9488"/>
                </a:solidFill>
                <a:latin typeface="Yu Gothic"/>
                <a:cs typeface="Yu Gothic"/>
              </a:rPr>
              <a:t>Pharmacy</a:t>
            </a:r>
            <a:r>
              <a:rPr sz="800" spc="5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dirty="0">
                <a:solidFill>
                  <a:srgbClr val="0D9488"/>
                </a:solidFill>
                <a:latin typeface="Yu Gothic"/>
                <a:cs typeface="Yu Gothic"/>
              </a:rPr>
              <a:t>Management</a:t>
            </a:r>
            <a:r>
              <a:rPr sz="800" spc="5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dirty="0">
                <a:solidFill>
                  <a:srgbClr val="0D9488"/>
                </a:solidFill>
                <a:latin typeface="Yu Gothic"/>
                <a:cs typeface="Yu Gothic"/>
              </a:rPr>
              <a:t>System</a:t>
            </a:r>
            <a:r>
              <a:rPr sz="800" spc="6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spc="90" dirty="0">
                <a:solidFill>
                  <a:srgbClr val="0D9488"/>
                </a:solidFill>
                <a:latin typeface="Yu Gothic"/>
                <a:cs typeface="Yu Gothic"/>
              </a:rPr>
              <a:t>•</a:t>
            </a:r>
            <a:r>
              <a:rPr sz="800" spc="5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dirty="0">
                <a:solidFill>
                  <a:srgbClr val="0D9488"/>
                </a:solidFill>
                <a:latin typeface="Yu Gothic"/>
                <a:cs typeface="Yu Gothic"/>
              </a:rPr>
              <a:t>Transactional</a:t>
            </a:r>
            <a:r>
              <a:rPr sz="800" spc="5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dirty="0">
                <a:solidFill>
                  <a:srgbClr val="0D9488"/>
                </a:solidFill>
                <a:latin typeface="Yu Gothic"/>
                <a:cs typeface="Yu Gothic"/>
              </a:rPr>
              <a:t>Data</a:t>
            </a:r>
            <a:r>
              <a:rPr sz="800" spc="6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spc="-10" dirty="0">
                <a:solidFill>
                  <a:srgbClr val="0D9488"/>
                </a:solidFill>
                <a:latin typeface="Yu Gothic"/>
                <a:cs typeface="Yu Gothic"/>
              </a:rPr>
              <a:t>Engine</a:t>
            </a:r>
            <a:endParaRPr sz="800" dirty="0">
              <a:latin typeface="Yu Gothic"/>
              <a:cs typeface="Yu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661" y="975614"/>
            <a:ext cx="3001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5" dirty="0">
                <a:solidFill>
                  <a:srgbClr val="0D9488"/>
                </a:solidFill>
                <a:latin typeface="Yu Gothic"/>
                <a:cs typeface="Yu Gothic"/>
              </a:rPr>
              <a:t>1.</a:t>
            </a:r>
            <a:r>
              <a:rPr sz="1200" b="1" spc="-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VIEW</a:t>
            </a:r>
            <a:r>
              <a:rPr sz="12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Screen</a:t>
            </a:r>
            <a:r>
              <a:rPr sz="12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45" dirty="0">
                <a:solidFill>
                  <a:srgbClr val="0D9488"/>
                </a:solidFill>
                <a:latin typeface="Yu Gothic"/>
                <a:cs typeface="Yu Gothic"/>
              </a:rPr>
              <a:t>(Multi-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Table</a:t>
            </a:r>
            <a:r>
              <a:rPr sz="12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Joined</a:t>
            </a:r>
            <a:r>
              <a:rPr sz="1200" b="1" spc="1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20" dirty="0">
                <a:solidFill>
                  <a:srgbClr val="0D9488"/>
                </a:solidFill>
                <a:latin typeface="Yu Gothic"/>
                <a:cs typeface="Yu Gothic"/>
              </a:rPr>
              <a:t>Grid)</a:t>
            </a:r>
            <a:endParaRPr sz="1200">
              <a:latin typeface="Yu Gothic"/>
              <a:cs typeface="Yu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65737" y="975614"/>
            <a:ext cx="3115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2.</a:t>
            </a:r>
            <a:r>
              <a:rPr sz="1200" b="1" spc="-6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45" dirty="0">
                <a:solidFill>
                  <a:srgbClr val="0D9488"/>
                </a:solidFill>
                <a:latin typeface="Yu Gothic"/>
                <a:cs typeface="Yu Gothic"/>
              </a:rPr>
              <a:t>INSERT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dirty="0">
                <a:solidFill>
                  <a:srgbClr val="0D9488"/>
                </a:solidFill>
                <a:latin typeface="Yu Gothic"/>
                <a:cs typeface="Yu Gothic"/>
              </a:rPr>
              <a:t>Screen</a:t>
            </a:r>
            <a:r>
              <a:rPr sz="1200" b="1" spc="-2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(Stock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25" dirty="0">
                <a:solidFill>
                  <a:srgbClr val="0D9488"/>
                </a:solidFill>
                <a:latin typeface="Yu Gothic"/>
                <a:cs typeface="Yu Gothic"/>
              </a:rPr>
              <a:t>Intake</a:t>
            </a:r>
            <a:r>
              <a:rPr sz="1200" b="1" spc="-3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200" b="1" spc="-10" dirty="0">
                <a:solidFill>
                  <a:srgbClr val="0D9488"/>
                </a:solidFill>
                <a:latin typeface="Yu Gothic"/>
                <a:cs typeface="Yu Gothic"/>
              </a:rPr>
              <a:t>Workflow)</a:t>
            </a:r>
            <a:endParaRPr sz="1200">
              <a:latin typeface="Yu Gothic"/>
              <a:cs typeface="Yu Gothic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6D9A8EC-AF8D-E62D-9182-0016759C6C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942" y="1463547"/>
            <a:ext cx="4057091" cy="2840482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412054F9-B6B5-CE29-0BD6-133566F786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09" y="1463547"/>
            <a:ext cx="4419892" cy="302895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D12C59C1-CB10-16A3-1B64-52E2A0F570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95960"/>
            <a:chOff x="0" y="0"/>
            <a:chExt cx="9144000" cy="6959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"/>
            </a:xfrm>
            <a:custGeom>
              <a:avLst/>
              <a:gdLst/>
              <a:ahLst/>
              <a:cxnLst/>
              <a:rect l="l" t="t" r="r" b="b"/>
              <a:pathLst>
                <a:path w="9144000" h="685800">
                  <a:moveTo>
                    <a:pt x="91439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8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58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495934"/>
            </a:xfrm>
            <a:custGeom>
              <a:avLst/>
              <a:gdLst/>
              <a:ahLst/>
              <a:cxnLst/>
              <a:rect l="l" t="t" r="r" b="b"/>
              <a:pathLst>
                <a:path w="9144000" h="495934">
                  <a:moveTo>
                    <a:pt x="8763000" y="266712"/>
                  </a:moveTo>
                  <a:lnTo>
                    <a:pt x="8750186" y="224434"/>
                  </a:lnTo>
                  <a:lnTo>
                    <a:pt x="8715959" y="196303"/>
                  </a:lnTo>
                  <a:lnTo>
                    <a:pt x="8686800" y="190512"/>
                  </a:lnTo>
                  <a:lnTo>
                    <a:pt x="8534400" y="190512"/>
                  </a:lnTo>
                  <a:lnTo>
                    <a:pt x="8504733" y="196494"/>
                  </a:lnTo>
                  <a:lnTo>
                    <a:pt x="8480514" y="212826"/>
                  </a:lnTo>
                  <a:lnTo>
                    <a:pt x="8464182" y="237045"/>
                  </a:lnTo>
                  <a:lnTo>
                    <a:pt x="8458200" y="266712"/>
                  </a:lnTo>
                  <a:lnTo>
                    <a:pt x="8458200" y="419112"/>
                  </a:lnTo>
                  <a:lnTo>
                    <a:pt x="8464182" y="448767"/>
                  </a:lnTo>
                  <a:lnTo>
                    <a:pt x="8480514" y="472986"/>
                  </a:lnTo>
                  <a:lnTo>
                    <a:pt x="8504733" y="489318"/>
                  </a:lnTo>
                  <a:lnTo>
                    <a:pt x="8534400" y="495312"/>
                  </a:lnTo>
                  <a:lnTo>
                    <a:pt x="8686800" y="495312"/>
                  </a:lnTo>
                  <a:lnTo>
                    <a:pt x="8716454" y="489318"/>
                  </a:lnTo>
                  <a:lnTo>
                    <a:pt x="8740673" y="472986"/>
                  </a:lnTo>
                  <a:lnTo>
                    <a:pt x="8757006" y="448767"/>
                  </a:lnTo>
                  <a:lnTo>
                    <a:pt x="8763000" y="419112"/>
                  </a:lnTo>
                  <a:lnTo>
                    <a:pt x="8763000" y="266712"/>
                  </a:lnTo>
                  <a:close/>
                </a:path>
                <a:path w="9144000" h="495934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2857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68300" y="136042"/>
            <a:ext cx="127254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D9488"/>
                </a:solidFill>
                <a:latin typeface="Yu Gothic"/>
                <a:cs typeface="Yu Gothic"/>
              </a:rPr>
              <a:t>Live</a:t>
            </a:r>
            <a:r>
              <a:rPr sz="800" b="1" spc="4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dirty="0">
                <a:solidFill>
                  <a:srgbClr val="0D9488"/>
                </a:solidFill>
                <a:latin typeface="Yu Gothic"/>
                <a:cs typeface="Yu Gothic"/>
              </a:rPr>
              <a:t>Web</a:t>
            </a:r>
            <a:r>
              <a:rPr sz="800" b="1" spc="4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spc="-10" dirty="0">
                <a:solidFill>
                  <a:srgbClr val="0D9488"/>
                </a:solidFill>
                <a:latin typeface="Yu Gothic"/>
                <a:cs typeface="Yu Gothic"/>
              </a:rPr>
              <a:t>Demonstration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68300" y="275856"/>
            <a:ext cx="464439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dirty="0"/>
              <a:t>UP</a:t>
            </a:r>
            <a:r>
              <a:rPr lang="en-IN" sz="2000" dirty="0"/>
              <a:t>DA</a:t>
            </a:r>
            <a:r>
              <a:rPr sz="2000" dirty="0"/>
              <a:t>TE</a:t>
            </a:r>
            <a:r>
              <a:rPr sz="2000" spc="-10" dirty="0"/>
              <a:t> </a:t>
            </a:r>
            <a:r>
              <a:rPr sz="2000" spc="-5" dirty="0"/>
              <a:t> </a:t>
            </a:r>
            <a:r>
              <a:rPr lang="en-IN" sz="2000" spc="-5" dirty="0"/>
              <a:t>D</a:t>
            </a:r>
            <a:r>
              <a:rPr sz="2000" dirty="0"/>
              <a:t>ELETE</a:t>
            </a:r>
            <a:r>
              <a:rPr sz="2000" spc="-5" dirty="0"/>
              <a:t> </a:t>
            </a:r>
            <a:r>
              <a:rPr sz="2000" dirty="0"/>
              <a:t>R</a:t>
            </a:r>
            <a:r>
              <a:rPr lang="en-IN" sz="2000" dirty="0"/>
              <a:t>e</a:t>
            </a:r>
            <a:r>
              <a:rPr sz="2000" dirty="0"/>
              <a:t>f</a:t>
            </a:r>
            <a:r>
              <a:rPr lang="en-IN" sz="2000" dirty="0"/>
              <a:t>e</a:t>
            </a:r>
            <a:r>
              <a:rPr sz="2000" dirty="0"/>
              <a:t>r</a:t>
            </a:r>
            <a:r>
              <a:rPr lang="en-IN" sz="2000" dirty="0"/>
              <a:t>e</a:t>
            </a:r>
            <a:r>
              <a:rPr sz="2000" dirty="0" err="1"/>
              <a:t>ntial</a:t>
            </a:r>
            <a:r>
              <a:rPr sz="2000" spc="-5" dirty="0"/>
              <a:t> </a:t>
            </a:r>
            <a:r>
              <a:rPr sz="2000" spc="-10" dirty="0"/>
              <a:t>Saf</a:t>
            </a:r>
            <a:r>
              <a:rPr lang="en-IN" sz="2000" spc="-10" dirty="0"/>
              <a:t>e</a:t>
            </a:r>
            <a:r>
              <a:rPr sz="2000" spc="-10" dirty="0"/>
              <a:t>ty</a:t>
            </a:r>
            <a:endParaRPr sz="2000" dirty="0"/>
          </a:p>
        </p:txBody>
      </p:sp>
      <p:grpSp>
        <p:nvGrpSpPr>
          <p:cNvPr id="9" name="object 9"/>
          <p:cNvGrpSpPr/>
          <p:nvPr/>
        </p:nvGrpSpPr>
        <p:grpSpPr>
          <a:xfrm>
            <a:off x="376237" y="909637"/>
            <a:ext cx="4048125" cy="3857625"/>
            <a:chOff x="376237" y="909637"/>
            <a:chExt cx="4048125" cy="3857625"/>
          </a:xfrm>
        </p:grpSpPr>
        <p:sp>
          <p:nvSpPr>
            <p:cNvPr id="10" name="object 10"/>
            <p:cNvSpPr/>
            <p:nvPr/>
          </p:nvSpPr>
          <p:spPr>
            <a:xfrm>
              <a:off x="381000" y="914400"/>
              <a:ext cx="4038600" cy="3848100"/>
            </a:xfrm>
            <a:custGeom>
              <a:avLst/>
              <a:gdLst/>
              <a:ahLst/>
              <a:cxnLst/>
              <a:rect l="l" t="t" r="r" b="b"/>
              <a:pathLst>
                <a:path w="4038600" h="3848100">
                  <a:moveTo>
                    <a:pt x="3924311" y="3848099"/>
                  </a:moveTo>
                  <a:lnTo>
                    <a:pt x="114288" y="3848099"/>
                  </a:lnTo>
                  <a:lnTo>
                    <a:pt x="69802" y="3839118"/>
                  </a:lnTo>
                  <a:lnTo>
                    <a:pt x="33474" y="3814625"/>
                  </a:lnTo>
                  <a:lnTo>
                    <a:pt x="8981" y="3778297"/>
                  </a:lnTo>
                  <a:lnTo>
                    <a:pt x="0" y="37338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924311" y="0"/>
                  </a:lnTo>
                  <a:lnTo>
                    <a:pt x="3968047" y="8699"/>
                  </a:lnTo>
                  <a:lnTo>
                    <a:pt x="4005125" y="33474"/>
                  </a:lnTo>
                  <a:lnTo>
                    <a:pt x="4029900" y="70552"/>
                  </a:lnTo>
                  <a:lnTo>
                    <a:pt x="4038599" y="114288"/>
                  </a:lnTo>
                  <a:lnTo>
                    <a:pt x="4038599" y="3733811"/>
                  </a:lnTo>
                  <a:lnTo>
                    <a:pt x="4029618" y="3778297"/>
                  </a:lnTo>
                  <a:lnTo>
                    <a:pt x="4005125" y="3814625"/>
                  </a:lnTo>
                  <a:lnTo>
                    <a:pt x="3968797" y="3839118"/>
                  </a:lnTo>
                  <a:lnTo>
                    <a:pt x="3924311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1000" y="914400"/>
              <a:ext cx="4038600" cy="3848100"/>
            </a:xfrm>
            <a:custGeom>
              <a:avLst/>
              <a:gdLst/>
              <a:ahLst/>
              <a:cxnLst/>
              <a:rect l="l" t="t" r="r" b="b"/>
              <a:pathLst>
                <a:path w="4038600" h="38481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924311" y="0"/>
                  </a:lnTo>
                  <a:lnTo>
                    <a:pt x="3968047" y="8699"/>
                  </a:lnTo>
                  <a:lnTo>
                    <a:pt x="4005125" y="33474"/>
                  </a:lnTo>
                  <a:lnTo>
                    <a:pt x="4029900" y="70552"/>
                  </a:lnTo>
                  <a:lnTo>
                    <a:pt x="4038599" y="114288"/>
                  </a:lnTo>
                  <a:lnTo>
                    <a:pt x="4038599" y="3733811"/>
                  </a:lnTo>
                  <a:lnTo>
                    <a:pt x="4029618" y="3778297"/>
                  </a:lnTo>
                  <a:lnTo>
                    <a:pt x="4005125" y="3814625"/>
                  </a:lnTo>
                  <a:lnTo>
                    <a:pt x="3968797" y="3839118"/>
                  </a:lnTo>
                  <a:lnTo>
                    <a:pt x="3924311" y="3848099"/>
                  </a:lnTo>
                  <a:lnTo>
                    <a:pt x="114288" y="3848099"/>
                  </a:lnTo>
                  <a:lnTo>
                    <a:pt x="69802" y="3839118"/>
                  </a:lnTo>
                  <a:lnTo>
                    <a:pt x="33474" y="3814625"/>
                  </a:lnTo>
                  <a:lnTo>
                    <a:pt x="8981" y="3778297"/>
                  </a:lnTo>
                  <a:lnTo>
                    <a:pt x="0" y="37338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999" y="914399"/>
              <a:ext cx="4038600" cy="57785"/>
            </a:xfrm>
            <a:custGeom>
              <a:avLst/>
              <a:gdLst/>
              <a:ahLst/>
              <a:cxnLst/>
              <a:rect l="l" t="t" r="r" b="b"/>
              <a:pathLst>
                <a:path w="4038600" h="57784">
                  <a:moveTo>
                    <a:pt x="40099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4017548" y="0"/>
                  </a:lnTo>
                  <a:lnTo>
                    <a:pt x="4024835" y="3018"/>
                  </a:lnTo>
                  <a:lnTo>
                    <a:pt x="4035581" y="13764"/>
                  </a:lnTo>
                  <a:lnTo>
                    <a:pt x="4038599" y="21051"/>
                  </a:lnTo>
                  <a:lnTo>
                    <a:pt x="4038599" y="28649"/>
                  </a:lnTo>
                  <a:lnTo>
                    <a:pt x="4036348" y="39801"/>
                  </a:lnTo>
                  <a:lnTo>
                    <a:pt x="4030208" y="48908"/>
                  </a:lnTo>
                  <a:lnTo>
                    <a:pt x="4021101" y="55048"/>
                  </a:lnTo>
                  <a:lnTo>
                    <a:pt x="4009949" y="572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96900" y="1087970"/>
            <a:ext cx="2002155" cy="374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dirty="0">
                <a:solidFill>
                  <a:srgbClr val="0D9488"/>
                </a:solidFill>
                <a:latin typeface="Yu Gothic"/>
                <a:cs typeface="Yu Gothic"/>
              </a:rPr>
              <a:t>SECTION</a:t>
            </a:r>
            <a:r>
              <a:rPr sz="800" b="1" spc="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spc="-50" dirty="0">
                <a:solidFill>
                  <a:srgbClr val="0D9488"/>
                </a:solidFill>
                <a:latin typeface="Yu Gothic"/>
                <a:cs typeface="Yu Gothic"/>
              </a:rPr>
              <a:t>1</a:t>
            </a:r>
            <a:endParaRPr sz="8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50" b="1" spc="-75" dirty="0">
                <a:solidFill>
                  <a:srgbClr val="0D9488"/>
                </a:solidFill>
                <a:latin typeface="Yu Gothic"/>
                <a:cs typeface="Yu Gothic"/>
              </a:rPr>
              <a:t>1.</a:t>
            </a:r>
            <a:r>
              <a:rPr sz="1450" b="1" spc="-55" dirty="0">
                <a:solidFill>
                  <a:srgbClr val="0D9488"/>
                </a:solidFill>
                <a:latin typeface="Yu Gothic"/>
                <a:cs typeface="Yu Gothic"/>
              </a:rPr>
              <a:t> UPDATE</a:t>
            </a:r>
            <a:r>
              <a:rPr sz="1450" b="1" spc="-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450" b="1" spc="-10" dirty="0">
                <a:solidFill>
                  <a:srgbClr val="0D9488"/>
                </a:solidFill>
                <a:latin typeface="Yu Gothic"/>
                <a:cs typeface="Yu Gothic"/>
              </a:rPr>
              <a:t>Operations</a:t>
            </a:r>
            <a:endParaRPr sz="1450">
              <a:latin typeface="Yu Gothic"/>
              <a:cs typeface="Yu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4837" y="1557337"/>
            <a:ext cx="3590925" cy="2981960"/>
            <a:chOff x="604837" y="1557337"/>
            <a:chExt cx="3590925" cy="2981960"/>
          </a:xfrm>
        </p:grpSpPr>
        <p:sp>
          <p:nvSpPr>
            <p:cNvPr id="15" name="object 15"/>
            <p:cNvSpPr/>
            <p:nvPr/>
          </p:nvSpPr>
          <p:spPr>
            <a:xfrm>
              <a:off x="609600" y="1562100"/>
              <a:ext cx="3581400" cy="0"/>
            </a:xfrm>
            <a:custGeom>
              <a:avLst/>
              <a:gdLst/>
              <a:ahLst/>
              <a:cxnLst/>
              <a:rect l="l" t="t" r="r" b="b"/>
              <a:pathLst>
                <a:path w="3581400">
                  <a:moveTo>
                    <a:pt x="0" y="0"/>
                  </a:moveTo>
                  <a:lnTo>
                    <a:pt x="3581399" y="0"/>
                  </a:lnTo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1733550"/>
              <a:ext cx="228599" cy="2285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2647950"/>
              <a:ext cx="228599" cy="2285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9600" y="3533775"/>
              <a:ext cx="3581400" cy="1000760"/>
            </a:xfrm>
            <a:custGeom>
              <a:avLst/>
              <a:gdLst/>
              <a:ahLst/>
              <a:cxnLst/>
              <a:rect l="l" t="t" r="r" b="b"/>
              <a:pathLst>
                <a:path w="3581400" h="1000760">
                  <a:moveTo>
                    <a:pt x="3505194" y="1000199"/>
                  </a:moveTo>
                  <a:lnTo>
                    <a:pt x="76205" y="1000199"/>
                  </a:lnTo>
                  <a:lnTo>
                    <a:pt x="46542" y="994211"/>
                  </a:lnTo>
                  <a:lnTo>
                    <a:pt x="22319" y="977880"/>
                  </a:lnTo>
                  <a:lnTo>
                    <a:pt x="5988" y="953657"/>
                  </a:lnTo>
                  <a:lnTo>
                    <a:pt x="0" y="9239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3505194" y="0"/>
                  </a:lnTo>
                  <a:lnTo>
                    <a:pt x="3547473" y="12803"/>
                  </a:lnTo>
                  <a:lnTo>
                    <a:pt x="3575599" y="47042"/>
                  </a:lnTo>
                  <a:lnTo>
                    <a:pt x="3581399" y="76204"/>
                  </a:lnTo>
                  <a:lnTo>
                    <a:pt x="3581399" y="923994"/>
                  </a:lnTo>
                  <a:lnTo>
                    <a:pt x="3575411" y="953657"/>
                  </a:lnTo>
                  <a:lnTo>
                    <a:pt x="3559080" y="977880"/>
                  </a:lnTo>
                  <a:lnTo>
                    <a:pt x="3534857" y="994211"/>
                  </a:lnTo>
                  <a:lnTo>
                    <a:pt x="3505194" y="1000199"/>
                  </a:lnTo>
                  <a:close/>
                </a:path>
              </a:pathLst>
            </a:custGeom>
            <a:solidFill>
              <a:srgbClr val="F0F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600" y="3533775"/>
              <a:ext cx="3581400" cy="1000760"/>
            </a:xfrm>
            <a:custGeom>
              <a:avLst/>
              <a:gdLst/>
              <a:ahLst/>
              <a:cxnLst/>
              <a:rect l="l" t="t" r="r" b="b"/>
              <a:pathLst>
                <a:path w="3581400" h="100076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5" y="0"/>
                  </a:lnTo>
                  <a:lnTo>
                    <a:pt x="3505194" y="0"/>
                  </a:lnTo>
                  <a:lnTo>
                    <a:pt x="3547473" y="12803"/>
                  </a:lnTo>
                  <a:lnTo>
                    <a:pt x="3575599" y="47042"/>
                  </a:lnTo>
                  <a:lnTo>
                    <a:pt x="3581399" y="76204"/>
                  </a:lnTo>
                  <a:lnTo>
                    <a:pt x="3581399" y="923994"/>
                  </a:lnTo>
                  <a:lnTo>
                    <a:pt x="3575411" y="953657"/>
                  </a:lnTo>
                  <a:lnTo>
                    <a:pt x="3559080" y="977880"/>
                  </a:lnTo>
                  <a:lnTo>
                    <a:pt x="3534857" y="994211"/>
                  </a:lnTo>
                  <a:lnTo>
                    <a:pt x="3505194" y="1000199"/>
                  </a:lnTo>
                  <a:lnTo>
                    <a:pt x="76205" y="1000199"/>
                  </a:lnTo>
                  <a:lnTo>
                    <a:pt x="46542" y="994211"/>
                  </a:lnTo>
                  <a:lnTo>
                    <a:pt x="22319" y="977880"/>
                  </a:lnTo>
                  <a:lnTo>
                    <a:pt x="5988" y="953657"/>
                  </a:lnTo>
                  <a:lnTo>
                    <a:pt x="0" y="9239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9800" y="1653743"/>
            <a:ext cx="3006090" cy="5791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0F172A"/>
                </a:solidFill>
                <a:latin typeface="Yu Gothic"/>
                <a:cs typeface="Yu Gothic"/>
              </a:rPr>
              <a:t>Real-</a:t>
            </a:r>
            <a:r>
              <a:rPr sz="1100" b="1" spc="-20" dirty="0">
                <a:solidFill>
                  <a:srgbClr val="0F172A"/>
                </a:solidFill>
                <a:latin typeface="Yu Gothic"/>
                <a:cs typeface="Yu Gothic"/>
              </a:rPr>
              <a:t>Time</a:t>
            </a:r>
            <a:r>
              <a:rPr sz="1100" b="1" spc="-2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dirty="0">
                <a:solidFill>
                  <a:srgbClr val="0F172A"/>
                </a:solidFill>
                <a:latin typeface="Yu Gothic"/>
                <a:cs typeface="Yu Gothic"/>
              </a:rPr>
              <a:t>Inventory</a:t>
            </a:r>
            <a:r>
              <a:rPr sz="1100" b="1" spc="-2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Revision</a:t>
            </a:r>
            <a:endParaRPr sz="11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64738B"/>
                </a:solidFill>
                <a:latin typeface="Tahoma"/>
                <a:cs typeface="Tahoma"/>
              </a:rPr>
              <a:t>Real-time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64738B"/>
                </a:solidFill>
                <a:latin typeface="Tahoma"/>
                <a:cs typeface="Tahoma"/>
              </a:rPr>
              <a:t>revision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64738B"/>
                </a:solidFill>
                <a:latin typeface="Tahoma"/>
                <a:cs typeface="Tahoma"/>
              </a:rPr>
              <a:t>of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64738B"/>
                </a:solidFill>
                <a:latin typeface="Tahoma"/>
                <a:cs typeface="Tahoma"/>
              </a:rPr>
              <a:t>batch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64738B"/>
                </a:solidFill>
                <a:latin typeface="Tahoma"/>
                <a:cs typeface="Tahoma"/>
              </a:rPr>
              <a:t>physical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64738B"/>
                </a:solidFill>
                <a:latin typeface="Tahoma"/>
                <a:cs typeface="Tahoma"/>
              </a:rPr>
              <a:t>stock</a:t>
            </a:r>
            <a:r>
              <a:rPr sz="1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Tahoma"/>
                <a:cs typeface="Tahoma"/>
              </a:rPr>
              <a:t>counts, </a:t>
            </a:r>
            <a:r>
              <a:rPr sz="1000" spc="10" dirty="0">
                <a:solidFill>
                  <a:srgbClr val="64738B"/>
                </a:solidFill>
                <a:latin typeface="Tahoma"/>
                <a:cs typeface="Tahoma"/>
              </a:rPr>
              <a:t>location</a:t>
            </a:r>
            <a:r>
              <a:rPr sz="1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64738B"/>
                </a:solidFill>
                <a:latin typeface="Tahoma"/>
                <a:cs typeface="Tahoma"/>
              </a:rPr>
              <a:t>shelves,</a:t>
            </a:r>
            <a:r>
              <a:rPr sz="10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64738B"/>
                </a:solidFill>
                <a:latin typeface="Tahoma"/>
                <a:cs typeface="Tahoma"/>
              </a:rPr>
              <a:t>unit</a:t>
            </a:r>
            <a:r>
              <a:rPr sz="10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64738B"/>
                </a:solidFill>
                <a:latin typeface="Tahoma"/>
                <a:cs typeface="Tahoma"/>
              </a:rPr>
              <a:t>acquisition</a:t>
            </a:r>
            <a:r>
              <a:rPr sz="10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Tahoma"/>
                <a:cs typeface="Tahoma"/>
              </a:rPr>
              <a:t>costs.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9800" y="2568143"/>
            <a:ext cx="2092325" cy="5791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0F172A"/>
                </a:solidFill>
                <a:latin typeface="Yu Gothic"/>
                <a:cs typeface="Yu Gothic"/>
              </a:rPr>
              <a:t>Automated</a:t>
            </a:r>
            <a:r>
              <a:rPr sz="1100" b="1" spc="-5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dirty="0">
                <a:solidFill>
                  <a:srgbClr val="0F172A"/>
                </a:solidFill>
                <a:latin typeface="Yu Gothic"/>
                <a:cs typeface="Yu Gothic"/>
              </a:rPr>
              <a:t>Audit</a:t>
            </a:r>
            <a:r>
              <a:rPr sz="1100" b="1" spc="-5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Logging</a:t>
            </a:r>
            <a:endParaRPr sz="11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spc="20" dirty="0">
                <a:solidFill>
                  <a:srgbClr val="64738B"/>
                </a:solidFill>
                <a:latin typeface="Tahoma"/>
                <a:cs typeface="Tahoma"/>
              </a:rPr>
              <a:t>Automatically</a:t>
            </a:r>
            <a:r>
              <a:rPr sz="1000" spc="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64738B"/>
                </a:solidFill>
                <a:latin typeface="Tahoma"/>
                <a:cs typeface="Tahoma"/>
              </a:rPr>
              <a:t>logs</a:t>
            </a:r>
            <a:r>
              <a:rPr sz="1000" spc="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64738B"/>
                </a:solidFill>
                <a:latin typeface="Tahoma"/>
                <a:cs typeface="Tahoma"/>
              </a:rPr>
              <a:t>audit</a:t>
            </a:r>
            <a:r>
              <a:rPr sz="1000" spc="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64738B"/>
                </a:solidFill>
                <a:latin typeface="Tahoma"/>
                <a:cs typeface="Tahoma"/>
              </a:rPr>
              <a:t>records</a:t>
            </a:r>
            <a:r>
              <a:rPr sz="1000" spc="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64738B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D9488"/>
                </a:solidFill>
                <a:latin typeface="Courier New"/>
                <a:cs typeface="Courier New"/>
              </a:rPr>
              <a:t>Stock_Movements</a:t>
            </a:r>
            <a:r>
              <a:rPr sz="1000" b="1" spc="-245" dirty="0">
                <a:solidFill>
                  <a:srgbClr val="0D9488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Tahoma"/>
                <a:cs typeface="Tahoma"/>
              </a:rPr>
              <a:t>table.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9300" y="3595951"/>
            <a:ext cx="3102610" cy="563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900" b="1" spc="-20" dirty="0">
                <a:solidFill>
                  <a:srgbClr val="0D9488"/>
                </a:solidFill>
                <a:latin typeface="Yu Gothic"/>
                <a:cs typeface="Yu Gothic"/>
              </a:rPr>
              <a:t>TRANSACTION</a:t>
            </a:r>
            <a:r>
              <a:rPr sz="900" b="1" spc="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30" dirty="0">
                <a:solidFill>
                  <a:srgbClr val="0D9488"/>
                </a:solidFill>
                <a:latin typeface="Yu Gothic"/>
                <a:cs typeface="Yu Gothic"/>
              </a:rPr>
              <a:t>LOGGING</a:t>
            </a:r>
            <a:r>
              <a:rPr sz="9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00" b="1" spc="-10" dirty="0">
                <a:solidFill>
                  <a:srgbClr val="0D9488"/>
                </a:solidFill>
                <a:latin typeface="Yu Gothic"/>
                <a:cs typeface="Yu Gothic"/>
              </a:rPr>
              <a:t>GUARANTEE</a:t>
            </a:r>
            <a:endParaRPr sz="9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445"/>
              </a:spcBef>
            </a:pP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Every</a:t>
            </a:r>
            <a:r>
              <a:rPr sz="950" spc="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stock</a:t>
            </a:r>
            <a:r>
              <a:rPr sz="950" spc="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modification</a:t>
            </a:r>
            <a:r>
              <a:rPr sz="950" spc="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triggers</a:t>
            </a:r>
            <a:r>
              <a:rPr sz="950" spc="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an</a:t>
            </a:r>
            <a:r>
              <a:rPr sz="950" spc="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334155"/>
                </a:solidFill>
                <a:latin typeface="Tahoma"/>
                <a:cs typeface="Tahoma"/>
              </a:rPr>
              <a:t>immutable</a:t>
            </a:r>
            <a:r>
              <a:rPr sz="950" spc="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Tahoma"/>
                <a:cs typeface="Tahoma"/>
              </a:rPr>
              <a:t>ledger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entry</a:t>
            </a:r>
            <a:r>
              <a:rPr sz="950" spc="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maintaining</a:t>
            </a:r>
            <a:r>
              <a:rPr sz="950" spc="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audit</a:t>
            </a:r>
            <a:r>
              <a:rPr sz="950" spc="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trails</a:t>
            </a:r>
            <a:r>
              <a:rPr sz="950" spc="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for</a:t>
            </a:r>
            <a:r>
              <a:rPr sz="950" spc="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334155"/>
                </a:solidFill>
                <a:latin typeface="Tahoma"/>
                <a:cs typeface="Tahoma"/>
              </a:rPr>
              <a:t>clinical</a:t>
            </a:r>
            <a:r>
              <a:rPr sz="950" spc="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334155"/>
                </a:solidFill>
                <a:latin typeface="Tahoma"/>
                <a:cs typeface="Tahoma"/>
              </a:rPr>
              <a:t>compliance.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19637" y="909637"/>
            <a:ext cx="4048125" cy="3857625"/>
            <a:chOff x="4719637" y="909637"/>
            <a:chExt cx="4048125" cy="3857625"/>
          </a:xfrm>
        </p:grpSpPr>
        <p:sp>
          <p:nvSpPr>
            <p:cNvPr id="24" name="object 24"/>
            <p:cNvSpPr/>
            <p:nvPr/>
          </p:nvSpPr>
          <p:spPr>
            <a:xfrm>
              <a:off x="4724400" y="914400"/>
              <a:ext cx="4038600" cy="3848100"/>
            </a:xfrm>
            <a:custGeom>
              <a:avLst/>
              <a:gdLst/>
              <a:ahLst/>
              <a:cxnLst/>
              <a:rect l="l" t="t" r="r" b="b"/>
              <a:pathLst>
                <a:path w="4038600" h="3848100">
                  <a:moveTo>
                    <a:pt x="3924311" y="3848099"/>
                  </a:moveTo>
                  <a:lnTo>
                    <a:pt x="114288" y="3848099"/>
                  </a:lnTo>
                  <a:lnTo>
                    <a:pt x="69802" y="3839118"/>
                  </a:lnTo>
                  <a:lnTo>
                    <a:pt x="33474" y="3814625"/>
                  </a:lnTo>
                  <a:lnTo>
                    <a:pt x="8981" y="3778297"/>
                  </a:lnTo>
                  <a:lnTo>
                    <a:pt x="0" y="37338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924311" y="0"/>
                  </a:lnTo>
                  <a:lnTo>
                    <a:pt x="3968047" y="8699"/>
                  </a:lnTo>
                  <a:lnTo>
                    <a:pt x="4005125" y="33474"/>
                  </a:lnTo>
                  <a:lnTo>
                    <a:pt x="4029900" y="70552"/>
                  </a:lnTo>
                  <a:lnTo>
                    <a:pt x="4038599" y="114288"/>
                  </a:lnTo>
                  <a:lnTo>
                    <a:pt x="4038599" y="3733811"/>
                  </a:lnTo>
                  <a:lnTo>
                    <a:pt x="4029618" y="3778297"/>
                  </a:lnTo>
                  <a:lnTo>
                    <a:pt x="4005125" y="3814625"/>
                  </a:lnTo>
                  <a:lnTo>
                    <a:pt x="3968797" y="3839118"/>
                  </a:lnTo>
                  <a:lnTo>
                    <a:pt x="3924311" y="3848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24400" y="914400"/>
              <a:ext cx="4038600" cy="3848100"/>
            </a:xfrm>
            <a:custGeom>
              <a:avLst/>
              <a:gdLst/>
              <a:ahLst/>
              <a:cxnLst/>
              <a:rect l="l" t="t" r="r" b="b"/>
              <a:pathLst>
                <a:path w="4038600" h="38481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924311" y="0"/>
                  </a:lnTo>
                  <a:lnTo>
                    <a:pt x="3968047" y="8699"/>
                  </a:lnTo>
                  <a:lnTo>
                    <a:pt x="4005125" y="33474"/>
                  </a:lnTo>
                  <a:lnTo>
                    <a:pt x="4029900" y="70552"/>
                  </a:lnTo>
                  <a:lnTo>
                    <a:pt x="4038599" y="114288"/>
                  </a:lnTo>
                  <a:lnTo>
                    <a:pt x="4038599" y="3733811"/>
                  </a:lnTo>
                  <a:lnTo>
                    <a:pt x="4029618" y="3778297"/>
                  </a:lnTo>
                  <a:lnTo>
                    <a:pt x="4005125" y="3814625"/>
                  </a:lnTo>
                  <a:lnTo>
                    <a:pt x="3968797" y="3839118"/>
                  </a:lnTo>
                  <a:lnTo>
                    <a:pt x="3924311" y="3848099"/>
                  </a:lnTo>
                  <a:lnTo>
                    <a:pt x="114288" y="3848099"/>
                  </a:lnTo>
                  <a:lnTo>
                    <a:pt x="69802" y="3839118"/>
                  </a:lnTo>
                  <a:lnTo>
                    <a:pt x="33474" y="3814625"/>
                  </a:lnTo>
                  <a:lnTo>
                    <a:pt x="8981" y="3778297"/>
                  </a:lnTo>
                  <a:lnTo>
                    <a:pt x="0" y="37338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24399" y="914399"/>
              <a:ext cx="4038600" cy="57785"/>
            </a:xfrm>
            <a:custGeom>
              <a:avLst/>
              <a:gdLst/>
              <a:ahLst/>
              <a:cxnLst/>
              <a:rect l="l" t="t" r="r" b="b"/>
              <a:pathLst>
                <a:path w="4038600" h="57784">
                  <a:moveTo>
                    <a:pt x="4009949" y="57299"/>
                  </a:moveTo>
                  <a:lnTo>
                    <a:pt x="28649" y="57299"/>
                  </a:lnTo>
                  <a:lnTo>
                    <a:pt x="17498" y="55048"/>
                  </a:lnTo>
                  <a:lnTo>
                    <a:pt x="8391" y="48908"/>
                  </a:lnTo>
                  <a:lnTo>
                    <a:pt x="2251" y="39801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4017548" y="0"/>
                  </a:lnTo>
                  <a:lnTo>
                    <a:pt x="4024835" y="3018"/>
                  </a:lnTo>
                  <a:lnTo>
                    <a:pt x="4035581" y="13764"/>
                  </a:lnTo>
                  <a:lnTo>
                    <a:pt x="4038599" y="21051"/>
                  </a:lnTo>
                  <a:lnTo>
                    <a:pt x="4038599" y="28649"/>
                  </a:lnTo>
                  <a:lnTo>
                    <a:pt x="4036348" y="39801"/>
                  </a:lnTo>
                  <a:lnTo>
                    <a:pt x="4030208" y="48908"/>
                  </a:lnTo>
                  <a:lnTo>
                    <a:pt x="4021101" y="55048"/>
                  </a:lnTo>
                  <a:lnTo>
                    <a:pt x="4009949" y="57299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40300" y="1087628"/>
            <a:ext cx="353060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b="1" spc="-20" dirty="0">
                <a:solidFill>
                  <a:srgbClr val="EE4444"/>
                </a:solidFill>
                <a:latin typeface="Yu Gothic"/>
                <a:cs typeface="Yu Gothic"/>
              </a:rPr>
              <a:t>SECTION</a:t>
            </a:r>
            <a:r>
              <a:rPr sz="900" b="1" spc="-10" dirty="0">
                <a:solidFill>
                  <a:srgbClr val="EE4444"/>
                </a:solidFill>
                <a:latin typeface="Yu Gothic"/>
                <a:cs typeface="Yu Gothic"/>
              </a:rPr>
              <a:t> </a:t>
            </a:r>
            <a:r>
              <a:rPr sz="900" b="1" spc="-50" dirty="0">
                <a:solidFill>
                  <a:srgbClr val="EE4444"/>
                </a:solidFill>
                <a:latin typeface="Yu Gothic"/>
                <a:cs typeface="Yu Gothic"/>
              </a:rPr>
              <a:t>2</a:t>
            </a:r>
            <a:endParaRPr sz="900">
              <a:latin typeface="Yu Gothic"/>
              <a:cs typeface="Yu Gothic"/>
            </a:endParaRPr>
          </a:p>
          <a:p>
            <a:pPr marL="12700">
              <a:lnSpc>
                <a:spcPts val="1905"/>
              </a:lnSpc>
            </a:pPr>
            <a:r>
              <a:rPr sz="1600" b="1" spc="65" dirty="0">
                <a:solidFill>
                  <a:srgbClr val="0F172A"/>
                </a:solidFill>
                <a:latin typeface="Yu Gothic"/>
                <a:cs typeface="Yu Gothic"/>
              </a:rPr>
              <a:t>2.</a:t>
            </a:r>
            <a:r>
              <a:rPr sz="1600" b="1" spc="-75" dirty="0">
                <a:solidFill>
                  <a:srgbClr val="0F172A"/>
                </a:solidFill>
                <a:latin typeface="Yu Gothic"/>
                <a:cs typeface="Yu Gothic"/>
              </a:rPr>
              <a:t> DELETE</a:t>
            </a:r>
            <a:r>
              <a:rPr sz="1600" b="1" spc="-3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600" b="1" spc="-40" dirty="0">
                <a:solidFill>
                  <a:srgbClr val="0F172A"/>
                </a:solidFill>
                <a:latin typeface="Yu Gothic"/>
                <a:cs typeface="Yu Gothic"/>
              </a:rPr>
              <a:t>(Relational </a:t>
            </a:r>
            <a:r>
              <a:rPr sz="1600" b="1" dirty="0">
                <a:solidFill>
                  <a:srgbClr val="0F172A"/>
                </a:solidFill>
                <a:latin typeface="Yu Gothic"/>
                <a:cs typeface="Yu Gothic"/>
              </a:rPr>
              <a:t>Safety</a:t>
            </a:r>
            <a:r>
              <a:rPr sz="1600" b="1" spc="-4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600" b="1" spc="-10" dirty="0">
                <a:solidFill>
                  <a:srgbClr val="0F172A"/>
                </a:solidFill>
                <a:latin typeface="Yu Gothic"/>
                <a:cs typeface="Yu Gothic"/>
              </a:rPr>
              <a:t>Guard)</a:t>
            </a:r>
            <a:endParaRPr sz="1600">
              <a:latin typeface="Yu Gothic"/>
              <a:cs typeface="Yu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53000" y="1557337"/>
            <a:ext cx="3581400" cy="1843405"/>
            <a:chOff x="4953000" y="1557337"/>
            <a:chExt cx="3581400" cy="1843405"/>
          </a:xfrm>
        </p:grpSpPr>
        <p:sp>
          <p:nvSpPr>
            <p:cNvPr id="29" name="object 29"/>
            <p:cNvSpPr/>
            <p:nvPr/>
          </p:nvSpPr>
          <p:spPr>
            <a:xfrm>
              <a:off x="4953000" y="1562100"/>
              <a:ext cx="3581400" cy="0"/>
            </a:xfrm>
            <a:custGeom>
              <a:avLst/>
              <a:gdLst/>
              <a:ahLst/>
              <a:cxnLst/>
              <a:rect l="l" t="t" r="r" b="b"/>
              <a:pathLst>
                <a:path w="3581400">
                  <a:moveTo>
                    <a:pt x="0" y="0"/>
                  </a:moveTo>
                  <a:lnTo>
                    <a:pt x="3581399" y="0"/>
                  </a:lnTo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0" y="1695450"/>
              <a:ext cx="228599" cy="2285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0" y="3171825"/>
              <a:ext cx="228599" cy="2285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283200" y="1636598"/>
            <a:ext cx="3140710" cy="10007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Standard</a:t>
            </a:r>
            <a:r>
              <a:rPr sz="1100" b="1" spc="-5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20" dirty="0">
                <a:solidFill>
                  <a:srgbClr val="0F172A"/>
                </a:solidFill>
                <a:latin typeface="Yu Gothic"/>
                <a:cs typeface="Yu Gothic"/>
              </a:rPr>
              <a:t>Delete</a:t>
            </a:r>
            <a:r>
              <a:rPr sz="1100" b="1" spc="-5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Rejection</a:t>
            </a:r>
            <a:endParaRPr sz="11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150"/>
              </a:spcBef>
            </a:pP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Demonstrates</a:t>
            </a:r>
            <a:r>
              <a:rPr sz="950" spc="-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EE4444"/>
                </a:solidFill>
                <a:latin typeface="Courier New"/>
                <a:cs typeface="Courier New"/>
              </a:rPr>
              <a:t>MySQL</a:t>
            </a:r>
            <a:r>
              <a:rPr sz="1000" spc="-6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1000" spc="20" dirty="0">
                <a:solidFill>
                  <a:srgbClr val="EE4444"/>
                </a:solidFill>
                <a:latin typeface="Courier New"/>
                <a:cs typeface="Courier New"/>
              </a:rPr>
              <a:t>Error</a:t>
            </a:r>
            <a:r>
              <a:rPr sz="100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1000" spc="20" dirty="0">
                <a:solidFill>
                  <a:srgbClr val="EE4444"/>
                </a:solidFill>
                <a:latin typeface="Courier New"/>
                <a:cs typeface="Courier New"/>
              </a:rPr>
              <a:t>1451</a:t>
            </a:r>
            <a:r>
              <a:rPr sz="1000" spc="-6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1000" spc="20" dirty="0">
                <a:solidFill>
                  <a:srgbClr val="EE4444"/>
                </a:solidFill>
                <a:latin typeface="Courier New"/>
                <a:cs typeface="Courier New"/>
              </a:rPr>
              <a:t>(ON</a:t>
            </a:r>
            <a:r>
              <a:rPr sz="100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EE4444"/>
                </a:solidFill>
                <a:latin typeface="Courier New"/>
                <a:cs typeface="Courier New"/>
              </a:rPr>
              <a:t>DELETE RESTRICT)</a:t>
            </a:r>
            <a:r>
              <a:rPr sz="1000" spc="-39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when</a:t>
            </a:r>
            <a:r>
              <a:rPr sz="950" spc="13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attempting</a:t>
            </a:r>
            <a:r>
              <a:rPr sz="950" spc="13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to</a:t>
            </a:r>
            <a:r>
              <a:rPr sz="950" spc="13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delete</a:t>
            </a:r>
            <a:r>
              <a:rPr sz="95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a</a:t>
            </a:r>
            <a:r>
              <a:rPr sz="950" spc="13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medicine</a:t>
            </a:r>
            <a:r>
              <a:rPr sz="950" spc="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64738B"/>
                </a:solidFill>
                <a:latin typeface="Tahoma"/>
                <a:cs typeface="Tahoma"/>
              </a:rPr>
              <a:t>with </a:t>
            </a: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dependent</a:t>
            </a:r>
            <a:r>
              <a:rPr sz="950" spc="1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active</a:t>
            </a:r>
            <a:r>
              <a:rPr sz="950" spc="1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sales/batches.</a:t>
            </a:r>
            <a:endParaRPr sz="950">
              <a:latin typeface="Tahoma"/>
              <a:cs typeface="Tahoma"/>
            </a:endParaRPr>
          </a:p>
          <a:p>
            <a:pPr marL="12700" marR="205104">
              <a:lnSpc>
                <a:spcPct val="100000"/>
              </a:lnSpc>
              <a:spcBef>
                <a:spcPts val="459"/>
              </a:spcBef>
            </a:pP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ERROR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1451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(23000):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Cannot</a:t>
            </a:r>
            <a:r>
              <a:rPr sz="850" spc="-5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delete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or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update</a:t>
            </a:r>
            <a:r>
              <a:rPr sz="850" spc="-50" dirty="0">
                <a:solidFill>
                  <a:srgbClr val="EE4444"/>
                </a:solidFill>
                <a:latin typeface="Courier New"/>
                <a:cs typeface="Courier New"/>
              </a:rPr>
              <a:t> a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parent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row:</a:t>
            </a:r>
            <a:r>
              <a:rPr sz="850" spc="-5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a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foreign</a:t>
            </a:r>
            <a:r>
              <a:rPr sz="850" spc="-5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key</a:t>
            </a:r>
            <a:r>
              <a:rPr sz="850" spc="-55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EE4444"/>
                </a:solidFill>
                <a:latin typeface="Courier New"/>
                <a:cs typeface="Courier New"/>
              </a:rPr>
              <a:t>constraint</a:t>
            </a:r>
            <a:r>
              <a:rPr sz="850" spc="-50" dirty="0">
                <a:solidFill>
                  <a:srgbClr val="EE4444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EE4444"/>
                </a:solidFill>
                <a:latin typeface="Courier New"/>
                <a:cs typeface="Courier New"/>
              </a:rPr>
              <a:t>fails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83200" y="3111547"/>
            <a:ext cx="3167380" cy="7245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b="1" dirty="0">
                <a:solidFill>
                  <a:srgbClr val="0F172A"/>
                </a:solidFill>
                <a:latin typeface="Yu Gothic"/>
                <a:cs typeface="Yu Gothic"/>
              </a:rPr>
              <a:t>Authorized Cascade </a:t>
            </a:r>
            <a:r>
              <a:rPr sz="1100" b="1" spc="-10" dirty="0">
                <a:solidFill>
                  <a:srgbClr val="0F172A"/>
                </a:solidFill>
                <a:latin typeface="Yu Gothic"/>
                <a:cs typeface="Yu Gothic"/>
              </a:rPr>
              <a:t>Purge</a:t>
            </a:r>
            <a:endParaRPr sz="1100">
              <a:latin typeface="Yu Gothic"/>
              <a:cs typeface="Yu Gothic"/>
            </a:endParaRPr>
          </a:p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Demonstrates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administrative</a:t>
            </a:r>
            <a:r>
              <a:rPr sz="95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cascade</a:t>
            </a:r>
            <a:r>
              <a:rPr sz="95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64738B"/>
                </a:solidFill>
                <a:latin typeface="Tahoma"/>
                <a:cs typeface="Tahoma"/>
              </a:rPr>
              <a:t>purge</a:t>
            </a:r>
            <a:r>
              <a:rPr sz="95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64738B"/>
                </a:solidFill>
                <a:latin typeface="Tahoma"/>
                <a:cs typeface="Tahoma"/>
              </a:rPr>
              <a:t>when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authorized,</a:t>
            </a:r>
            <a:r>
              <a:rPr sz="95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maintaining</a:t>
            </a:r>
            <a:r>
              <a:rPr sz="95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foreign</a:t>
            </a:r>
            <a:r>
              <a:rPr sz="95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key</a:t>
            </a:r>
            <a:r>
              <a:rPr sz="95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referential</a:t>
            </a:r>
            <a:r>
              <a:rPr sz="95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integrity.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800" b="1" spc="-30" dirty="0">
                <a:solidFill>
                  <a:srgbClr val="0D9488"/>
                </a:solidFill>
                <a:latin typeface="Yu Gothic"/>
                <a:cs typeface="Yu Gothic"/>
              </a:rPr>
              <a:t>ADMINISTRATIVE</a:t>
            </a:r>
            <a:r>
              <a:rPr sz="800" b="1" spc="4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spc="-40" dirty="0">
                <a:solidFill>
                  <a:srgbClr val="0D9488"/>
                </a:solidFill>
                <a:latin typeface="Yu Gothic"/>
                <a:cs typeface="Yu Gothic"/>
              </a:rPr>
              <a:t>PRIVILEGE</a:t>
            </a:r>
            <a:r>
              <a:rPr sz="800" b="1" spc="4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800" b="1" spc="-10" dirty="0">
                <a:solidFill>
                  <a:srgbClr val="0D9488"/>
                </a:solidFill>
                <a:latin typeface="Yu Gothic"/>
                <a:cs typeface="Yu Gothic"/>
              </a:rPr>
              <a:t>REQUIRED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95900" y="3846195"/>
            <a:ext cx="3083560" cy="137160"/>
          </a:xfrm>
          <a:prstGeom prst="rect">
            <a:avLst/>
          </a:prstGeom>
          <a:solidFill>
            <a:srgbClr val="F0FC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45"/>
              </a:lnSpc>
            </a:pPr>
            <a:r>
              <a:rPr sz="900" spc="10" dirty="0">
                <a:solidFill>
                  <a:srgbClr val="334155"/>
                </a:solidFill>
                <a:latin typeface="Tahoma"/>
                <a:cs typeface="Tahoma"/>
              </a:rPr>
              <a:t>Executes</a:t>
            </a:r>
            <a:r>
              <a:rPr sz="900" spc="114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334155"/>
                </a:solidFill>
                <a:latin typeface="Tahoma"/>
                <a:cs typeface="Tahoma"/>
              </a:rPr>
              <a:t>controlled</a:t>
            </a:r>
            <a:r>
              <a:rPr sz="900" spc="114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334155"/>
                </a:solidFill>
                <a:latin typeface="Tahoma"/>
                <a:cs typeface="Tahoma"/>
              </a:rPr>
              <a:t>structural</a:t>
            </a:r>
            <a:r>
              <a:rPr sz="900" spc="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334155"/>
                </a:solidFill>
                <a:latin typeface="Tahoma"/>
                <a:cs typeface="Tahoma"/>
              </a:rPr>
              <a:t>deletion</a:t>
            </a:r>
            <a:r>
              <a:rPr sz="900" spc="114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334155"/>
                </a:solidFill>
                <a:latin typeface="Tahoma"/>
                <a:cs typeface="Tahoma"/>
              </a:rPr>
              <a:t>across</a:t>
            </a:r>
            <a:r>
              <a:rPr sz="900" spc="114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Tahoma"/>
                <a:cs typeface="Tahoma"/>
              </a:rPr>
              <a:t>relationally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95900" y="3983355"/>
            <a:ext cx="1123950" cy="137160"/>
          </a:xfrm>
          <a:prstGeom prst="rect">
            <a:avLst/>
          </a:prstGeom>
          <a:solidFill>
            <a:srgbClr val="F0FCF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45"/>
              </a:lnSpc>
            </a:pPr>
            <a:r>
              <a:rPr sz="900" dirty="0">
                <a:solidFill>
                  <a:srgbClr val="334155"/>
                </a:solidFill>
                <a:latin typeface="Tahoma"/>
                <a:cs typeface="Tahoma"/>
              </a:rPr>
              <a:t>linked</a:t>
            </a:r>
            <a:r>
              <a:rPr sz="900" spc="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334155"/>
                </a:solidFill>
                <a:latin typeface="Tahoma"/>
                <a:cs typeface="Tahoma"/>
              </a:rPr>
              <a:t>tables</a:t>
            </a:r>
            <a:r>
              <a:rPr sz="900" spc="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334155"/>
                </a:solidFill>
                <a:latin typeface="Tahoma"/>
                <a:cs typeface="Tahoma"/>
              </a:rPr>
              <a:t>cleanly.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4E94CF9-452C-D80E-28C1-DFD4E22BFD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772160"/>
            <a:chOff x="0" y="0"/>
            <a:chExt cx="9144000" cy="7721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762000"/>
            </a:xfrm>
            <a:custGeom>
              <a:avLst/>
              <a:gdLst/>
              <a:ahLst/>
              <a:cxnLst/>
              <a:rect l="l" t="t" r="r" b="b"/>
              <a:pathLst>
                <a:path w="9144000" h="762000">
                  <a:moveTo>
                    <a:pt x="91439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62000"/>
              <a:ext cx="9144000" cy="10160"/>
            </a:xfrm>
            <a:custGeom>
              <a:avLst/>
              <a:gdLst/>
              <a:ahLst/>
              <a:cxnLst/>
              <a:rect l="l" t="t" r="r" b="b"/>
              <a:pathLst>
                <a:path w="9144000" h="10159">
                  <a:moveTo>
                    <a:pt x="9143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9599"/>
                  </a:lnTo>
                  <a:close/>
                </a:path>
              </a:pathLst>
            </a:custGeom>
            <a:solidFill>
              <a:srgbClr val="E1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534035"/>
            </a:xfrm>
            <a:custGeom>
              <a:avLst/>
              <a:gdLst/>
              <a:ahLst/>
              <a:cxnLst/>
              <a:rect l="l" t="t" r="r" b="b"/>
              <a:pathLst>
                <a:path w="9144000" h="534035">
                  <a:moveTo>
                    <a:pt x="8763000" y="304812"/>
                  </a:moveTo>
                  <a:lnTo>
                    <a:pt x="8750186" y="262534"/>
                  </a:lnTo>
                  <a:lnTo>
                    <a:pt x="8715959" y="234403"/>
                  </a:lnTo>
                  <a:lnTo>
                    <a:pt x="8686800" y="228612"/>
                  </a:lnTo>
                  <a:lnTo>
                    <a:pt x="8534400" y="228612"/>
                  </a:lnTo>
                  <a:lnTo>
                    <a:pt x="8504733" y="234594"/>
                  </a:lnTo>
                  <a:lnTo>
                    <a:pt x="8480514" y="250926"/>
                  </a:lnTo>
                  <a:lnTo>
                    <a:pt x="8464182" y="275145"/>
                  </a:lnTo>
                  <a:lnTo>
                    <a:pt x="8458200" y="304812"/>
                  </a:lnTo>
                  <a:lnTo>
                    <a:pt x="8458200" y="457212"/>
                  </a:lnTo>
                  <a:lnTo>
                    <a:pt x="8464182" y="486867"/>
                  </a:lnTo>
                  <a:lnTo>
                    <a:pt x="8480514" y="511086"/>
                  </a:lnTo>
                  <a:lnTo>
                    <a:pt x="8504733" y="527418"/>
                  </a:lnTo>
                  <a:lnTo>
                    <a:pt x="8534400" y="533412"/>
                  </a:lnTo>
                  <a:lnTo>
                    <a:pt x="8686800" y="533412"/>
                  </a:lnTo>
                  <a:lnTo>
                    <a:pt x="8716454" y="527418"/>
                  </a:lnTo>
                  <a:lnTo>
                    <a:pt x="8740673" y="511086"/>
                  </a:lnTo>
                  <a:lnTo>
                    <a:pt x="8757006" y="486867"/>
                  </a:lnTo>
                  <a:lnTo>
                    <a:pt x="8763000" y="457212"/>
                  </a:lnTo>
                  <a:lnTo>
                    <a:pt x="8763000" y="304812"/>
                  </a:lnTo>
                  <a:close/>
                </a:path>
                <a:path w="9144000" h="534035">
                  <a:moveTo>
                    <a:pt x="9144000" y="0"/>
                  </a:moveTo>
                  <a:lnTo>
                    <a:pt x="0" y="0"/>
                  </a:lnTo>
                  <a:lnTo>
                    <a:pt x="0" y="38112"/>
                  </a:lnTo>
                  <a:lnTo>
                    <a:pt x="9144000" y="381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3450" y="323850"/>
              <a:ext cx="114299" cy="1143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68300" y="91151"/>
            <a:ext cx="7620634" cy="498836"/>
          </a:xfrm>
          <a:prstGeom prst="rect">
            <a:avLst/>
          </a:prstGeom>
        </p:spPr>
        <p:txBody>
          <a:bodyPr vert="horz" wrap="square" lIns="0" tIns="1587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  <a:r>
              <a:rPr spc="-105" dirty="0"/>
              <a:t> </a:t>
            </a:r>
            <a:r>
              <a:rPr spc="-35" dirty="0" err="1"/>
              <a:t>Proj</a:t>
            </a:r>
            <a:r>
              <a:rPr lang="en-IN" spc="-35" dirty="0"/>
              <a:t>e</a:t>
            </a:r>
            <a:r>
              <a:rPr spc="-35" dirty="0" err="1"/>
              <a:t>ct</a:t>
            </a:r>
            <a:r>
              <a:rPr spc="-105" dirty="0"/>
              <a:t> </a:t>
            </a:r>
            <a:r>
              <a:rPr lang="en-IN" spc="-10" dirty="0"/>
              <a:t>de</a:t>
            </a:r>
            <a:r>
              <a:rPr spc="-10" dirty="0"/>
              <a:t>liv</a:t>
            </a:r>
            <a:r>
              <a:rPr lang="en-IN" spc="-10" dirty="0"/>
              <a:t>e</a:t>
            </a:r>
            <a:r>
              <a:rPr spc="-10" dirty="0" err="1"/>
              <a:t>rabl</a:t>
            </a:r>
            <a:r>
              <a:rPr lang="en-IN" spc="-10" dirty="0"/>
              <a:t>e</a:t>
            </a:r>
            <a:r>
              <a:rPr spc="-10" dirty="0"/>
              <a:t>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76237" y="947737"/>
            <a:ext cx="8391525" cy="809625"/>
            <a:chOff x="376237" y="947737"/>
            <a:chExt cx="8391525" cy="809625"/>
          </a:xfrm>
        </p:grpSpPr>
        <p:sp>
          <p:nvSpPr>
            <p:cNvPr id="9" name="object 9"/>
            <p:cNvSpPr/>
            <p:nvPr/>
          </p:nvSpPr>
          <p:spPr>
            <a:xfrm>
              <a:off x="381000" y="952500"/>
              <a:ext cx="8382000" cy="800100"/>
            </a:xfrm>
            <a:custGeom>
              <a:avLst/>
              <a:gdLst/>
              <a:ahLst/>
              <a:cxnLst/>
              <a:rect l="l" t="t" r="r" b="b"/>
              <a:pathLst>
                <a:path w="8382000" h="800100">
                  <a:moveTo>
                    <a:pt x="8305806" y="800099"/>
                  </a:moveTo>
                  <a:lnTo>
                    <a:pt x="76193" y="800099"/>
                  </a:lnTo>
                  <a:lnTo>
                    <a:pt x="46535" y="794112"/>
                  </a:lnTo>
                  <a:lnTo>
                    <a:pt x="22316" y="777783"/>
                  </a:lnTo>
                  <a:lnTo>
                    <a:pt x="5987" y="753564"/>
                  </a:lnTo>
                  <a:lnTo>
                    <a:pt x="0" y="723906"/>
                  </a:lnTo>
                  <a:lnTo>
                    <a:pt x="0" y="76193"/>
                  </a:lnTo>
                  <a:lnTo>
                    <a:pt x="5987" y="46535"/>
                  </a:lnTo>
                  <a:lnTo>
                    <a:pt x="22316" y="22316"/>
                  </a:lnTo>
                  <a:lnTo>
                    <a:pt x="46535" y="5987"/>
                  </a:lnTo>
                  <a:lnTo>
                    <a:pt x="76193" y="0"/>
                  </a:lnTo>
                  <a:lnTo>
                    <a:pt x="8305806" y="0"/>
                  </a:lnTo>
                  <a:lnTo>
                    <a:pt x="8348078" y="12801"/>
                  </a:lnTo>
                  <a:lnTo>
                    <a:pt x="8376200" y="47035"/>
                  </a:lnTo>
                  <a:lnTo>
                    <a:pt x="8381999" y="76193"/>
                  </a:lnTo>
                  <a:lnTo>
                    <a:pt x="8381999" y="723906"/>
                  </a:lnTo>
                  <a:lnTo>
                    <a:pt x="8376012" y="753564"/>
                  </a:lnTo>
                  <a:lnTo>
                    <a:pt x="8359683" y="777783"/>
                  </a:lnTo>
                  <a:lnTo>
                    <a:pt x="8335464" y="794112"/>
                  </a:lnTo>
                  <a:lnTo>
                    <a:pt x="8305806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000" y="952500"/>
              <a:ext cx="8382000" cy="800100"/>
            </a:xfrm>
            <a:custGeom>
              <a:avLst/>
              <a:gdLst/>
              <a:ahLst/>
              <a:cxnLst/>
              <a:rect l="l" t="t" r="r" b="b"/>
              <a:pathLst>
                <a:path w="8382000" h="800100">
                  <a:moveTo>
                    <a:pt x="0" y="76193"/>
                  </a:moveTo>
                  <a:lnTo>
                    <a:pt x="5987" y="46535"/>
                  </a:lnTo>
                  <a:lnTo>
                    <a:pt x="22316" y="22316"/>
                  </a:lnTo>
                  <a:lnTo>
                    <a:pt x="46535" y="5987"/>
                  </a:lnTo>
                  <a:lnTo>
                    <a:pt x="76193" y="0"/>
                  </a:lnTo>
                  <a:lnTo>
                    <a:pt x="8305806" y="0"/>
                  </a:lnTo>
                  <a:lnTo>
                    <a:pt x="8348078" y="12801"/>
                  </a:lnTo>
                  <a:lnTo>
                    <a:pt x="8376200" y="47035"/>
                  </a:lnTo>
                  <a:lnTo>
                    <a:pt x="8381999" y="76193"/>
                  </a:lnTo>
                  <a:lnTo>
                    <a:pt x="8381999" y="723906"/>
                  </a:lnTo>
                  <a:lnTo>
                    <a:pt x="8376012" y="753564"/>
                  </a:lnTo>
                  <a:lnTo>
                    <a:pt x="8359683" y="777783"/>
                  </a:lnTo>
                  <a:lnTo>
                    <a:pt x="8335464" y="794112"/>
                  </a:lnTo>
                  <a:lnTo>
                    <a:pt x="8305806" y="800099"/>
                  </a:lnTo>
                  <a:lnTo>
                    <a:pt x="76193" y="800099"/>
                  </a:lnTo>
                  <a:lnTo>
                    <a:pt x="46535" y="794112"/>
                  </a:lnTo>
                  <a:lnTo>
                    <a:pt x="22316" y="777783"/>
                  </a:lnTo>
                  <a:lnTo>
                    <a:pt x="5987" y="753564"/>
                  </a:lnTo>
                  <a:lnTo>
                    <a:pt x="0" y="723906"/>
                  </a:lnTo>
                  <a:lnTo>
                    <a:pt x="0" y="76193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999" y="952499"/>
              <a:ext cx="57785" cy="800100"/>
            </a:xfrm>
            <a:custGeom>
              <a:avLst/>
              <a:gdLst/>
              <a:ahLst/>
              <a:cxnLst/>
              <a:rect l="l" t="t" r="r" b="b"/>
              <a:pathLst>
                <a:path w="57784" h="800100">
                  <a:moveTo>
                    <a:pt x="28649" y="800099"/>
                  </a:moveTo>
                  <a:lnTo>
                    <a:pt x="17498" y="797848"/>
                  </a:lnTo>
                  <a:lnTo>
                    <a:pt x="8391" y="791708"/>
                  </a:lnTo>
                  <a:lnTo>
                    <a:pt x="2251" y="782601"/>
                  </a:lnTo>
                  <a:lnTo>
                    <a:pt x="0" y="7714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771449"/>
                  </a:lnTo>
                  <a:lnTo>
                    <a:pt x="55048" y="782601"/>
                  </a:lnTo>
                  <a:lnTo>
                    <a:pt x="48908" y="791708"/>
                  </a:lnTo>
                  <a:lnTo>
                    <a:pt x="39801" y="797848"/>
                  </a:lnTo>
                  <a:lnTo>
                    <a:pt x="28649" y="80009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0" y="1104900"/>
              <a:ext cx="1238885" cy="210185"/>
            </a:xfrm>
            <a:custGeom>
              <a:avLst/>
              <a:gdLst/>
              <a:ahLst/>
              <a:cxnLst/>
              <a:rect l="l" t="t" r="r" b="b"/>
              <a:pathLst>
                <a:path w="1238885" h="210184">
                  <a:moveTo>
                    <a:pt x="1133549" y="209699"/>
                  </a:moveTo>
                  <a:lnTo>
                    <a:pt x="104849" y="209699"/>
                  </a:lnTo>
                  <a:lnTo>
                    <a:pt x="64037" y="201460"/>
                  </a:lnTo>
                  <a:lnTo>
                    <a:pt x="30709" y="178990"/>
                  </a:lnTo>
                  <a:lnTo>
                    <a:pt x="8239" y="145662"/>
                  </a:lnTo>
                  <a:lnTo>
                    <a:pt x="0" y="104849"/>
                  </a:lnTo>
                  <a:lnTo>
                    <a:pt x="8239" y="64037"/>
                  </a:lnTo>
                  <a:lnTo>
                    <a:pt x="30709" y="30709"/>
                  </a:lnTo>
                  <a:lnTo>
                    <a:pt x="64037" y="8239"/>
                  </a:lnTo>
                  <a:lnTo>
                    <a:pt x="104849" y="0"/>
                  </a:lnTo>
                  <a:lnTo>
                    <a:pt x="1133549" y="0"/>
                  </a:lnTo>
                  <a:lnTo>
                    <a:pt x="1173674" y="7981"/>
                  </a:lnTo>
                  <a:lnTo>
                    <a:pt x="1207690" y="30709"/>
                  </a:lnTo>
                  <a:lnTo>
                    <a:pt x="1230418" y="64725"/>
                  </a:lnTo>
                  <a:lnTo>
                    <a:pt x="1238399" y="104849"/>
                  </a:lnTo>
                  <a:lnTo>
                    <a:pt x="1230160" y="145662"/>
                  </a:lnTo>
                  <a:lnTo>
                    <a:pt x="1207690" y="178990"/>
                  </a:lnTo>
                  <a:lnTo>
                    <a:pt x="1174362" y="201460"/>
                  </a:lnTo>
                  <a:lnTo>
                    <a:pt x="1133549" y="209699"/>
                  </a:lnTo>
                  <a:close/>
                </a:path>
              </a:pathLst>
            </a:custGeom>
            <a:solidFill>
              <a:srgbClr val="D1F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0365" y="1127962"/>
            <a:ext cx="7647305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5" dirty="0">
                <a:solidFill>
                  <a:srgbClr val="10B981"/>
                </a:solidFill>
                <a:latin typeface="Yu Gothic"/>
                <a:cs typeface="Yu Gothic"/>
              </a:rPr>
              <a:t>SYSTEM</a:t>
            </a:r>
            <a:r>
              <a:rPr sz="850" b="1" spc="-5" dirty="0">
                <a:solidFill>
                  <a:srgbClr val="10B981"/>
                </a:solidFill>
                <a:latin typeface="Yu Gothic"/>
                <a:cs typeface="Yu Gothic"/>
              </a:rPr>
              <a:t> </a:t>
            </a:r>
            <a:r>
              <a:rPr sz="850" b="1" spc="-10" dirty="0">
                <a:solidFill>
                  <a:srgbClr val="10B981"/>
                </a:solidFill>
                <a:latin typeface="Yu Gothic"/>
                <a:cs typeface="Yu Gothic"/>
              </a:rPr>
              <a:t>DELIVERED</a:t>
            </a:r>
            <a:endParaRPr sz="850">
              <a:latin typeface="Yu Gothic"/>
              <a:cs typeface="Yu Gothic"/>
            </a:endParaRPr>
          </a:p>
          <a:p>
            <a:pPr marL="3256279" marR="5080" indent="-3105150">
              <a:lnSpc>
                <a:spcPct val="103899"/>
              </a:lnSpc>
              <a:spcBef>
                <a:spcPts val="750"/>
              </a:spcBef>
            </a:pPr>
            <a:r>
              <a:rPr sz="900" b="1" spc="10" dirty="0">
                <a:solidFill>
                  <a:srgbClr val="0F172A"/>
                </a:solidFill>
                <a:latin typeface="Yu Gothic"/>
                <a:cs typeface="Yu Gothic"/>
              </a:rPr>
              <a:t>Engineering</a:t>
            </a:r>
            <a:r>
              <a:rPr sz="900" b="1" spc="4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b="1" spc="20" dirty="0">
                <a:solidFill>
                  <a:srgbClr val="0F172A"/>
                </a:solidFill>
                <a:latin typeface="Yu Gothic"/>
                <a:cs typeface="Yu Gothic"/>
              </a:rPr>
              <a:t>Summary:</a:t>
            </a:r>
            <a:r>
              <a:rPr sz="900" b="1" spc="9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900" spc="45" dirty="0">
                <a:solidFill>
                  <a:srgbClr val="475568"/>
                </a:solidFill>
                <a:latin typeface="Tahoma"/>
                <a:cs typeface="Tahoma"/>
              </a:rPr>
              <a:t>Delivered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an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enterprise-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grade,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fully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functional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full-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stack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pharmacy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governance 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system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50" dirty="0">
                <a:solidFill>
                  <a:srgbClr val="475568"/>
                </a:solidFill>
                <a:latin typeface="Tahoma"/>
                <a:cs typeface="Tahoma"/>
              </a:rPr>
              <a:t>compliant</a:t>
            </a:r>
            <a:r>
              <a:rPr sz="900" spc="60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475568"/>
                </a:solidFill>
                <a:latin typeface="Tahoma"/>
                <a:cs typeface="Tahoma"/>
              </a:rPr>
              <a:t>with</a:t>
            </a:r>
            <a:r>
              <a:rPr sz="900" spc="55" dirty="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sz="900" spc="40" dirty="0">
                <a:solidFill>
                  <a:srgbClr val="475568"/>
                </a:solidFill>
                <a:latin typeface="Tahoma"/>
                <a:cs typeface="Tahoma"/>
              </a:rPr>
              <a:t>clinical </a:t>
            </a:r>
            <a:r>
              <a:rPr sz="900" spc="65" dirty="0">
                <a:solidFill>
                  <a:srgbClr val="475568"/>
                </a:solidFill>
                <a:latin typeface="Tahoma"/>
                <a:cs typeface="Tahoma"/>
              </a:rPr>
              <a:t>compliance</a:t>
            </a:r>
            <a:r>
              <a:rPr sz="900" spc="-10" dirty="0">
                <a:solidFill>
                  <a:srgbClr val="475568"/>
                </a:solidFill>
                <a:latin typeface="Tahoma"/>
                <a:cs typeface="Tahoma"/>
              </a:rPr>
              <a:t> standards.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6237" y="1938337"/>
            <a:ext cx="5343525" cy="2828925"/>
            <a:chOff x="376237" y="1938337"/>
            <a:chExt cx="5343525" cy="2828925"/>
          </a:xfrm>
        </p:grpSpPr>
        <p:sp>
          <p:nvSpPr>
            <p:cNvPr id="15" name="object 15"/>
            <p:cNvSpPr/>
            <p:nvPr/>
          </p:nvSpPr>
          <p:spPr>
            <a:xfrm>
              <a:off x="381000" y="1943100"/>
              <a:ext cx="5334000" cy="2819400"/>
            </a:xfrm>
            <a:custGeom>
              <a:avLst/>
              <a:gdLst/>
              <a:ahLst/>
              <a:cxnLst/>
              <a:rect l="l" t="t" r="r" b="b"/>
              <a:pathLst>
                <a:path w="5334000" h="2819400">
                  <a:moveTo>
                    <a:pt x="5219701" y="2819399"/>
                  </a:moveTo>
                  <a:lnTo>
                    <a:pt x="114298" y="2819399"/>
                  </a:lnTo>
                  <a:lnTo>
                    <a:pt x="69808" y="2810417"/>
                  </a:lnTo>
                  <a:lnTo>
                    <a:pt x="33477" y="2785922"/>
                  </a:lnTo>
                  <a:lnTo>
                    <a:pt x="8982" y="2749591"/>
                  </a:lnTo>
                  <a:lnTo>
                    <a:pt x="0" y="2705101"/>
                  </a:lnTo>
                  <a:lnTo>
                    <a:pt x="0" y="114298"/>
                  </a:ln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8" y="0"/>
                  </a:lnTo>
                  <a:lnTo>
                    <a:pt x="5219701" y="0"/>
                  </a:lnTo>
                  <a:lnTo>
                    <a:pt x="5263441" y="8700"/>
                  </a:lnTo>
                  <a:lnTo>
                    <a:pt x="5300522" y="33477"/>
                  </a:lnTo>
                  <a:lnTo>
                    <a:pt x="5325299" y="70558"/>
                  </a:lnTo>
                  <a:lnTo>
                    <a:pt x="5333999" y="114298"/>
                  </a:lnTo>
                  <a:lnTo>
                    <a:pt x="5333999" y="2705101"/>
                  </a:lnTo>
                  <a:lnTo>
                    <a:pt x="5325017" y="2749591"/>
                  </a:lnTo>
                  <a:lnTo>
                    <a:pt x="5300522" y="2785922"/>
                  </a:lnTo>
                  <a:lnTo>
                    <a:pt x="5264191" y="2810417"/>
                  </a:lnTo>
                  <a:lnTo>
                    <a:pt x="5219701" y="281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1000" y="1943100"/>
              <a:ext cx="5334000" cy="2819400"/>
            </a:xfrm>
            <a:custGeom>
              <a:avLst/>
              <a:gdLst/>
              <a:ahLst/>
              <a:cxnLst/>
              <a:rect l="l" t="t" r="r" b="b"/>
              <a:pathLst>
                <a:path w="5334000" h="2819400">
                  <a:moveTo>
                    <a:pt x="0" y="114298"/>
                  </a:move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8" y="0"/>
                  </a:lnTo>
                  <a:lnTo>
                    <a:pt x="5219701" y="0"/>
                  </a:lnTo>
                  <a:lnTo>
                    <a:pt x="5263441" y="8700"/>
                  </a:lnTo>
                  <a:lnTo>
                    <a:pt x="5300522" y="33477"/>
                  </a:lnTo>
                  <a:lnTo>
                    <a:pt x="5325299" y="70558"/>
                  </a:lnTo>
                  <a:lnTo>
                    <a:pt x="5333999" y="114298"/>
                  </a:lnTo>
                  <a:lnTo>
                    <a:pt x="5333999" y="2705101"/>
                  </a:lnTo>
                  <a:lnTo>
                    <a:pt x="5325017" y="2749591"/>
                  </a:lnTo>
                  <a:lnTo>
                    <a:pt x="5300522" y="2785922"/>
                  </a:lnTo>
                  <a:lnTo>
                    <a:pt x="5264191" y="2810417"/>
                  </a:lnTo>
                  <a:lnTo>
                    <a:pt x="5219701" y="2819399"/>
                  </a:lnTo>
                  <a:lnTo>
                    <a:pt x="114298" y="2819399"/>
                  </a:lnTo>
                  <a:lnTo>
                    <a:pt x="69808" y="2810417"/>
                  </a:lnTo>
                  <a:lnTo>
                    <a:pt x="33477" y="2785922"/>
                  </a:lnTo>
                  <a:lnTo>
                    <a:pt x="8982" y="2749591"/>
                  </a:lnTo>
                  <a:lnTo>
                    <a:pt x="0" y="2705101"/>
                  </a:lnTo>
                  <a:lnTo>
                    <a:pt x="0" y="11429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76555" y="2162758"/>
            <a:ext cx="31432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D9488"/>
                </a:solidFill>
                <a:latin typeface="Yu Gothic"/>
                <a:cs typeface="Yu Gothic"/>
              </a:rPr>
              <a:t>Submission</a:t>
            </a:r>
            <a:r>
              <a:rPr sz="1300" b="1" spc="-7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300" b="1" spc="-10" dirty="0">
                <a:solidFill>
                  <a:srgbClr val="0D9488"/>
                </a:solidFill>
                <a:latin typeface="Yu Gothic"/>
                <a:cs typeface="Yu Gothic"/>
              </a:rPr>
              <a:t>Deliverables</a:t>
            </a:r>
            <a:r>
              <a:rPr sz="1300" b="1" spc="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000" b="1" spc="85" dirty="0">
                <a:solidFill>
                  <a:srgbClr val="64738B"/>
                </a:solidFill>
                <a:latin typeface="Yu Gothic"/>
                <a:cs typeface="Yu Gothic"/>
              </a:rPr>
              <a:t>4</a:t>
            </a:r>
            <a:r>
              <a:rPr sz="1000" b="1" spc="-45" dirty="0">
                <a:solidFill>
                  <a:srgbClr val="64738B"/>
                </a:solidFill>
                <a:latin typeface="Yu Gothic"/>
                <a:cs typeface="Yu Gothic"/>
              </a:rPr>
              <a:t> ITEMS</a:t>
            </a:r>
            <a:r>
              <a:rPr sz="1000" b="1" spc="-35" dirty="0">
                <a:solidFill>
                  <a:srgbClr val="64738B"/>
                </a:solidFill>
                <a:latin typeface="Yu Gothic"/>
                <a:cs typeface="Yu Gothic"/>
              </a:rPr>
              <a:t> </a:t>
            </a:r>
            <a:r>
              <a:rPr sz="1000" b="1" spc="-10" dirty="0">
                <a:solidFill>
                  <a:srgbClr val="64738B"/>
                </a:solidFill>
                <a:latin typeface="Yu Gothic"/>
                <a:cs typeface="Yu Gothic"/>
              </a:rPr>
              <a:t>VERIFIED</a:t>
            </a:r>
            <a:endParaRPr sz="1000">
              <a:latin typeface="Yu Gothic"/>
              <a:cs typeface="Yu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4837" y="2471737"/>
            <a:ext cx="4886325" cy="2105660"/>
            <a:chOff x="604837" y="2471737"/>
            <a:chExt cx="4886325" cy="2105660"/>
          </a:xfrm>
        </p:grpSpPr>
        <p:sp>
          <p:nvSpPr>
            <p:cNvPr id="19" name="object 19"/>
            <p:cNvSpPr/>
            <p:nvPr/>
          </p:nvSpPr>
          <p:spPr>
            <a:xfrm>
              <a:off x="609600" y="2476500"/>
              <a:ext cx="4876800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799" y="0"/>
                  </a:lnTo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2609850"/>
              <a:ext cx="190499" cy="1904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3105150"/>
              <a:ext cx="190499" cy="1904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3600450"/>
              <a:ext cx="190499" cy="1904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9600" y="4095750"/>
              <a:ext cx="4876800" cy="476884"/>
            </a:xfrm>
            <a:custGeom>
              <a:avLst/>
              <a:gdLst/>
              <a:ahLst/>
              <a:cxnLst/>
              <a:rect l="l" t="t" r="r" b="b"/>
              <a:pathLst>
                <a:path w="4876800" h="476885">
                  <a:moveTo>
                    <a:pt x="4800576" y="476399"/>
                  </a:moveTo>
                  <a:lnTo>
                    <a:pt x="76223" y="476399"/>
                  </a:lnTo>
                  <a:lnTo>
                    <a:pt x="46554" y="470409"/>
                  </a:lnTo>
                  <a:lnTo>
                    <a:pt x="22325" y="454074"/>
                  </a:lnTo>
                  <a:lnTo>
                    <a:pt x="5990" y="429845"/>
                  </a:lnTo>
                  <a:lnTo>
                    <a:pt x="0" y="400176"/>
                  </a:lnTo>
                  <a:lnTo>
                    <a:pt x="0" y="76223"/>
                  </a:lnTo>
                  <a:lnTo>
                    <a:pt x="5990" y="46554"/>
                  </a:lnTo>
                  <a:lnTo>
                    <a:pt x="22325" y="22325"/>
                  </a:lnTo>
                  <a:lnTo>
                    <a:pt x="46554" y="5990"/>
                  </a:lnTo>
                  <a:lnTo>
                    <a:pt x="76223" y="0"/>
                  </a:lnTo>
                  <a:lnTo>
                    <a:pt x="4800576" y="0"/>
                  </a:lnTo>
                  <a:lnTo>
                    <a:pt x="4842865" y="12806"/>
                  </a:lnTo>
                  <a:lnTo>
                    <a:pt x="4870997" y="47054"/>
                  </a:lnTo>
                  <a:lnTo>
                    <a:pt x="4876799" y="76223"/>
                  </a:lnTo>
                  <a:lnTo>
                    <a:pt x="4876799" y="400176"/>
                  </a:lnTo>
                  <a:lnTo>
                    <a:pt x="4870809" y="429845"/>
                  </a:lnTo>
                  <a:lnTo>
                    <a:pt x="4854474" y="454074"/>
                  </a:lnTo>
                  <a:lnTo>
                    <a:pt x="4830245" y="470409"/>
                  </a:lnTo>
                  <a:lnTo>
                    <a:pt x="4800576" y="4763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" y="4095750"/>
              <a:ext cx="4876800" cy="476884"/>
            </a:xfrm>
            <a:custGeom>
              <a:avLst/>
              <a:gdLst/>
              <a:ahLst/>
              <a:cxnLst/>
              <a:rect l="l" t="t" r="r" b="b"/>
              <a:pathLst>
                <a:path w="4876800" h="476885">
                  <a:moveTo>
                    <a:pt x="0" y="76223"/>
                  </a:moveTo>
                  <a:lnTo>
                    <a:pt x="5990" y="46554"/>
                  </a:lnTo>
                  <a:lnTo>
                    <a:pt x="22325" y="22325"/>
                  </a:lnTo>
                  <a:lnTo>
                    <a:pt x="46554" y="5990"/>
                  </a:lnTo>
                  <a:lnTo>
                    <a:pt x="76223" y="0"/>
                  </a:lnTo>
                  <a:lnTo>
                    <a:pt x="4800576" y="0"/>
                  </a:lnTo>
                  <a:lnTo>
                    <a:pt x="4842865" y="12806"/>
                  </a:lnTo>
                  <a:lnTo>
                    <a:pt x="4870997" y="47054"/>
                  </a:lnTo>
                  <a:lnTo>
                    <a:pt x="4876799" y="76223"/>
                  </a:lnTo>
                  <a:lnTo>
                    <a:pt x="4876799" y="400176"/>
                  </a:lnTo>
                  <a:lnTo>
                    <a:pt x="4870809" y="429845"/>
                  </a:lnTo>
                  <a:lnTo>
                    <a:pt x="4854474" y="454074"/>
                  </a:lnTo>
                  <a:lnTo>
                    <a:pt x="4830245" y="470409"/>
                  </a:lnTo>
                  <a:lnTo>
                    <a:pt x="4800576" y="476399"/>
                  </a:lnTo>
                  <a:lnTo>
                    <a:pt x="76223" y="476399"/>
                  </a:lnTo>
                  <a:lnTo>
                    <a:pt x="46554" y="470409"/>
                  </a:lnTo>
                  <a:lnTo>
                    <a:pt x="22325" y="454074"/>
                  </a:lnTo>
                  <a:lnTo>
                    <a:pt x="5990" y="429845"/>
                  </a:lnTo>
                  <a:lnTo>
                    <a:pt x="0" y="400176"/>
                  </a:lnTo>
                  <a:lnTo>
                    <a:pt x="0" y="76223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000" y="4238625"/>
              <a:ext cx="190499" cy="1904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01700" y="2620466"/>
            <a:ext cx="3218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30" dirty="0">
                <a:solidFill>
                  <a:srgbClr val="0F172A"/>
                </a:solidFill>
                <a:latin typeface="Yu Gothic"/>
                <a:cs typeface="Yu Gothic"/>
              </a:rPr>
              <a:t>16-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Section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30" dirty="0">
                <a:solidFill>
                  <a:srgbClr val="0F172A"/>
                </a:solidFill>
                <a:latin typeface="Yu Gothic"/>
                <a:cs typeface="Yu Gothic"/>
              </a:rPr>
              <a:t>Final</a:t>
            </a:r>
            <a:r>
              <a:rPr sz="1050" b="1" spc="-1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Project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Report</a:t>
            </a:r>
            <a:endParaRPr sz="1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950" spc="30" dirty="0">
                <a:solidFill>
                  <a:srgbClr val="64738B"/>
                </a:solidFill>
                <a:latin typeface="Tahoma"/>
                <a:cs typeface="Tahoma"/>
              </a:rPr>
              <a:t>Comprehensive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30" dirty="0">
                <a:solidFill>
                  <a:srgbClr val="64738B"/>
                </a:solidFill>
                <a:latin typeface="Tahoma"/>
                <a:cs typeface="Tahoma"/>
              </a:rPr>
              <a:t>documentation</a:t>
            </a:r>
            <a:r>
              <a:rPr sz="950" spc="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30" dirty="0">
                <a:solidFill>
                  <a:srgbClr val="64738B"/>
                </a:solidFill>
                <a:latin typeface="Tahoma"/>
                <a:cs typeface="Tahoma"/>
              </a:rPr>
              <a:t>submitted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30" dirty="0">
                <a:solidFill>
                  <a:srgbClr val="64738B"/>
                </a:solidFill>
                <a:latin typeface="Tahoma"/>
                <a:cs typeface="Tahoma"/>
              </a:rPr>
              <a:t>in</a:t>
            </a:r>
            <a:r>
              <a:rPr sz="950" spc="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PDF</a:t>
            </a:r>
            <a:r>
              <a:rPr sz="950" spc="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format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1700" y="3111956"/>
            <a:ext cx="371411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0F172A"/>
                </a:solidFill>
                <a:latin typeface="Yu Gothic"/>
                <a:cs typeface="Yu Gothic"/>
              </a:rPr>
              <a:t>Working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Application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dirty="0">
                <a:solidFill>
                  <a:srgbClr val="0F172A"/>
                </a:solidFill>
                <a:latin typeface="Yu Gothic"/>
                <a:cs typeface="Yu Gothic"/>
              </a:rPr>
              <a:t>Source</a:t>
            </a:r>
            <a:r>
              <a:rPr sz="1050" b="1" spc="-15" dirty="0">
                <a:solidFill>
                  <a:srgbClr val="0F172A"/>
                </a:solidFill>
                <a:latin typeface="Yu Gothic"/>
                <a:cs typeface="Yu Gothic"/>
              </a:rPr>
              <a:t> 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Code</a:t>
            </a:r>
            <a:endParaRPr sz="1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Core</a:t>
            </a:r>
            <a:r>
              <a:rPr sz="95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logic</a:t>
            </a:r>
            <a:r>
              <a:rPr sz="950" spc="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sz="95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view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templates:</a:t>
            </a: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0D9488"/>
                </a:solidFill>
                <a:latin typeface="Courier New"/>
                <a:cs typeface="Courier New"/>
              </a:rPr>
              <a:t>app.py</a:t>
            </a:r>
            <a:r>
              <a:rPr sz="950" spc="-20" dirty="0">
                <a:solidFill>
                  <a:srgbClr val="64738B"/>
                </a:solidFill>
                <a:latin typeface="Tahoma"/>
                <a:cs typeface="Tahoma"/>
              </a:rPr>
              <a:t>,</a:t>
            </a:r>
            <a:r>
              <a:rPr sz="950" spc="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D9488"/>
                </a:solidFill>
                <a:latin typeface="Courier New"/>
                <a:cs typeface="Courier New"/>
              </a:rPr>
              <a:t>templates/index.html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1700" y="3607256"/>
            <a:ext cx="339725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Complete</a:t>
            </a:r>
            <a:r>
              <a:rPr sz="1050" b="1" spc="-20" dirty="0">
                <a:solidFill>
                  <a:srgbClr val="0F172A"/>
                </a:solidFill>
                <a:latin typeface="Yu Gothic"/>
                <a:cs typeface="Yu Gothic"/>
              </a:rPr>
              <a:t> SQL Database </a:t>
            </a:r>
            <a:r>
              <a:rPr sz="1050" b="1" spc="-10" dirty="0">
                <a:solidFill>
                  <a:srgbClr val="0F172A"/>
                </a:solidFill>
                <a:latin typeface="Yu Gothic"/>
                <a:cs typeface="Yu Gothic"/>
              </a:rPr>
              <a:t>Scripts</a:t>
            </a:r>
            <a:endParaRPr sz="105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DDL</a:t>
            </a: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sz="950" spc="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spc="65" dirty="0">
                <a:solidFill>
                  <a:srgbClr val="64738B"/>
                </a:solidFill>
                <a:latin typeface="Tahoma"/>
                <a:cs typeface="Tahoma"/>
              </a:rPr>
              <a:t>DML</a:t>
            </a:r>
            <a:r>
              <a:rPr sz="950" spc="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64738B"/>
                </a:solidFill>
                <a:latin typeface="Tahoma"/>
                <a:cs typeface="Tahoma"/>
              </a:rPr>
              <a:t>definitions:</a:t>
            </a: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0D9488"/>
                </a:solidFill>
                <a:latin typeface="Courier New"/>
                <a:cs typeface="Courier New"/>
              </a:rPr>
              <a:t>schema_ddl.sql</a:t>
            </a:r>
            <a:r>
              <a:rPr sz="950" spc="-25" dirty="0">
                <a:solidFill>
                  <a:srgbClr val="64738B"/>
                </a:solidFill>
                <a:latin typeface="Tahoma"/>
                <a:cs typeface="Tahoma"/>
              </a:rPr>
              <a:t>,</a:t>
            </a:r>
            <a:r>
              <a:rPr sz="95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0D9488"/>
                </a:solidFill>
                <a:latin typeface="Courier New"/>
                <a:cs typeface="Courier New"/>
              </a:rPr>
              <a:t>data_dml.sql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2222" y="4239970"/>
            <a:ext cx="29972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334155"/>
                </a:solidFill>
                <a:latin typeface="Yu Gothic"/>
                <a:cs typeface="Yu Gothic"/>
              </a:rPr>
              <a:t>Public</a:t>
            </a:r>
            <a:r>
              <a:rPr sz="950" b="1" spc="15" dirty="0">
                <a:solidFill>
                  <a:srgbClr val="334155"/>
                </a:solidFill>
                <a:latin typeface="Yu Gothic"/>
                <a:cs typeface="Yu Gothic"/>
              </a:rPr>
              <a:t> </a:t>
            </a:r>
            <a:r>
              <a:rPr sz="950" b="1" spc="-20" dirty="0">
                <a:solidFill>
                  <a:srgbClr val="334155"/>
                </a:solidFill>
                <a:latin typeface="Yu Gothic"/>
                <a:cs typeface="Yu Gothic"/>
              </a:rPr>
              <a:t>GitHub</a:t>
            </a:r>
            <a:r>
              <a:rPr sz="950" b="1" spc="15" dirty="0">
                <a:solidFill>
                  <a:srgbClr val="334155"/>
                </a:solidFill>
                <a:latin typeface="Yu Gothic"/>
                <a:cs typeface="Yu Gothic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Yu Gothic"/>
                <a:cs typeface="Yu Gothic"/>
              </a:rPr>
              <a:t>Repository:</a:t>
            </a:r>
            <a:r>
              <a:rPr sz="950" b="1" spc="20" dirty="0">
                <a:solidFill>
                  <a:srgbClr val="334155"/>
                </a:solidFill>
                <a:latin typeface="Yu Gothic"/>
                <a:cs typeface="Yu Gothic"/>
              </a:rPr>
              <a:t> </a:t>
            </a:r>
            <a:r>
              <a:rPr sz="1000" b="1" spc="-10" dirty="0">
                <a:solidFill>
                  <a:srgbClr val="0D9488"/>
                </a:solidFill>
                <a:latin typeface="Courier New"/>
                <a:cs typeface="Courier New"/>
              </a:rPr>
              <a:t>DBMS-Course-Project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900737" y="1938337"/>
            <a:ext cx="2867025" cy="2828925"/>
            <a:chOff x="5900737" y="1938337"/>
            <a:chExt cx="2867025" cy="2828925"/>
          </a:xfrm>
        </p:grpSpPr>
        <p:sp>
          <p:nvSpPr>
            <p:cNvPr id="31" name="object 31"/>
            <p:cNvSpPr/>
            <p:nvPr/>
          </p:nvSpPr>
          <p:spPr>
            <a:xfrm>
              <a:off x="5905500" y="1943100"/>
              <a:ext cx="2857500" cy="2819400"/>
            </a:xfrm>
            <a:custGeom>
              <a:avLst/>
              <a:gdLst/>
              <a:ahLst/>
              <a:cxnLst/>
              <a:rect l="l" t="t" r="r" b="b"/>
              <a:pathLst>
                <a:path w="2857500" h="2819400">
                  <a:moveTo>
                    <a:pt x="2743201" y="2819399"/>
                  </a:moveTo>
                  <a:lnTo>
                    <a:pt x="114298" y="2819399"/>
                  </a:lnTo>
                  <a:lnTo>
                    <a:pt x="69808" y="2810417"/>
                  </a:lnTo>
                  <a:lnTo>
                    <a:pt x="33477" y="2785922"/>
                  </a:lnTo>
                  <a:lnTo>
                    <a:pt x="8982" y="2749591"/>
                  </a:lnTo>
                  <a:lnTo>
                    <a:pt x="0" y="2705101"/>
                  </a:lnTo>
                  <a:lnTo>
                    <a:pt x="0" y="114298"/>
                  </a:ln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8" y="0"/>
                  </a:lnTo>
                  <a:lnTo>
                    <a:pt x="2743201" y="0"/>
                  </a:lnTo>
                  <a:lnTo>
                    <a:pt x="2786941" y="8700"/>
                  </a:lnTo>
                  <a:lnTo>
                    <a:pt x="2824022" y="33477"/>
                  </a:lnTo>
                  <a:lnTo>
                    <a:pt x="2848799" y="70558"/>
                  </a:lnTo>
                  <a:lnTo>
                    <a:pt x="2857499" y="114298"/>
                  </a:lnTo>
                  <a:lnTo>
                    <a:pt x="2857499" y="2705101"/>
                  </a:lnTo>
                  <a:lnTo>
                    <a:pt x="2848517" y="2749591"/>
                  </a:lnTo>
                  <a:lnTo>
                    <a:pt x="2824022" y="2785922"/>
                  </a:lnTo>
                  <a:lnTo>
                    <a:pt x="2787691" y="2810417"/>
                  </a:lnTo>
                  <a:lnTo>
                    <a:pt x="2743201" y="281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05500" y="1943100"/>
              <a:ext cx="2857500" cy="2819400"/>
            </a:xfrm>
            <a:custGeom>
              <a:avLst/>
              <a:gdLst/>
              <a:ahLst/>
              <a:cxnLst/>
              <a:rect l="l" t="t" r="r" b="b"/>
              <a:pathLst>
                <a:path w="2857500" h="2819400">
                  <a:moveTo>
                    <a:pt x="0" y="114298"/>
                  </a:moveTo>
                  <a:lnTo>
                    <a:pt x="8982" y="69808"/>
                  </a:lnTo>
                  <a:lnTo>
                    <a:pt x="33477" y="33477"/>
                  </a:lnTo>
                  <a:lnTo>
                    <a:pt x="69808" y="8982"/>
                  </a:lnTo>
                  <a:lnTo>
                    <a:pt x="114298" y="0"/>
                  </a:lnTo>
                  <a:lnTo>
                    <a:pt x="2743201" y="0"/>
                  </a:lnTo>
                  <a:lnTo>
                    <a:pt x="2786941" y="8700"/>
                  </a:lnTo>
                  <a:lnTo>
                    <a:pt x="2824022" y="33477"/>
                  </a:lnTo>
                  <a:lnTo>
                    <a:pt x="2848799" y="70558"/>
                  </a:lnTo>
                  <a:lnTo>
                    <a:pt x="2857499" y="114298"/>
                  </a:lnTo>
                  <a:lnTo>
                    <a:pt x="2857499" y="2705101"/>
                  </a:lnTo>
                  <a:lnTo>
                    <a:pt x="2848517" y="2749591"/>
                  </a:lnTo>
                  <a:lnTo>
                    <a:pt x="2824022" y="2785922"/>
                  </a:lnTo>
                  <a:lnTo>
                    <a:pt x="2787691" y="2810417"/>
                  </a:lnTo>
                  <a:lnTo>
                    <a:pt x="2743201" y="2819399"/>
                  </a:lnTo>
                  <a:lnTo>
                    <a:pt x="114298" y="2819399"/>
                  </a:lnTo>
                  <a:lnTo>
                    <a:pt x="69808" y="2810417"/>
                  </a:lnTo>
                  <a:lnTo>
                    <a:pt x="33477" y="2785922"/>
                  </a:lnTo>
                  <a:lnTo>
                    <a:pt x="8982" y="2749591"/>
                  </a:lnTo>
                  <a:lnTo>
                    <a:pt x="0" y="2705101"/>
                  </a:lnTo>
                  <a:lnTo>
                    <a:pt x="0" y="114298"/>
                  </a:lnTo>
                  <a:close/>
                </a:path>
              </a:pathLst>
            </a:custGeom>
            <a:ln w="9524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96000" y="2362200"/>
              <a:ext cx="2476500" cy="1238885"/>
            </a:xfrm>
            <a:custGeom>
              <a:avLst/>
              <a:gdLst/>
              <a:ahLst/>
              <a:cxnLst/>
              <a:rect l="l" t="t" r="r" b="b"/>
              <a:pathLst>
                <a:path w="2476500" h="1238885">
                  <a:moveTo>
                    <a:pt x="2400301" y="1238399"/>
                  </a:moveTo>
                  <a:lnTo>
                    <a:pt x="76198" y="1238399"/>
                  </a:lnTo>
                  <a:lnTo>
                    <a:pt x="46538" y="1232411"/>
                  </a:lnTo>
                  <a:lnTo>
                    <a:pt x="22318" y="1216081"/>
                  </a:lnTo>
                  <a:lnTo>
                    <a:pt x="5988" y="1191861"/>
                  </a:lnTo>
                  <a:lnTo>
                    <a:pt x="0" y="116220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2400301" y="0"/>
                  </a:lnTo>
                  <a:lnTo>
                    <a:pt x="2442576" y="12802"/>
                  </a:lnTo>
                  <a:lnTo>
                    <a:pt x="2470699" y="47038"/>
                  </a:lnTo>
                  <a:lnTo>
                    <a:pt x="2476499" y="76198"/>
                  </a:lnTo>
                  <a:lnTo>
                    <a:pt x="2476499" y="1162201"/>
                  </a:lnTo>
                  <a:lnTo>
                    <a:pt x="2470511" y="1191861"/>
                  </a:lnTo>
                  <a:lnTo>
                    <a:pt x="2454181" y="1216081"/>
                  </a:lnTo>
                  <a:lnTo>
                    <a:pt x="2429961" y="1232411"/>
                  </a:lnTo>
                  <a:lnTo>
                    <a:pt x="2400301" y="1238399"/>
                  </a:lnTo>
                  <a:close/>
                </a:path>
              </a:pathLst>
            </a:custGeom>
            <a:solidFill>
              <a:srgbClr val="F0F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6000" y="2362200"/>
              <a:ext cx="2476500" cy="1238885"/>
            </a:xfrm>
            <a:custGeom>
              <a:avLst/>
              <a:gdLst/>
              <a:ahLst/>
              <a:cxnLst/>
              <a:rect l="l" t="t" r="r" b="b"/>
              <a:pathLst>
                <a:path w="2476500" h="123888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2400301" y="0"/>
                  </a:lnTo>
                  <a:lnTo>
                    <a:pt x="2442576" y="12802"/>
                  </a:lnTo>
                  <a:lnTo>
                    <a:pt x="2470699" y="47038"/>
                  </a:lnTo>
                  <a:lnTo>
                    <a:pt x="2476499" y="76198"/>
                  </a:lnTo>
                  <a:lnTo>
                    <a:pt x="2476499" y="1162201"/>
                  </a:lnTo>
                  <a:lnTo>
                    <a:pt x="2470511" y="1191861"/>
                  </a:lnTo>
                  <a:lnTo>
                    <a:pt x="2454181" y="1216081"/>
                  </a:lnTo>
                  <a:lnTo>
                    <a:pt x="2429961" y="1232411"/>
                  </a:lnTo>
                  <a:lnTo>
                    <a:pt x="2400301" y="1238399"/>
                  </a:lnTo>
                  <a:lnTo>
                    <a:pt x="76198" y="1238399"/>
                  </a:lnTo>
                  <a:lnTo>
                    <a:pt x="46538" y="1232411"/>
                  </a:lnTo>
                  <a:lnTo>
                    <a:pt x="22318" y="1216081"/>
                  </a:lnTo>
                  <a:lnTo>
                    <a:pt x="5988" y="1191861"/>
                  </a:lnTo>
                  <a:lnTo>
                    <a:pt x="0" y="116220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CFA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197600" y="2420112"/>
            <a:ext cx="2241550" cy="65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spc="45" dirty="0">
                <a:solidFill>
                  <a:srgbClr val="0F172A"/>
                </a:solidFill>
                <a:latin typeface="Tahoma"/>
                <a:cs typeface="Tahoma"/>
              </a:rPr>
              <a:t>Special</a:t>
            </a:r>
            <a:r>
              <a:rPr sz="950" spc="1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thanks</a:t>
            </a:r>
            <a:r>
              <a:rPr sz="950" spc="1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to</a:t>
            </a:r>
            <a:r>
              <a:rPr sz="950" spc="1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0D9488"/>
                </a:solidFill>
                <a:latin typeface="Yu Gothic"/>
                <a:cs typeface="Yu Gothic"/>
              </a:rPr>
              <a:t>Faculty</a:t>
            </a:r>
            <a:r>
              <a:rPr sz="1100" b="1" spc="1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D9488"/>
                </a:solidFill>
                <a:latin typeface="Yu Gothic"/>
                <a:cs typeface="Yu Gothic"/>
              </a:rPr>
              <a:t>Guide</a:t>
            </a:r>
            <a:r>
              <a:rPr sz="1100" b="1" spc="1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25" dirty="0">
                <a:solidFill>
                  <a:srgbClr val="0D9488"/>
                </a:solidFill>
                <a:latin typeface="Yu Gothic"/>
                <a:cs typeface="Yu Gothic"/>
              </a:rPr>
              <a:t>Dr. </a:t>
            </a:r>
            <a:r>
              <a:rPr sz="1100" b="1" spc="-20" dirty="0">
                <a:solidFill>
                  <a:srgbClr val="0D9488"/>
                </a:solidFill>
                <a:latin typeface="Yu Gothic"/>
                <a:cs typeface="Yu Gothic"/>
              </a:rPr>
              <a:t>Kiran</a:t>
            </a:r>
            <a:r>
              <a:rPr sz="11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spc="-10" dirty="0">
                <a:solidFill>
                  <a:srgbClr val="0D9488"/>
                </a:solidFill>
                <a:latin typeface="Yu Gothic"/>
                <a:cs typeface="Yu Gothic"/>
              </a:rPr>
              <a:t>Mayee</a:t>
            </a:r>
            <a:r>
              <a:rPr sz="1100" b="1" spc="-5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1100" b="1" dirty="0">
                <a:solidFill>
                  <a:srgbClr val="0D9488"/>
                </a:solidFill>
                <a:latin typeface="Yu Gothic"/>
                <a:cs typeface="Yu Gothic"/>
              </a:rPr>
              <a:t>Advala</a:t>
            </a:r>
            <a:r>
              <a:rPr sz="1100" b="1" spc="-20" dirty="0">
                <a:solidFill>
                  <a:srgbClr val="0D9488"/>
                </a:solidFill>
                <a:latin typeface="Yu Gothic"/>
                <a:cs typeface="Yu Gothic"/>
              </a:rPr>
              <a:t> </a:t>
            </a:r>
            <a:r>
              <a:rPr sz="950" dirty="0">
                <a:solidFill>
                  <a:srgbClr val="0F172A"/>
                </a:solidFill>
                <a:latin typeface="Tahoma"/>
                <a:cs typeface="Tahoma"/>
              </a:rPr>
              <a:t>for </a:t>
            </a:r>
            <a:r>
              <a:rPr sz="950" spc="-10" dirty="0">
                <a:solidFill>
                  <a:srgbClr val="0F172A"/>
                </a:solidFill>
                <a:latin typeface="Tahoma"/>
                <a:cs typeface="Tahoma"/>
              </a:rPr>
              <a:t>invaluable </a:t>
            </a:r>
            <a:r>
              <a:rPr sz="950" spc="20" dirty="0">
                <a:solidFill>
                  <a:srgbClr val="0F172A"/>
                </a:solidFill>
                <a:latin typeface="Tahoma"/>
                <a:cs typeface="Tahoma"/>
              </a:rPr>
              <a:t>guidance</a:t>
            </a:r>
            <a:r>
              <a:rPr sz="950" spc="110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0F172A"/>
                </a:solidFill>
                <a:latin typeface="Tahoma"/>
                <a:cs typeface="Tahoma"/>
              </a:rPr>
              <a:t>and</a:t>
            </a:r>
            <a:r>
              <a:rPr sz="950" spc="10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0F172A"/>
                </a:solidFill>
                <a:latin typeface="Tahoma"/>
                <a:cs typeface="Tahoma"/>
              </a:rPr>
              <a:t>feedback</a:t>
            </a:r>
            <a:r>
              <a:rPr sz="950" spc="10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0F172A"/>
                </a:solidFill>
                <a:latin typeface="Tahoma"/>
                <a:cs typeface="Tahoma"/>
              </a:rPr>
              <a:t>throughout</a:t>
            </a:r>
            <a:r>
              <a:rPr sz="950" spc="105" dirty="0">
                <a:solidFill>
                  <a:srgbClr val="0F172A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0F172A"/>
                </a:solidFill>
                <a:latin typeface="Tahoma"/>
                <a:cs typeface="Tahoma"/>
              </a:rPr>
              <a:t>the </a:t>
            </a:r>
            <a:r>
              <a:rPr sz="950" spc="-10" dirty="0">
                <a:solidFill>
                  <a:srgbClr val="0F172A"/>
                </a:solidFill>
                <a:latin typeface="Tahoma"/>
                <a:cs typeface="Tahoma"/>
              </a:rPr>
              <a:t>course.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96000" y="3657600"/>
            <a:ext cx="2476500" cy="914400"/>
          </a:xfrm>
          <a:custGeom>
            <a:avLst/>
            <a:gdLst/>
            <a:ahLst/>
            <a:cxnLst/>
            <a:rect l="l" t="t" r="r" b="b"/>
            <a:pathLst>
              <a:path w="2476500" h="914400">
                <a:moveTo>
                  <a:pt x="2400302" y="914399"/>
                </a:moveTo>
                <a:lnTo>
                  <a:pt x="76196" y="914399"/>
                </a:lnTo>
                <a:lnTo>
                  <a:pt x="46537" y="908412"/>
                </a:lnTo>
                <a:lnTo>
                  <a:pt x="22317" y="892082"/>
                </a:lnTo>
                <a:lnTo>
                  <a:pt x="5987" y="867862"/>
                </a:lnTo>
                <a:lnTo>
                  <a:pt x="0" y="838202"/>
                </a:lnTo>
                <a:lnTo>
                  <a:pt x="0" y="76196"/>
                </a:ln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196" y="0"/>
                </a:lnTo>
                <a:lnTo>
                  <a:pt x="2400302" y="0"/>
                </a:lnTo>
                <a:lnTo>
                  <a:pt x="2442577" y="12801"/>
                </a:lnTo>
                <a:lnTo>
                  <a:pt x="2470699" y="47037"/>
                </a:lnTo>
                <a:lnTo>
                  <a:pt x="2476499" y="76196"/>
                </a:lnTo>
                <a:lnTo>
                  <a:pt x="2476499" y="838202"/>
                </a:lnTo>
                <a:lnTo>
                  <a:pt x="2470511" y="867862"/>
                </a:lnTo>
                <a:lnTo>
                  <a:pt x="2454182" y="892082"/>
                </a:lnTo>
                <a:lnTo>
                  <a:pt x="2429962" y="908412"/>
                </a:lnTo>
                <a:lnTo>
                  <a:pt x="2400302" y="9143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433799" y="3782822"/>
            <a:ext cx="1798955" cy="5651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70"/>
              </a:spcBef>
            </a:pPr>
            <a:r>
              <a:rPr lang="en-IN" sz="1800" b="1" dirty="0">
                <a:solidFill>
                  <a:srgbClr val="FFFFFF"/>
                </a:solidFill>
                <a:latin typeface="Tahoma"/>
                <a:cs typeface="Tahoma"/>
              </a:rPr>
              <a:t>Thank you</a:t>
            </a:r>
            <a:endParaRPr sz="18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900" spc="10" dirty="0">
                <a:solidFill>
                  <a:srgbClr val="94A3B8"/>
                </a:solidFill>
                <a:latin typeface="Tahoma"/>
                <a:cs typeface="Tahoma"/>
              </a:rPr>
              <a:t>Open</a:t>
            </a:r>
            <a:r>
              <a:rPr sz="900" spc="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94A3B8"/>
                </a:solidFill>
                <a:latin typeface="Tahoma"/>
                <a:cs typeface="Tahoma"/>
              </a:rPr>
              <a:t>for</a:t>
            </a:r>
            <a:r>
              <a:rPr sz="900" spc="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94A3B8"/>
                </a:solidFill>
                <a:latin typeface="Tahoma"/>
                <a:cs typeface="Tahoma"/>
              </a:rPr>
              <a:t>Questions</a:t>
            </a:r>
            <a:r>
              <a:rPr sz="900" spc="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94A3B8"/>
                </a:solidFill>
                <a:latin typeface="Tahoma"/>
                <a:cs typeface="Tahoma"/>
              </a:rPr>
              <a:t>&amp;</a:t>
            </a:r>
            <a:r>
              <a:rPr sz="900" spc="55" dirty="0">
                <a:solidFill>
                  <a:srgbClr val="94A3B8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94A3B8"/>
                </a:solidFill>
                <a:latin typeface="Tahoma"/>
                <a:cs typeface="Tahoma"/>
              </a:rPr>
              <a:t>Discussion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3F7B185-5A06-64B9-86C8-78C936F0932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82" y="0"/>
            <a:ext cx="595318" cy="2805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1030</Words>
  <Application>Microsoft Office PowerPoint</Application>
  <PresentationFormat>On-screen Show (16:9)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Yu Gothic</vt:lpstr>
      <vt:lpstr>Calibri</vt:lpstr>
      <vt:lpstr>Consolas</vt:lpstr>
      <vt:lpstr>Courier New</vt:lpstr>
      <vt:lpstr>Tahoma</vt:lpstr>
      <vt:lpstr>Office Theme</vt:lpstr>
      <vt:lpstr>Pharmacy Prescriptions Medicines stockManagement System</vt:lpstr>
      <vt:lpstr>Systsm 6rchitscturs s Solutions</vt:lpstr>
      <vt:lpstr>End-to-End 3-Tisr Systsm 6rchitscturs</vt:lpstr>
      <vt:lpstr>Rols-Bassd 6ccsss Control (RB6C) Fsaturs Ssgrsgation</vt:lpstr>
      <vt:lpstr>Katabass Normalization Proof</vt:lpstr>
      <vt:lpstr>Enforce PrescriptionRule</vt:lpstr>
      <vt:lpstr>Livs Web demonstration: VIEW, INSERT Operations Pharmacy Management System • Transactional Data Engine</vt:lpstr>
      <vt:lpstr>UPDATE  DELETE Referential Safety</vt:lpstr>
      <vt:lpstr>Conclusion Project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y abhinavsriram</cp:lastModifiedBy>
  <cp:revision>2</cp:revision>
  <dcterms:created xsi:type="dcterms:W3CDTF">2026-10-06T02:29:23Z</dcterms:created>
  <dcterms:modified xsi:type="dcterms:W3CDTF">2026-10-06T02:44:04Z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2026-10-06T00:00:00Z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2026-10-06T00:00:00Z</vt:filetime>
  </property>
</Properties>
</file>