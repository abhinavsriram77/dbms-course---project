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243" y="3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1918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1918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1918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1918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95106"/>
            <a:ext cx="12192000" cy="666289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9300" y="399668"/>
            <a:ext cx="10773409" cy="5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1918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74640"/>
            <a:chOff x="0" y="0"/>
            <a:chExt cx="12192000" cy="68746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31289" y="19815"/>
              <a:ext cx="12052935" cy="6854825"/>
            </a:xfrm>
            <a:custGeom>
              <a:avLst/>
              <a:gdLst/>
              <a:ahLst/>
              <a:cxnLst/>
              <a:rect l="l" t="t" r="r" b="b"/>
              <a:pathLst>
                <a:path w="12052935" h="6854825">
                  <a:moveTo>
                    <a:pt x="12052548" y="6854399"/>
                  </a:moveTo>
                  <a:lnTo>
                    <a:pt x="4908803" y="6854399"/>
                  </a:lnTo>
                  <a:lnTo>
                    <a:pt x="368955" y="2481749"/>
                  </a:lnTo>
                  <a:lnTo>
                    <a:pt x="335413" y="2446925"/>
                  </a:lnTo>
                  <a:lnTo>
                    <a:pt x="303469" y="2411155"/>
                  </a:lnTo>
                  <a:lnTo>
                    <a:pt x="273122" y="2374484"/>
                  </a:lnTo>
                  <a:lnTo>
                    <a:pt x="244373" y="2336959"/>
                  </a:lnTo>
                  <a:lnTo>
                    <a:pt x="217220" y="2298627"/>
                  </a:lnTo>
                  <a:lnTo>
                    <a:pt x="191665" y="2259533"/>
                  </a:lnTo>
                  <a:lnTo>
                    <a:pt x="167706" y="2219724"/>
                  </a:lnTo>
                  <a:lnTo>
                    <a:pt x="145346" y="2179246"/>
                  </a:lnTo>
                  <a:lnTo>
                    <a:pt x="124582" y="2138144"/>
                  </a:lnTo>
                  <a:lnTo>
                    <a:pt x="105415" y="2096465"/>
                  </a:lnTo>
                  <a:lnTo>
                    <a:pt x="87846" y="2054256"/>
                  </a:lnTo>
                  <a:lnTo>
                    <a:pt x="71874" y="2011562"/>
                  </a:lnTo>
                  <a:lnTo>
                    <a:pt x="57499" y="1968429"/>
                  </a:lnTo>
                  <a:lnTo>
                    <a:pt x="44721" y="1924904"/>
                  </a:lnTo>
                  <a:lnTo>
                    <a:pt x="33541" y="1881033"/>
                  </a:lnTo>
                  <a:lnTo>
                    <a:pt x="23958" y="1836862"/>
                  </a:lnTo>
                  <a:lnTo>
                    <a:pt x="15972" y="1792437"/>
                  </a:lnTo>
                  <a:lnTo>
                    <a:pt x="9583" y="1747804"/>
                  </a:lnTo>
                  <a:lnTo>
                    <a:pt x="4791" y="1703010"/>
                  </a:lnTo>
                  <a:lnTo>
                    <a:pt x="1597" y="1658100"/>
                  </a:lnTo>
                  <a:lnTo>
                    <a:pt x="0" y="1613121"/>
                  </a:lnTo>
                  <a:lnTo>
                    <a:pt x="0" y="1568119"/>
                  </a:lnTo>
                  <a:lnTo>
                    <a:pt x="1597" y="1523140"/>
                  </a:lnTo>
                  <a:lnTo>
                    <a:pt x="4791" y="1478231"/>
                  </a:lnTo>
                  <a:lnTo>
                    <a:pt x="9583" y="1433436"/>
                  </a:lnTo>
                  <a:lnTo>
                    <a:pt x="15972" y="1388804"/>
                  </a:lnTo>
                  <a:lnTo>
                    <a:pt x="23958" y="1344379"/>
                  </a:lnTo>
                  <a:lnTo>
                    <a:pt x="33541" y="1300207"/>
                  </a:lnTo>
                  <a:lnTo>
                    <a:pt x="44721" y="1256336"/>
                  </a:lnTo>
                  <a:lnTo>
                    <a:pt x="57499" y="1212811"/>
                  </a:lnTo>
                  <a:lnTo>
                    <a:pt x="71874" y="1169679"/>
                  </a:lnTo>
                  <a:lnTo>
                    <a:pt x="87846" y="1126985"/>
                  </a:lnTo>
                  <a:lnTo>
                    <a:pt x="105415" y="1084775"/>
                  </a:lnTo>
                  <a:lnTo>
                    <a:pt x="124582" y="1043096"/>
                  </a:lnTo>
                  <a:lnTo>
                    <a:pt x="145346" y="1001995"/>
                  </a:lnTo>
                  <a:lnTo>
                    <a:pt x="167706" y="961516"/>
                  </a:lnTo>
                  <a:lnTo>
                    <a:pt x="191665" y="921707"/>
                  </a:lnTo>
                  <a:lnTo>
                    <a:pt x="217220" y="882613"/>
                  </a:lnTo>
                  <a:lnTo>
                    <a:pt x="244373" y="844281"/>
                  </a:lnTo>
                  <a:lnTo>
                    <a:pt x="273122" y="806756"/>
                  </a:lnTo>
                  <a:lnTo>
                    <a:pt x="303469" y="770086"/>
                  </a:lnTo>
                  <a:lnTo>
                    <a:pt x="335413" y="734315"/>
                  </a:lnTo>
                  <a:lnTo>
                    <a:pt x="368955" y="699491"/>
                  </a:lnTo>
                  <a:lnTo>
                    <a:pt x="1068455" y="0"/>
                  </a:lnTo>
                  <a:lnTo>
                    <a:pt x="12052548" y="0"/>
                  </a:lnTo>
                  <a:lnTo>
                    <a:pt x="12052548" y="6854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845638" y="291084"/>
              <a:ext cx="1184275" cy="1186180"/>
            </a:xfrm>
            <a:custGeom>
              <a:avLst/>
              <a:gdLst/>
              <a:ahLst/>
              <a:cxnLst/>
              <a:rect l="l" t="t" r="r" b="b"/>
              <a:pathLst>
                <a:path w="1184275" h="1186180">
                  <a:moveTo>
                    <a:pt x="615834" y="1185939"/>
                  </a:moveTo>
                  <a:lnTo>
                    <a:pt x="568342" y="1185939"/>
                  </a:lnTo>
                  <a:lnTo>
                    <a:pt x="522655" y="1171404"/>
                  </a:lnTo>
                  <a:lnTo>
                    <a:pt x="482388" y="1142332"/>
                  </a:lnTo>
                  <a:lnTo>
                    <a:pt x="43625" y="703565"/>
                  </a:lnTo>
                  <a:lnTo>
                    <a:pt x="14541" y="663301"/>
                  </a:lnTo>
                  <a:lnTo>
                    <a:pt x="0" y="617619"/>
                  </a:lnTo>
                  <a:lnTo>
                    <a:pt x="0" y="570132"/>
                  </a:lnTo>
                  <a:lnTo>
                    <a:pt x="14541" y="524450"/>
                  </a:lnTo>
                  <a:lnTo>
                    <a:pt x="43625" y="484186"/>
                  </a:lnTo>
                  <a:lnTo>
                    <a:pt x="482388" y="45439"/>
                  </a:lnTo>
                  <a:lnTo>
                    <a:pt x="533709" y="11359"/>
                  </a:lnTo>
                  <a:lnTo>
                    <a:pt x="592088" y="0"/>
                  </a:lnTo>
                  <a:lnTo>
                    <a:pt x="621721" y="2839"/>
                  </a:lnTo>
                  <a:lnTo>
                    <a:pt x="677449" y="25559"/>
                  </a:lnTo>
                  <a:lnTo>
                    <a:pt x="1140551" y="484186"/>
                  </a:lnTo>
                  <a:lnTo>
                    <a:pt x="1169634" y="524450"/>
                  </a:lnTo>
                  <a:lnTo>
                    <a:pt x="1184176" y="570132"/>
                  </a:lnTo>
                  <a:lnTo>
                    <a:pt x="1184176" y="617619"/>
                  </a:lnTo>
                  <a:lnTo>
                    <a:pt x="1169634" y="663301"/>
                  </a:lnTo>
                  <a:lnTo>
                    <a:pt x="1140551" y="703565"/>
                  </a:lnTo>
                  <a:lnTo>
                    <a:pt x="701789" y="1142332"/>
                  </a:lnTo>
                  <a:lnTo>
                    <a:pt x="661521" y="1171404"/>
                  </a:lnTo>
                  <a:lnTo>
                    <a:pt x="615834" y="1185939"/>
                  </a:lnTo>
                  <a:close/>
                </a:path>
              </a:pathLst>
            </a:custGeom>
            <a:solidFill>
              <a:srgbClr val="FFC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837862" y="482472"/>
              <a:ext cx="1184275" cy="1186180"/>
            </a:xfrm>
            <a:custGeom>
              <a:avLst/>
              <a:gdLst/>
              <a:ahLst/>
              <a:cxnLst/>
              <a:rect l="l" t="t" r="r" b="b"/>
              <a:pathLst>
                <a:path w="1184275" h="1186180">
                  <a:moveTo>
                    <a:pt x="615834" y="1186108"/>
                  </a:moveTo>
                  <a:lnTo>
                    <a:pt x="568342" y="1186108"/>
                  </a:lnTo>
                  <a:lnTo>
                    <a:pt x="522655" y="1171565"/>
                  </a:lnTo>
                  <a:lnTo>
                    <a:pt x="482388" y="1142480"/>
                  </a:lnTo>
                  <a:lnTo>
                    <a:pt x="43625" y="703678"/>
                  </a:lnTo>
                  <a:lnTo>
                    <a:pt x="14541" y="663407"/>
                  </a:lnTo>
                  <a:lnTo>
                    <a:pt x="0" y="617716"/>
                  </a:lnTo>
                  <a:lnTo>
                    <a:pt x="0" y="570219"/>
                  </a:lnTo>
                  <a:lnTo>
                    <a:pt x="14541" y="524528"/>
                  </a:lnTo>
                  <a:lnTo>
                    <a:pt x="43625" y="484257"/>
                  </a:lnTo>
                  <a:lnTo>
                    <a:pt x="482388" y="45446"/>
                  </a:lnTo>
                  <a:lnTo>
                    <a:pt x="533709" y="11361"/>
                  </a:lnTo>
                  <a:lnTo>
                    <a:pt x="592088" y="0"/>
                  </a:lnTo>
                  <a:lnTo>
                    <a:pt x="621721" y="2840"/>
                  </a:lnTo>
                  <a:lnTo>
                    <a:pt x="677449" y="25563"/>
                  </a:lnTo>
                  <a:lnTo>
                    <a:pt x="1140551" y="484257"/>
                  </a:lnTo>
                  <a:lnTo>
                    <a:pt x="1169634" y="524528"/>
                  </a:lnTo>
                  <a:lnTo>
                    <a:pt x="1184176" y="570219"/>
                  </a:lnTo>
                  <a:lnTo>
                    <a:pt x="1184176" y="617716"/>
                  </a:lnTo>
                  <a:lnTo>
                    <a:pt x="1169634" y="663407"/>
                  </a:lnTo>
                  <a:lnTo>
                    <a:pt x="1140551" y="703678"/>
                  </a:lnTo>
                  <a:lnTo>
                    <a:pt x="701789" y="1142480"/>
                  </a:lnTo>
                  <a:lnTo>
                    <a:pt x="661521" y="1171565"/>
                  </a:lnTo>
                  <a:lnTo>
                    <a:pt x="615834" y="11861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830086" y="417021"/>
              <a:ext cx="1184275" cy="1186180"/>
            </a:xfrm>
            <a:custGeom>
              <a:avLst/>
              <a:gdLst/>
              <a:ahLst/>
              <a:cxnLst/>
              <a:rect l="l" t="t" r="r" b="b"/>
              <a:pathLst>
                <a:path w="1184275" h="1186180">
                  <a:moveTo>
                    <a:pt x="592088" y="0"/>
                  </a:moveTo>
                  <a:lnTo>
                    <a:pt x="650467" y="11361"/>
                  </a:lnTo>
                  <a:lnTo>
                    <a:pt x="701789" y="45446"/>
                  </a:lnTo>
                  <a:lnTo>
                    <a:pt x="1140551" y="484257"/>
                  </a:lnTo>
                  <a:lnTo>
                    <a:pt x="1169634" y="524528"/>
                  </a:lnTo>
                  <a:lnTo>
                    <a:pt x="1184176" y="570219"/>
                  </a:lnTo>
                  <a:lnTo>
                    <a:pt x="1184176" y="617716"/>
                  </a:lnTo>
                  <a:lnTo>
                    <a:pt x="1169634" y="663407"/>
                  </a:lnTo>
                  <a:lnTo>
                    <a:pt x="1140551" y="703678"/>
                  </a:lnTo>
                  <a:lnTo>
                    <a:pt x="701789" y="1142480"/>
                  </a:lnTo>
                  <a:lnTo>
                    <a:pt x="661521" y="1171565"/>
                  </a:lnTo>
                  <a:lnTo>
                    <a:pt x="615834" y="1186108"/>
                  </a:lnTo>
                  <a:lnTo>
                    <a:pt x="568342" y="1186108"/>
                  </a:lnTo>
                  <a:lnTo>
                    <a:pt x="522655" y="1171565"/>
                  </a:lnTo>
                  <a:lnTo>
                    <a:pt x="482388" y="1142480"/>
                  </a:lnTo>
                  <a:lnTo>
                    <a:pt x="43625" y="703678"/>
                  </a:lnTo>
                  <a:lnTo>
                    <a:pt x="14541" y="663407"/>
                  </a:lnTo>
                  <a:lnTo>
                    <a:pt x="0" y="617716"/>
                  </a:lnTo>
                  <a:lnTo>
                    <a:pt x="0" y="570219"/>
                  </a:lnTo>
                  <a:lnTo>
                    <a:pt x="14541" y="524528"/>
                  </a:lnTo>
                  <a:lnTo>
                    <a:pt x="43625" y="484257"/>
                  </a:lnTo>
                  <a:lnTo>
                    <a:pt x="482388" y="45446"/>
                  </a:lnTo>
                  <a:lnTo>
                    <a:pt x="533709" y="11361"/>
                  </a:lnTo>
                  <a:lnTo>
                    <a:pt x="592088" y="0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987800" y="1171421"/>
            <a:ext cx="7310755" cy="107569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950" spc="114" dirty="0"/>
              <a:t>Pharmacy</a:t>
            </a:r>
            <a:r>
              <a:rPr sz="2950" spc="-10" dirty="0"/>
              <a:t> </a:t>
            </a:r>
            <a:r>
              <a:rPr sz="2950" spc="70" dirty="0"/>
              <a:t>Prescription</a:t>
            </a:r>
            <a:r>
              <a:rPr sz="2950" spc="-5" dirty="0"/>
              <a:t> </a:t>
            </a:r>
            <a:r>
              <a:rPr sz="2950" spc="95" dirty="0"/>
              <a:t>and</a:t>
            </a:r>
            <a:endParaRPr sz="2950" dirty="0"/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950" spc="105" dirty="0"/>
              <a:t>Medicine</a:t>
            </a:r>
            <a:r>
              <a:rPr sz="2950" spc="-20" dirty="0"/>
              <a:t> </a:t>
            </a:r>
            <a:r>
              <a:rPr sz="2950" spc="80" dirty="0"/>
              <a:t>Stock</a:t>
            </a:r>
            <a:r>
              <a:rPr sz="2950" spc="-15" dirty="0"/>
              <a:t> </a:t>
            </a:r>
            <a:r>
              <a:rPr sz="2950" spc="125" dirty="0"/>
              <a:t>Management</a:t>
            </a:r>
            <a:r>
              <a:rPr sz="2950" spc="-15" dirty="0"/>
              <a:t> </a:t>
            </a:r>
            <a:r>
              <a:rPr sz="2950" spc="60" dirty="0"/>
              <a:t>System</a:t>
            </a:r>
            <a:endParaRPr sz="2950" dirty="0"/>
          </a:p>
        </p:txBody>
      </p:sp>
      <p:grpSp>
        <p:nvGrpSpPr>
          <p:cNvPr id="9" name="object 9"/>
          <p:cNvGrpSpPr/>
          <p:nvPr/>
        </p:nvGrpSpPr>
        <p:grpSpPr>
          <a:xfrm>
            <a:off x="4000500" y="2667000"/>
            <a:ext cx="7429500" cy="3095625"/>
            <a:chOff x="4000500" y="2667000"/>
            <a:chExt cx="7429500" cy="3095625"/>
          </a:xfrm>
        </p:grpSpPr>
        <p:sp>
          <p:nvSpPr>
            <p:cNvPr id="10" name="object 10"/>
            <p:cNvSpPr/>
            <p:nvPr/>
          </p:nvSpPr>
          <p:spPr>
            <a:xfrm>
              <a:off x="4000500" y="2667000"/>
              <a:ext cx="7429500" cy="38100"/>
            </a:xfrm>
            <a:custGeom>
              <a:avLst/>
              <a:gdLst/>
              <a:ahLst/>
              <a:cxnLst/>
              <a:rect l="l" t="t" r="r" b="b"/>
              <a:pathLst>
                <a:path w="7429500" h="38100">
                  <a:moveTo>
                    <a:pt x="7410449" y="38099"/>
                  </a:moveTo>
                  <a:lnTo>
                    <a:pt x="19049" y="38099"/>
                  </a:lnTo>
                  <a:lnTo>
                    <a:pt x="11634" y="36602"/>
                  </a:lnTo>
                  <a:lnTo>
                    <a:pt x="5579" y="32520"/>
                  </a:lnTo>
                  <a:lnTo>
                    <a:pt x="1497" y="26465"/>
                  </a:lnTo>
                  <a:lnTo>
                    <a:pt x="0" y="19049"/>
                  </a:lnTo>
                  <a:lnTo>
                    <a:pt x="1497" y="11634"/>
                  </a:lnTo>
                  <a:lnTo>
                    <a:pt x="5579" y="5579"/>
                  </a:lnTo>
                  <a:lnTo>
                    <a:pt x="11634" y="1497"/>
                  </a:lnTo>
                  <a:lnTo>
                    <a:pt x="19049" y="0"/>
                  </a:lnTo>
                  <a:lnTo>
                    <a:pt x="7415502" y="0"/>
                  </a:lnTo>
                  <a:lnTo>
                    <a:pt x="7420347" y="2006"/>
                  </a:lnTo>
                  <a:lnTo>
                    <a:pt x="7427492" y="9152"/>
                  </a:lnTo>
                  <a:lnTo>
                    <a:pt x="7429499" y="13997"/>
                  </a:lnTo>
                  <a:lnTo>
                    <a:pt x="7429499" y="19049"/>
                  </a:lnTo>
                  <a:lnTo>
                    <a:pt x="7428002" y="26465"/>
                  </a:lnTo>
                  <a:lnTo>
                    <a:pt x="7423920" y="32520"/>
                  </a:lnTo>
                  <a:lnTo>
                    <a:pt x="7417865" y="36602"/>
                  </a:lnTo>
                  <a:lnTo>
                    <a:pt x="7410449" y="38099"/>
                  </a:lnTo>
                  <a:close/>
                </a:path>
              </a:pathLst>
            </a:custGeom>
            <a:solidFill>
              <a:srgbClr val="02C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00500" y="4048125"/>
              <a:ext cx="3524885" cy="1714500"/>
            </a:xfrm>
            <a:custGeom>
              <a:avLst/>
              <a:gdLst/>
              <a:ahLst/>
              <a:cxnLst/>
              <a:rect l="l" t="t" r="r" b="b"/>
              <a:pathLst>
                <a:path w="3524884" h="1714500">
                  <a:moveTo>
                    <a:pt x="3410111" y="1714499"/>
                  </a:moveTo>
                  <a:lnTo>
                    <a:pt x="114288" y="1714499"/>
                  </a:lnTo>
                  <a:lnTo>
                    <a:pt x="69802" y="1705518"/>
                  </a:lnTo>
                  <a:lnTo>
                    <a:pt x="33474" y="1681025"/>
                  </a:lnTo>
                  <a:lnTo>
                    <a:pt x="8981" y="1644697"/>
                  </a:lnTo>
                  <a:lnTo>
                    <a:pt x="0" y="1600211"/>
                  </a:lnTo>
                  <a:lnTo>
                    <a:pt x="0" y="114288"/>
                  </a:ln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3410111" y="0"/>
                  </a:lnTo>
                  <a:lnTo>
                    <a:pt x="3453847" y="8699"/>
                  </a:lnTo>
                  <a:lnTo>
                    <a:pt x="3490925" y="33474"/>
                  </a:lnTo>
                  <a:lnTo>
                    <a:pt x="3515700" y="70552"/>
                  </a:lnTo>
                  <a:lnTo>
                    <a:pt x="3524399" y="114288"/>
                  </a:lnTo>
                  <a:lnTo>
                    <a:pt x="3524399" y="1600211"/>
                  </a:lnTo>
                  <a:lnTo>
                    <a:pt x="3515418" y="1644697"/>
                  </a:lnTo>
                  <a:lnTo>
                    <a:pt x="3490925" y="1681025"/>
                  </a:lnTo>
                  <a:lnTo>
                    <a:pt x="3454597" y="1705518"/>
                  </a:lnTo>
                  <a:lnTo>
                    <a:pt x="3410111" y="17144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00500" y="4048125"/>
              <a:ext cx="57785" cy="1714500"/>
            </a:xfrm>
            <a:custGeom>
              <a:avLst/>
              <a:gdLst/>
              <a:ahLst/>
              <a:cxnLst/>
              <a:rect l="l" t="t" r="r" b="b"/>
              <a:pathLst>
                <a:path w="57785" h="1714500">
                  <a:moveTo>
                    <a:pt x="28649" y="1714499"/>
                  </a:moveTo>
                  <a:lnTo>
                    <a:pt x="17498" y="1712248"/>
                  </a:lnTo>
                  <a:lnTo>
                    <a:pt x="8391" y="1706108"/>
                  </a:lnTo>
                  <a:lnTo>
                    <a:pt x="2251" y="1697001"/>
                  </a:lnTo>
                  <a:lnTo>
                    <a:pt x="0" y="1685849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36248" y="0"/>
                  </a:lnTo>
                  <a:lnTo>
                    <a:pt x="43535" y="3018"/>
                  </a:lnTo>
                  <a:lnTo>
                    <a:pt x="54281" y="13764"/>
                  </a:lnTo>
                  <a:lnTo>
                    <a:pt x="57299" y="21051"/>
                  </a:lnTo>
                  <a:lnTo>
                    <a:pt x="57299" y="1685849"/>
                  </a:lnTo>
                  <a:lnTo>
                    <a:pt x="55048" y="1697001"/>
                  </a:lnTo>
                  <a:lnTo>
                    <a:pt x="48908" y="1706108"/>
                  </a:lnTo>
                  <a:lnTo>
                    <a:pt x="39801" y="1712248"/>
                  </a:lnTo>
                  <a:lnTo>
                    <a:pt x="28649" y="1714499"/>
                  </a:lnTo>
                  <a:close/>
                </a:path>
              </a:pathLst>
            </a:custGeom>
            <a:solidFill>
              <a:srgbClr val="019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987800" y="2882265"/>
            <a:ext cx="68853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2C1BB"/>
                </a:solidFill>
                <a:latin typeface="Tahoma"/>
                <a:cs typeface="Tahoma"/>
              </a:rPr>
              <a:t>Review</a:t>
            </a:r>
            <a:r>
              <a:rPr sz="2000" b="1" spc="160" dirty="0">
                <a:solidFill>
                  <a:srgbClr val="02C1BB"/>
                </a:solidFill>
                <a:latin typeface="Tahoma"/>
                <a:cs typeface="Tahoma"/>
              </a:rPr>
              <a:t> </a:t>
            </a:r>
            <a:r>
              <a:rPr sz="2000" b="1" spc="-155" dirty="0">
                <a:solidFill>
                  <a:srgbClr val="02C1BB"/>
                </a:solidFill>
                <a:latin typeface="Tahoma"/>
                <a:cs typeface="Tahoma"/>
              </a:rPr>
              <a:t>2:</a:t>
            </a:r>
            <a:r>
              <a:rPr sz="2000" b="1" spc="160" dirty="0">
                <a:solidFill>
                  <a:srgbClr val="02C1BB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02C1BB"/>
                </a:solidFill>
                <a:latin typeface="Tahoma"/>
                <a:cs typeface="Tahoma"/>
              </a:rPr>
              <a:t>Relational</a:t>
            </a:r>
            <a:r>
              <a:rPr sz="2000" b="1" spc="160" dirty="0">
                <a:solidFill>
                  <a:srgbClr val="02C1BB"/>
                </a:solidFill>
                <a:latin typeface="Tahoma"/>
                <a:cs typeface="Tahoma"/>
              </a:rPr>
              <a:t> </a:t>
            </a:r>
            <a:r>
              <a:rPr sz="2000" b="1" spc="50" dirty="0">
                <a:solidFill>
                  <a:srgbClr val="02C1BB"/>
                </a:solidFill>
                <a:latin typeface="Tahoma"/>
                <a:cs typeface="Tahoma"/>
              </a:rPr>
              <a:t>Schema,</a:t>
            </a:r>
            <a:r>
              <a:rPr sz="2000" b="1" spc="160" dirty="0">
                <a:solidFill>
                  <a:srgbClr val="02C1BB"/>
                </a:solidFill>
                <a:latin typeface="Tahoma"/>
                <a:cs typeface="Tahoma"/>
              </a:rPr>
              <a:t> </a:t>
            </a:r>
            <a:r>
              <a:rPr sz="2000" b="1" dirty="0">
                <a:solidFill>
                  <a:srgbClr val="02C1BB"/>
                </a:solidFill>
                <a:latin typeface="Tahoma"/>
                <a:cs typeface="Tahoma"/>
              </a:rPr>
              <a:t>Normalization</a:t>
            </a:r>
            <a:r>
              <a:rPr sz="2000" b="1" spc="165" dirty="0">
                <a:solidFill>
                  <a:srgbClr val="02C1BB"/>
                </a:solidFill>
                <a:latin typeface="Tahoma"/>
                <a:cs typeface="Tahoma"/>
              </a:rPr>
              <a:t> </a:t>
            </a:r>
            <a:r>
              <a:rPr sz="2000" b="1" spc="-55" dirty="0">
                <a:solidFill>
                  <a:srgbClr val="02C1BB"/>
                </a:solidFill>
                <a:latin typeface="Tahoma"/>
                <a:cs typeface="Tahoma"/>
              </a:rPr>
              <a:t>(3NF)</a:t>
            </a:r>
            <a:r>
              <a:rPr sz="2000" b="1" spc="160" dirty="0">
                <a:solidFill>
                  <a:srgbClr val="02C1BB"/>
                </a:solidFill>
                <a:latin typeface="Tahoma"/>
                <a:cs typeface="Tahoma"/>
              </a:rPr>
              <a:t> </a:t>
            </a:r>
            <a:r>
              <a:rPr sz="2000" b="1" spc="-50" dirty="0">
                <a:solidFill>
                  <a:srgbClr val="02C1BB"/>
                </a:solidFill>
                <a:latin typeface="Tahoma"/>
                <a:cs typeface="Tahoma"/>
              </a:rPr>
              <a:t>&amp; </a:t>
            </a:r>
            <a:r>
              <a:rPr sz="2000" b="1" spc="80" dirty="0">
                <a:solidFill>
                  <a:srgbClr val="02C1BB"/>
                </a:solidFill>
                <a:latin typeface="Tahoma"/>
                <a:cs typeface="Tahoma"/>
              </a:rPr>
              <a:t>Schema</a:t>
            </a:r>
            <a:r>
              <a:rPr sz="2000" b="1" spc="-10" dirty="0">
                <a:solidFill>
                  <a:srgbClr val="02C1BB"/>
                </a:solidFill>
                <a:latin typeface="Tahoma"/>
                <a:cs typeface="Tahoma"/>
              </a:rPr>
              <a:t> Integrity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25925" y="4131727"/>
            <a:ext cx="1777364" cy="84899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b="1" spc="-10" dirty="0">
                <a:solidFill>
                  <a:srgbClr val="01918C"/>
                </a:solidFill>
                <a:latin typeface="Tahoma"/>
                <a:cs typeface="Tahoma"/>
              </a:rPr>
              <a:t>Presenter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spc="-55" dirty="0">
                <a:solidFill>
                  <a:srgbClr val="3E3E3E"/>
                </a:solidFill>
                <a:latin typeface="Tahoma"/>
                <a:cs typeface="Tahoma"/>
              </a:rPr>
              <a:t>Y.</a:t>
            </a:r>
            <a:r>
              <a:rPr sz="1400" b="1" spc="-35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400" b="1" spc="50" dirty="0">
                <a:solidFill>
                  <a:srgbClr val="3E3E3E"/>
                </a:solidFill>
                <a:latin typeface="Tahoma"/>
                <a:cs typeface="Tahoma"/>
              </a:rPr>
              <a:t>Abhinav</a:t>
            </a:r>
            <a:r>
              <a:rPr sz="1400" b="1" spc="-30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3E3E3E"/>
                </a:solidFill>
                <a:latin typeface="Tahoma"/>
                <a:cs typeface="Tahoma"/>
              </a:rPr>
              <a:t>Sri</a:t>
            </a:r>
            <a:r>
              <a:rPr sz="1400" b="1" spc="-35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400" b="1" spc="25" dirty="0">
                <a:solidFill>
                  <a:srgbClr val="3E3E3E"/>
                </a:solidFill>
                <a:latin typeface="Tahoma"/>
                <a:cs typeface="Tahoma"/>
              </a:rPr>
              <a:t>Ram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200" spc="-135" dirty="0">
                <a:solidFill>
                  <a:srgbClr val="595959"/>
                </a:solidFill>
                <a:latin typeface="Verdana"/>
                <a:cs typeface="Verdana"/>
              </a:rPr>
              <a:t>ID:</a:t>
            </a:r>
            <a:r>
              <a:rPr sz="1200" spc="-85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595959"/>
                </a:solidFill>
                <a:latin typeface="Verdana"/>
                <a:cs typeface="Verdana"/>
              </a:rPr>
              <a:t>25WU0101158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715250" y="4048125"/>
            <a:ext cx="3715385" cy="1714500"/>
            <a:chOff x="7715250" y="4048125"/>
            <a:chExt cx="3715385" cy="1714500"/>
          </a:xfrm>
        </p:grpSpPr>
        <p:sp>
          <p:nvSpPr>
            <p:cNvPr id="16" name="object 16"/>
            <p:cNvSpPr/>
            <p:nvPr/>
          </p:nvSpPr>
          <p:spPr>
            <a:xfrm>
              <a:off x="7715250" y="4048125"/>
              <a:ext cx="3715385" cy="1714500"/>
            </a:xfrm>
            <a:custGeom>
              <a:avLst/>
              <a:gdLst/>
              <a:ahLst/>
              <a:cxnLst/>
              <a:rect l="l" t="t" r="r" b="b"/>
              <a:pathLst>
                <a:path w="3715384" h="1714500">
                  <a:moveTo>
                    <a:pt x="3600611" y="1714499"/>
                  </a:moveTo>
                  <a:lnTo>
                    <a:pt x="114288" y="1714499"/>
                  </a:lnTo>
                  <a:lnTo>
                    <a:pt x="69802" y="1705518"/>
                  </a:lnTo>
                  <a:lnTo>
                    <a:pt x="33474" y="1681025"/>
                  </a:lnTo>
                  <a:lnTo>
                    <a:pt x="8981" y="1644697"/>
                  </a:lnTo>
                  <a:lnTo>
                    <a:pt x="0" y="1600211"/>
                  </a:lnTo>
                  <a:lnTo>
                    <a:pt x="0" y="114288"/>
                  </a:lnTo>
                  <a:lnTo>
                    <a:pt x="8981" y="69802"/>
                  </a:lnTo>
                  <a:lnTo>
                    <a:pt x="33474" y="33474"/>
                  </a:lnTo>
                  <a:lnTo>
                    <a:pt x="69802" y="8981"/>
                  </a:lnTo>
                  <a:lnTo>
                    <a:pt x="114288" y="0"/>
                  </a:lnTo>
                  <a:lnTo>
                    <a:pt x="3600611" y="0"/>
                  </a:lnTo>
                  <a:lnTo>
                    <a:pt x="3644347" y="8699"/>
                  </a:lnTo>
                  <a:lnTo>
                    <a:pt x="3681425" y="33474"/>
                  </a:lnTo>
                  <a:lnTo>
                    <a:pt x="3706200" y="70552"/>
                  </a:lnTo>
                  <a:lnTo>
                    <a:pt x="3714899" y="114288"/>
                  </a:lnTo>
                  <a:lnTo>
                    <a:pt x="3714899" y="1600211"/>
                  </a:lnTo>
                  <a:lnTo>
                    <a:pt x="3705918" y="1644697"/>
                  </a:lnTo>
                  <a:lnTo>
                    <a:pt x="3681425" y="1681025"/>
                  </a:lnTo>
                  <a:lnTo>
                    <a:pt x="3645097" y="1705518"/>
                  </a:lnTo>
                  <a:lnTo>
                    <a:pt x="3600611" y="17144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715250" y="4048125"/>
              <a:ext cx="57785" cy="1714500"/>
            </a:xfrm>
            <a:custGeom>
              <a:avLst/>
              <a:gdLst/>
              <a:ahLst/>
              <a:cxnLst/>
              <a:rect l="l" t="t" r="r" b="b"/>
              <a:pathLst>
                <a:path w="57784" h="1714500">
                  <a:moveTo>
                    <a:pt x="28649" y="1714499"/>
                  </a:moveTo>
                  <a:lnTo>
                    <a:pt x="17498" y="1712248"/>
                  </a:lnTo>
                  <a:lnTo>
                    <a:pt x="8391" y="1706108"/>
                  </a:lnTo>
                  <a:lnTo>
                    <a:pt x="2251" y="1697001"/>
                  </a:lnTo>
                  <a:lnTo>
                    <a:pt x="0" y="1685849"/>
                  </a:lnTo>
                  <a:lnTo>
                    <a:pt x="0" y="28649"/>
                  </a:lnTo>
                  <a:lnTo>
                    <a:pt x="2251" y="17498"/>
                  </a:lnTo>
                  <a:lnTo>
                    <a:pt x="8391" y="8391"/>
                  </a:lnTo>
                  <a:lnTo>
                    <a:pt x="17498" y="2251"/>
                  </a:lnTo>
                  <a:lnTo>
                    <a:pt x="28649" y="0"/>
                  </a:lnTo>
                  <a:lnTo>
                    <a:pt x="36248" y="0"/>
                  </a:lnTo>
                  <a:lnTo>
                    <a:pt x="43535" y="3018"/>
                  </a:lnTo>
                  <a:lnTo>
                    <a:pt x="54281" y="13764"/>
                  </a:lnTo>
                  <a:lnTo>
                    <a:pt x="57299" y="21051"/>
                  </a:lnTo>
                  <a:lnTo>
                    <a:pt x="57299" y="1685849"/>
                  </a:lnTo>
                  <a:lnTo>
                    <a:pt x="55048" y="1697001"/>
                  </a:lnTo>
                  <a:lnTo>
                    <a:pt x="48908" y="1706108"/>
                  </a:lnTo>
                  <a:lnTo>
                    <a:pt x="39801" y="1712248"/>
                  </a:lnTo>
                  <a:lnTo>
                    <a:pt x="28649" y="1714499"/>
                  </a:lnTo>
                  <a:close/>
                </a:path>
              </a:pathLst>
            </a:custGeom>
            <a:solidFill>
              <a:srgbClr val="FFC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940675" y="4131727"/>
            <a:ext cx="3018790" cy="84899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100" b="1" dirty="0">
                <a:solidFill>
                  <a:srgbClr val="01918C"/>
                </a:solidFill>
                <a:latin typeface="Tahoma"/>
                <a:cs typeface="Tahoma"/>
              </a:rPr>
              <a:t>Faculty</a:t>
            </a:r>
            <a:r>
              <a:rPr sz="1100" b="1" spc="15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01918C"/>
                </a:solidFill>
                <a:latin typeface="Tahoma"/>
                <a:cs typeface="Tahoma"/>
              </a:rPr>
              <a:t>Evaluator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sz="1400" b="1" dirty="0">
                <a:solidFill>
                  <a:srgbClr val="3E3E3E"/>
                </a:solidFill>
                <a:latin typeface="Tahoma"/>
                <a:cs typeface="Tahoma"/>
              </a:rPr>
              <a:t>Dr.</a:t>
            </a:r>
            <a:r>
              <a:rPr sz="1400" b="1" spc="65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3E3E3E"/>
                </a:solidFill>
                <a:latin typeface="Tahoma"/>
                <a:cs typeface="Tahoma"/>
              </a:rPr>
              <a:t>Kiran</a:t>
            </a:r>
            <a:r>
              <a:rPr sz="1400" b="1" spc="70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3E3E3E"/>
                </a:solidFill>
                <a:latin typeface="Tahoma"/>
                <a:cs typeface="Tahoma"/>
              </a:rPr>
              <a:t>Mayee</a:t>
            </a:r>
            <a:r>
              <a:rPr sz="1400" b="1" spc="70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3E3E3E"/>
                </a:solidFill>
                <a:latin typeface="Tahoma"/>
                <a:cs typeface="Tahoma"/>
              </a:rPr>
              <a:t>Advala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200" spc="-10" dirty="0">
                <a:solidFill>
                  <a:srgbClr val="595959"/>
                </a:solidFill>
                <a:latin typeface="Verdana"/>
                <a:cs typeface="Verdana"/>
              </a:rPr>
              <a:t>Woxsen</a:t>
            </a:r>
            <a:r>
              <a:rPr sz="1200" spc="-5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595959"/>
                </a:solidFill>
                <a:latin typeface="Verdana"/>
                <a:cs typeface="Verdana"/>
              </a:rPr>
              <a:t>University</a:t>
            </a:r>
            <a:r>
              <a:rPr sz="1200" spc="-45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200" spc="-175" dirty="0">
                <a:solidFill>
                  <a:srgbClr val="595959"/>
                </a:solidFill>
                <a:latin typeface="Verdana"/>
                <a:cs typeface="Verdana"/>
              </a:rPr>
              <a:t>–</a:t>
            </a:r>
            <a:r>
              <a:rPr sz="1200" spc="-45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595959"/>
                </a:solidFill>
                <a:latin typeface="Verdana"/>
                <a:cs typeface="Verdana"/>
              </a:rPr>
              <a:t>B.Tech</a:t>
            </a:r>
            <a:r>
              <a:rPr sz="1200" spc="-5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200" spc="-100" dirty="0">
                <a:solidFill>
                  <a:srgbClr val="595959"/>
                </a:solidFill>
                <a:latin typeface="Verdana"/>
                <a:cs typeface="Verdana"/>
              </a:rPr>
              <a:t>(2025–</a:t>
            </a:r>
            <a:r>
              <a:rPr sz="1200" spc="-40" dirty="0">
                <a:solidFill>
                  <a:srgbClr val="595959"/>
                </a:solidFill>
                <a:latin typeface="Verdana"/>
                <a:cs typeface="Verdana"/>
              </a:rPr>
              <a:t>2029)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2" name="Freeform 32">
            <a:extLst>
              <a:ext uri="{FF2B5EF4-FFF2-40B4-BE49-F238E27FC236}">
                <a16:creationId xmlns:a16="http://schemas.microsoft.com/office/drawing/2014/main" id="{E2EACDF2-F6B1-D5D0-6BF9-6D34C42C77AA}"/>
              </a:ext>
            </a:extLst>
          </p:cNvPr>
          <p:cNvSpPr/>
          <p:nvPr/>
        </p:nvSpPr>
        <p:spPr>
          <a:xfrm>
            <a:off x="11201400" y="66339"/>
            <a:ext cx="982824" cy="285231"/>
          </a:xfrm>
          <a:custGeom>
            <a:avLst/>
            <a:gdLst/>
            <a:ahLst/>
            <a:cxnLst/>
            <a:rect l="l" t="t" r="r" b="b"/>
            <a:pathLst>
              <a:path w="1299612" h="703776">
                <a:moveTo>
                  <a:pt x="0" y="0"/>
                </a:moveTo>
                <a:lnTo>
                  <a:pt x="1299612" y="0"/>
                </a:lnTo>
                <a:lnTo>
                  <a:pt x="1299612" y="703776"/>
                </a:lnTo>
                <a:lnTo>
                  <a:pt x="0" y="70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" y="9"/>
            <a:ext cx="978535" cy="508000"/>
          </a:xfrm>
          <a:custGeom>
            <a:avLst/>
            <a:gdLst/>
            <a:ahLst/>
            <a:cxnLst/>
            <a:rect l="l" t="t" r="r" b="b"/>
            <a:pathLst>
              <a:path w="978535" h="508000">
                <a:moveTo>
                  <a:pt x="724325" y="507899"/>
                </a:moveTo>
                <a:lnTo>
                  <a:pt x="0" y="507899"/>
                </a:lnTo>
                <a:lnTo>
                  <a:pt x="0" y="0"/>
                </a:lnTo>
                <a:lnTo>
                  <a:pt x="978299" y="0"/>
                </a:lnTo>
                <a:lnTo>
                  <a:pt x="978299" y="253950"/>
                </a:lnTo>
                <a:lnTo>
                  <a:pt x="973376" y="303717"/>
                </a:lnTo>
                <a:lnTo>
                  <a:pt x="958970" y="351126"/>
                </a:lnTo>
                <a:lnTo>
                  <a:pt x="935631" y="394838"/>
                </a:lnTo>
                <a:lnTo>
                  <a:pt x="903908" y="433513"/>
                </a:lnTo>
                <a:lnTo>
                  <a:pt x="865233" y="465224"/>
                </a:lnTo>
                <a:lnTo>
                  <a:pt x="821524" y="488562"/>
                </a:lnTo>
                <a:lnTo>
                  <a:pt x="774111" y="502973"/>
                </a:lnTo>
                <a:lnTo>
                  <a:pt x="724325" y="507899"/>
                </a:lnTo>
                <a:close/>
              </a:path>
            </a:pathLst>
          </a:custGeom>
          <a:solidFill>
            <a:srgbClr val="0191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589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20"/>
              </a:spcBef>
            </a:pPr>
            <a:r>
              <a:rPr sz="2700" spc="100" dirty="0"/>
              <a:t>Conceptual</a:t>
            </a:r>
            <a:r>
              <a:rPr sz="2700" spc="-30" dirty="0"/>
              <a:t> </a:t>
            </a:r>
            <a:r>
              <a:rPr sz="2700" spc="55" dirty="0"/>
              <a:t>Design:</a:t>
            </a:r>
            <a:r>
              <a:rPr sz="2700" spc="-30" dirty="0"/>
              <a:t> </a:t>
            </a:r>
            <a:r>
              <a:rPr sz="2700" spc="55" dirty="0"/>
              <a:t>Entity-Relationship</a:t>
            </a:r>
            <a:r>
              <a:rPr sz="2700" spc="-25" dirty="0"/>
              <a:t> </a:t>
            </a:r>
            <a:r>
              <a:rPr sz="2700" spc="-65" dirty="0"/>
              <a:t>(ER)</a:t>
            </a:r>
            <a:r>
              <a:rPr sz="2700" spc="-30" dirty="0"/>
              <a:t> </a:t>
            </a:r>
            <a:r>
              <a:rPr sz="2700" spc="85" dirty="0"/>
              <a:t>Diagram</a:t>
            </a:r>
            <a:endParaRPr sz="2700"/>
          </a:p>
        </p:txBody>
      </p:sp>
      <p:grpSp>
        <p:nvGrpSpPr>
          <p:cNvPr id="4" name="object 4"/>
          <p:cNvGrpSpPr/>
          <p:nvPr/>
        </p:nvGrpSpPr>
        <p:grpSpPr>
          <a:xfrm>
            <a:off x="1294972" y="914401"/>
            <a:ext cx="10058828" cy="5029200"/>
            <a:chOff x="1421447" y="1088072"/>
            <a:chExt cx="10206990" cy="4919980"/>
          </a:xfrm>
        </p:grpSpPr>
        <p:sp>
          <p:nvSpPr>
            <p:cNvPr id="5" name="object 5"/>
            <p:cNvSpPr/>
            <p:nvPr/>
          </p:nvSpPr>
          <p:spPr>
            <a:xfrm>
              <a:off x="1428750" y="1095375"/>
              <a:ext cx="10192385" cy="4905375"/>
            </a:xfrm>
            <a:custGeom>
              <a:avLst/>
              <a:gdLst/>
              <a:ahLst/>
              <a:cxnLst/>
              <a:rect l="l" t="t" r="r" b="b"/>
              <a:pathLst>
                <a:path w="10192385" h="4905375">
                  <a:moveTo>
                    <a:pt x="10039541" y="4905299"/>
                  </a:moveTo>
                  <a:lnTo>
                    <a:pt x="152358" y="4905299"/>
                  </a:lnTo>
                  <a:lnTo>
                    <a:pt x="104201" y="4897532"/>
                  </a:lnTo>
                  <a:lnTo>
                    <a:pt x="62377" y="4875903"/>
                  </a:lnTo>
                  <a:lnTo>
                    <a:pt x="29396" y="4842922"/>
                  </a:lnTo>
                  <a:lnTo>
                    <a:pt x="7767" y="4801098"/>
                  </a:lnTo>
                  <a:lnTo>
                    <a:pt x="0" y="4752941"/>
                  </a:lnTo>
                  <a:lnTo>
                    <a:pt x="0" y="152358"/>
                  </a:lnTo>
                  <a:lnTo>
                    <a:pt x="7767" y="104201"/>
                  </a:lnTo>
                  <a:lnTo>
                    <a:pt x="29396" y="62377"/>
                  </a:lnTo>
                  <a:lnTo>
                    <a:pt x="62377" y="29396"/>
                  </a:lnTo>
                  <a:lnTo>
                    <a:pt x="104201" y="7767"/>
                  </a:lnTo>
                  <a:lnTo>
                    <a:pt x="152358" y="0"/>
                  </a:lnTo>
                  <a:lnTo>
                    <a:pt x="10039541" y="0"/>
                  </a:lnTo>
                  <a:lnTo>
                    <a:pt x="10097846" y="11597"/>
                  </a:lnTo>
                  <a:lnTo>
                    <a:pt x="10147274" y="44624"/>
                  </a:lnTo>
                  <a:lnTo>
                    <a:pt x="10180302" y="94053"/>
                  </a:lnTo>
                  <a:lnTo>
                    <a:pt x="10191899" y="152358"/>
                  </a:lnTo>
                  <a:lnTo>
                    <a:pt x="10191899" y="4752941"/>
                  </a:lnTo>
                  <a:lnTo>
                    <a:pt x="10184132" y="4801098"/>
                  </a:lnTo>
                  <a:lnTo>
                    <a:pt x="10162503" y="4842922"/>
                  </a:lnTo>
                  <a:lnTo>
                    <a:pt x="10129522" y="4875903"/>
                  </a:lnTo>
                  <a:lnTo>
                    <a:pt x="10087698" y="4897532"/>
                  </a:lnTo>
                  <a:lnTo>
                    <a:pt x="10039541" y="4905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28750" y="1095375"/>
              <a:ext cx="10192385" cy="4905375"/>
            </a:xfrm>
            <a:custGeom>
              <a:avLst/>
              <a:gdLst/>
              <a:ahLst/>
              <a:cxnLst/>
              <a:rect l="l" t="t" r="r" b="b"/>
              <a:pathLst>
                <a:path w="10192385" h="4905375">
                  <a:moveTo>
                    <a:pt x="0" y="152358"/>
                  </a:moveTo>
                  <a:lnTo>
                    <a:pt x="7767" y="104201"/>
                  </a:lnTo>
                  <a:lnTo>
                    <a:pt x="29396" y="62377"/>
                  </a:lnTo>
                  <a:lnTo>
                    <a:pt x="62377" y="29396"/>
                  </a:lnTo>
                  <a:lnTo>
                    <a:pt x="104201" y="7767"/>
                  </a:lnTo>
                  <a:lnTo>
                    <a:pt x="152358" y="0"/>
                  </a:lnTo>
                  <a:lnTo>
                    <a:pt x="10039541" y="0"/>
                  </a:lnTo>
                  <a:lnTo>
                    <a:pt x="10097846" y="11597"/>
                  </a:lnTo>
                  <a:lnTo>
                    <a:pt x="10147274" y="44624"/>
                  </a:lnTo>
                  <a:lnTo>
                    <a:pt x="10180302" y="94053"/>
                  </a:lnTo>
                  <a:lnTo>
                    <a:pt x="10191899" y="152358"/>
                  </a:lnTo>
                  <a:lnTo>
                    <a:pt x="10191899" y="4752941"/>
                  </a:lnTo>
                  <a:lnTo>
                    <a:pt x="10184132" y="4801098"/>
                  </a:lnTo>
                  <a:lnTo>
                    <a:pt x="10162503" y="4842922"/>
                  </a:lnTo>
                  <a:lnTo>
                    <a:pt x="10129522" y="4875903"/>
                  </a:lnTo>
                  <a:lnTo>
                    <a:pt x="10087698" y="4897532"/>
                  </a:lnTo>
                  <a:lnTo>
                    <a:pt x="10039541" y="4905299"/>
                  </a:lnTo>
                  <a:lnTo>
                    <a:pt x="152358" y="4905299"/>
                  </a:lnTo>
                  <a:lnTo>
                    <a:pt x="104201" y="4897532"/>
                  </a:lnTo>
                  <a:lnTo>
                    <a:pt x="62377" y="4875903"/>
                  </a:lnTo>
                  <a:lnTo>
                    <a:pt x="29396" y="4842922"/>
                  </a:lnTo>
                  <a:lnTo>
                    <a:pt x="7767" y="4801098"/>
                  </a:lnTo>
                  <a:lnTo>
                    <a:pt x="0" y="4752941"/>
                  </a:lnTo>
                  <a:lnTo>
                    <a:pt x="0" y="152358"/>
                  </a:lnTo>
                  <a:close/>
                </a:path>
              </a:pathLst>
            </a:custGeom>
            <a:ln w="1429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9725" y="1276350"/>
              <a:ext cx="9829799" cy="454349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084457" y="3405277"/>
            <a:ext cx="288099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45" dirty="0">
                <a:solidFill>
                  <a:srgbClr val="02C1BB"/>
                </a:solidFill>
                <a:latin typeface="Tahoma"/>
                <a:cs typeface="Tahoma"/>
              </a:rPr>
              <a:t>[</a:t>
            </a:r>
            <a:r>
              <a:rPr sz="1600" b="1" spc="204" dirty="0">
                <a:solidFill>
                  <a:srgbClr val="02C1BB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02C1BB"/>
                </a:solidFill>
                <a:latin typeface="Tahoma"/>
                <a:cs typeface="Tahoma"/>
              </a:rPr>
              <a:t>ER</a:t>
            </a:r>
            <a:r>
              <a:rPr sz="1600" b="1" spc="204" dirty="0">
                <a:solidFill>
                  <a:srgbClr val="02C1BB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02C1BB"/>
                </a:solidFill>
                <a:latin typeface="Tahoma"/>
                <a:cs typeface="Tahoma"/>
              </a:rPr>
              <a:t>Diagram</a:t>
            </a:r>
            <a:r>
              <a:rPr sz="1600" b="1" spc="204" dirty="0">
                <a:solidFill>
                  <a:srgbClr val="02C1BB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02C1BB"/>
                </a:solidFill>
                <a:latin typeface="Tahoma"/>
                <a:cs typeface="Tahoma"/>
              </a:rPr>
              <a:t>Placeholder</a:t>
            </a:r>
            <a:r>
              <a:rPr sz="1600" b="1" spc="204" dirty="0">
                <a:solidFill>
                  <a:srgbClr val="02C1BB"/>
                </a:solidFill>
                <a:latin typeface="Tahoma"/>
                <a:cs typeface="Tahoma"/>
              </a:rPr>
              <a:t> </a:t>
            </a:r>
            <a:r>
              <a:rPr sz="1600" b="1" spc="-50" dirty="0">
                <a:solidFill>
                  <a:srgbClr val="02C1BB"/>
                </a:solidFill>
                <a:latin typeface="Tahoma"/>
                <a:cs typeface="Tahoma"/>
              </a:rPr>
              <a:t>]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28750" y="6143625"/>
            <a:ext cx="10192385" cy="400685"/>
            <a:chOff x="1428750" y="6143625"/>
            <a:chExt cx="10192385" cy="400685"/>
          </a:xfrm>
        </p:grpSpPr>
        <p:sp>
          <p:nvSpPr>
            <p:cNvPr id="10" name="object 10"/>
            <p:cNvSpPr/>
            <p:nvPr/>
          </p:nvSpPr>
          <p:spPr>
            <a:xfrm>
              <a:off x="1428750" y="6143625"/>
              <a:ext cx="10192385" cy="400685"/>
            </a:xfrm>
            <a:custGeom>
              <a:avLst/>
              <a:gdLst/>
              <a:ahLst/>
              <a:cxnLst/>
              <a:rect l="l" t="t" r="r" b="b"/>
              <a:pathLst>
                <a:path w="10192385" h="400684">
                  <a:moveTo>
                    <a:pt x="10115674" y="400199"/>
                  </a:moveTo>
                  <a:lnTo>
                    <a:pt x="76226" y="400199"/>
                  </a:lnTo>
                  <a:lnTo>
                    <a:pt x="46555" y="394209"/>
                  </a:lnTo>
                  <a:lnTo>
                    <a:pt x="22326" y="377873"/>
                  </a:lnTo>
                  <a:lnTo>
                    <a:pt x="5990" y="353644"/>
                  </a:lnTo>
                  <a:lnTo>
                    <a:pt x="0" y="323973"/>
                  </a:lnTo>
                  <a:lnTo>
                    <a:pt x="0" y="76226"/>
                  </a:lnTo>
                  <a:lnTo>
                    <a:pt x="5990" y="46555"/>
                  </a:lnTo>
                  <a:lnTo>
                    <a:pt x="22326" y="22326"/>
                  </a:lnTo>
                  <a:lnTo>
                    <a:pt x="46555" y="5990"/>
                  </a:lnTo>
                  <a:lnTo>
                    <a:pt x="76226" y="0"/>
                  </a:lnTo>
                  <a:lnTo>
                    <a:pt x="10115674" y="0"/>
                  </a:lnTo>
                  <a:lnTo>
                    <a:pt x="10157964" y="12806"/>
                  </a:lnTo>
                  <a:lnTo>
                    <a:pt x="10186097" y="47055"/>
                  </a:lnTo>
                  <a:lnTo>
                    <a:pt x="10191899" y="76226"/>
                  </a:lnTo>
                  <a:lnTo>
                    <a:pt x="10191899" y="323973"/>
                  </a:lnTo>
                  <a:lnTo>
                    <a:pt x="10185909" y="353644"/>
                  </a:lnTo>
                  <a:lnTo>
                    <a:pt x="10169573" y="377873"/>
                  </a:lnTo>
                  <a:lnTo>
                    <a:pt x="10145344" y="394209"/>
                  </a:lnTo>
                  <a:lnTo>
                    <a:pt x="10115674" y="400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28750" y="6143625"/>
              <a:ext cx="76200" cy="400685"/>
            </a:xfrm>
            <a:custGeom>
              <a:avLst/>
              <a:gdLst/>
              <a:ahLst/>
              <a:cxnLst/>
              <a:rect l="l" t="t" r="r" b="b"/>
              <a:pathLst>
                <a:path w="76200" h="400684">
                  <a:moveTo>
                    <a:pt x="76199" y="400199"/>
                  </a:moveTo>
                  <a:lnTo>
                    <a:pt x="0" y="400199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400199"/>
                  </a:lnTo>
                  <a:close/>
                </a:path>
              </a:pathLst>
            </a:custGeom>
            <a:solidFill>
              <a:srgbClr val="019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06550" y="6225361"/>
            <a:ext cx="621220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595959"/>
                </a:solidFill>
                <a:latin typeface="Tahoma"/>
                <a:cs typeface="Tahoma"/>
              </a:rPr>
              <a:t>Chen's</a:t>
            </a:r>
            <a:r>
              <a:rPr sz="1300" b="1" spc="10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595959"/>
                </a:solidFill>
                <a:latin typeface="Tahoma"/>
                <a:cs typeface="Tahoma"/>
              </a:rPr>
              <a:t>Notation:</a:t>
            </a:r>
            <a:r>
              <a:rPr sz="1300" b="1" spc="10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300" b="1" spc="-195" dirty="0">
                <a:solidFill>
                  <a:srgbClr val="595959"/>
                </a:solidFill>
                <a:latin typeface="Tahoma"/>
                <a:cs typeface="Tahoma"/>
              </a:rPr>
              <a:t>12</a:t>
            </a:r>
            <a:r>
              <a:rPr sz="1300" b="1" spc="10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595959"/>
                </a:solidFill>
                <a:latin typeface="Tahoma"/>
                <a:cs typeface="Tahoma"/>
              </a:rPr>
              <a:t>Strong</a:t>
            </a:r>
            <a:r>
              <a:rPr sz="1300" b="1" spc="10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595959"/>
                </a:solidFill>
                <a:latin typeface="Tahoma"/>
                <a:cs typeface="Tahoma"/>
              </a:rPr>
              <a:t>Entities,</a:t>
            </a:r>
            <a:r>
              <a:rPr sz="1300" b="1" spc="10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300" b="1" spc="-145" dirty="0">
                <a:solidFill>
                  <a:srgbClr val="595959"/>
                </a:solidFill>
                <a:latin typeface="Tahoma"/>
                <a:cs typeface="Tahoma"/>
              </a:rPr>
              <a:t>1:N</a:t>
            </a:r>
            <a:r>
              <a:rPr sz="1300" b="1" spc="10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300" b="1" spc="55" dirty="0">
                <a:solidFill>
                  <a:srgbClr val="595959"/>
                </a:solidFill>
                <a:latin typeface="Tahoma"/>
                <a:cs typeface="Tahoma"/>
              </a:rPr>
              <a:t>and</a:t>
            </a:r>
            <a:r>
              <a:rPr sz="1300" b="1" spc="10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300" b="1" spc="-265" dirty="0">
                <a:solidFill>
                  <a:srgbClr val="595959"/>
                </a:solidFill>
                <a:latin typeface="Tahoma"/>
                <a:cs typeface="Tahoma"/>
              </a:rPr>
              <a:t>1:1</a:t>
            </a:r>
            <a:r>
              <a:rPr sz="1300" b="1" spc="10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595959"/>
                </a:solidFill>
                <a:latin typeface="Tahoma"/>
                <a:cs typeface="Tahoma"/>
              </a:rPr>
              <a:t>Operational</a:t>
            </a:r>
            <a:r>
              <a:rPr sz="1300" b="1" spc="10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300" b="1" spc="-10" dirty="0">
                <a:solidFill>
                  <a:srgbClr val="595959"/>
                </a:solidFill>
                <a:latin typeface="Tahoma"/>
                <a:cs typeface="Tahoma"/>
              </a:rPr>
              <a:t>Relationships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4F860C-7738-6E76-438F-F6168DDDC3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725" y="1078905"/>
            <a:ext cx="9792712" cy="4700189"/>
          </a:xfrm>
          <a:prstGeom prst="rect">
            <a:avLst/>
          </a:prstGeom>
        </p:spPr>
      </p:pic>
      <p:sp>
        <p:nvSpPr>
          <p:cNvPr id="15" name="Freeform 32">
            <a:extLst>
              <a:ext uri="{FF2B5EF4-FFF2-40B4-BE49-F238E27FC236}">
                <a16:creationId xmlns:a16="http://schemas.microsoft.com/office/drawing/2014/main" id="{AFBFAD91-1C08-17D8-2B24-3F36C77B523D}"/>
              </a:ext>
            </a:extLst>
          </p:cNvPr>
          <p:cNvSpPr/>
          <p:nvPr/>
        </p:nvSpPr>
        <p:spPr>
          <a:xfrm>
            <a:off x="11201400" y="66339"/>
            <a:ext cx="982824" cy="285231"/>
          </a:xfrm>
          <a:custGeom>
            <a:avLst/>
            <a:gdLst/>
            <a:ahLst/>
            <a:cxnLst/>
            <a:rect l="l" t="t" r="r" b="b"/>
            <a:pathLst>
              <a:path w="1299612" h="703776">
                <a:moveTo>
                  <a:pt x="0" y="0"/>
                </a:moveTo>
                <a:lnTo>
                  <a:pt x="1299612" y="0"/>
                </a:lnTo>
                <a:lnTo>
                  <a:pt x="1299612" y="703776"/>
                </a:lnTo>
                <a:lnTo>
                  <a:pt x="0" y="7037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Relational</a:t>
            </a:r>
            <a:r>
              <a:rPr sz="3200" spc="40" dirty="0"/>
              <a:t> </a:t>
            </a:r>
            <a:r>
              <a:rPr sz="3200" spc="65" dirty="0"/>
              <a:t>Schema:</a:t>
            </a:r>
            <a:r>
              <a:rPr sz="3200" spc="40" dirty="0"/>
              <a:t> </a:t>
            </a:r>
            <a:r>
              <a:rPr sz="3200" spc="55" dirty="0"/>
              <a:t>Master</a:t>
            </a:r>
            <a:r>
              <a:rPr sz="3200" spc="45" dirty="0"/>
              <a:t> </a:t>
            </a:r>
            <a:r>
              <a:rPr sz="3200" spc="80" dirty="0"/>
              <a:t>Data</a:t>
            </a:r>
            <a:r>
              <a:rPr sz="3200" spc="40" dirty="0"/>
              <a:t> </a:t>
            </a:r>
            <a:r>
              <a:rPr sz="3200" dirty="0"/>
              <a:t>&amp;</a:t>
            </a:r>
            <a:r>
              <a:rPr sz="3200" spc="40" dirty="0"/>
              <a:t> </a:t>
            </a:r>
            <a:r>
              <a:rPr sz="3200" spc="-10" dirty="0"/>
              <a:t>Inventory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428750" y="1143000"/>
            <a:ext cx="4953000" cy="4477385"/>
            <a:chOff x="1428750" y="1143000"/>
            <a:chExt cx="4953000" cy="4477385"/>
          </a:xfrm>
        </p:grpSpPr>
        <p:sp>
          <p:nvSpPr>
            <p:cNvPr id="4" name="object 4"/>
            <p:cNvSpPr/>
            <p:nvPr/>
          </p:nvSpPr>
          <p:spPr>
            <a:xfrm>
              <a:off x="1428750" y="1143000"/>
              <a:ext cx="4953000" cy="4477385"/>
            </a:xfrm>
            <a:custGeom>
              <a:avLst/>
              <a:gdLst/>
              <a:ahLst/>
              <a:cxnLst/>
              <a:rect l="l" t="t" r="r" b="b"/>
              <a:pathLst>
                <a:path w="4953000" h="4477385">
                  <a:moveTo>
                    <a:pt x="4800651" y="4476899"/>
                  </a:moveTo>
                  <a:lnTo>
                    <a:pt x="152348" y="4476899"/>
                  </a:lnTo>
                  <a:lnTo>
                    <a:pt x="104194" y="4469133"/>
                  </a:lnTo>
                  <a:lnTo>
                    <a:pt x="62373" y="4447505"/>
                  </a:lnTo>
                  <a:lnTo>
                    <a:pt x="29394" y="4414526"/>
                  </a:lnTo>
                  <a:lnTo>
                    <a:pt x="7766" y="4372705"/>
                  </a:lnTo>
                  <a:lnTo>
                    <a:pt x="0" y="4324551"/>
                  </a:lnTo>
                  <a:lnTo>
                    <a:pt x="0" y="152348"/>
                  </a:lnTo>
                  <a:lnTo>
                    <a:pt x="7766" y="104194"/>
                  </a:lnTo>
                  <a:lnTo>
                    <a:pt x="29394" y="62373"/>
                  </a:lnTo>
                  <a:lnTo>
                    <a:pt x="62373" y="29394"/>
                  </a:lnTo>
                  <a:lnTo>
                    <a:pt x="104194" y="7766"/>
                  </a:lnTo>
                  <a:lnTo>
                    <a:pt x="152348" y="0"/>
                  </a:lnTo>
                  <a:lnTo>
                    <a:pt x="4800651" y="0"/>
                  </a:lnTo>
                  <a:lnTo>
                    <a:pt x="4858952" y="11596"/>
                  </a:lnTo>
                  <a:lnTo>
                    <a:pt x="4908377" y="44621"/>
                  </a:lnTo>
                  <a:lnTo>
                    <a:pt x="4941403" y="94047"/>
                  </a:lnTo>
                  <a:lnTo>
                    <a:pt x="4952999" y="152348"/>
                  </a:lnTo>
                  <a:lnTo>
                    <a:pt x="4952999" y="4324551"/>
                  </a:lnTo>
                  <a:lnTo>
                    <a:pt x="4945233" y="4372705"/>
                  </a:lnTo>
                  <a:lnTo>
                    <a:pt x="4923605" y="4414526"/>
                  </a:lnTo>
                  <a:lnTo>
                    <a:pt x="4890626" y="4447505"/>
                  </a:lnTo>
                  <a:lnTo>
                    <a:pt x="4848805" y="4469133"/>
                  </a:lnTo>
                  <a:lnTo>
                    <a:pt x="4800651" y="4476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7350" y="1685925"/>
              <a:ext cx="4495799" cy="191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644650" y="1311655"/>
            <a:ext cx="147574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1918C"/>
                </a:solidFill>
                <a:latin typeface="Tahoma"/>
                <a:cs typeface="Tahoma"/>
              </a:rPr>
              <a:t>Master</a:t>
            </a:r>
            <a:r>
              <a:rPr sz="1800" b="1" spc="16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800" b="1" spc="-20" dirty="0">
                <a:solidFill>
                  <a:srgbClr val="01918C"/>
                </a:solidFill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sz="1300" b="1" spc="-10" dirty="0">
                <a:solidFill>
                  <a:srgbClr val="01918C"/>
                </a:solidFill>
                <a:latin typeface="Tahoma"/>
                <a:cs typeface="Tahoma"/>
              </a:rPr>
              <a:t>Categories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73918" y="2048830"/>
            <a:ext cx="1424940" cy="492759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515"/>
              </a:spcBef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CategoryID</a:t>
            </a:r>
            <a:r>
              <a:rPr sz="1000" b="1" spc="29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00" b="1" spc="-20" dirty="0">
                <a:solidFill>
                  <a:srgbClr val="D97706"/>
                </a:solidFill>
                <a:latin typeface="Tahoma"/>
                <a:cs typeface="Tahoma"/>
              </a:rPr>
              <a:t>[PK]</a:t>
            </a:r>
            <a:endParaRPr sz="900">
              <a:latin typeface="Tahoma"/>
              <a:cs typeface="Tahoma"/>
            </a:endParaRPr>
          </a:p>
          <a:p>
            <a:pPr marL="340360" indent="-327660">
              <a:lnSpc>
                <a:spcPct val="100000"/>
              </a:lnSpc>
              <a:spcBef>
                <a:spcPts val="800"/>
              </a:spcBef>
              <a:buClr>
                <a:srgbClr val="01918C"/>
              </a:buClr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spc="-10" dirty="0">
                <a:solidFill>
                  <a:srgbClr val="4B5563"/>
                </a:solidFill>
                <a:latin typeface="Verdana"/>
                <a:cs typeface="Verdana"/>
              </a:rPr>
              <a:t>CategoryName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4650" y="2600096"/>
            <a:ext cx="128968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1918C"/>
                </a:solidFill>
                <a:latin typeface="Tahoma"/>
                <a:cs typeface="Tahoma"/>
              </a:rPr>
              <a:t>Manufacturers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3918" y="2839405"/>
            <a:ext cx="1732280" cy="492759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515"/>
              </a:spcBef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ManufacturerID</a:t>
            </a:r>
            <a:r>
              <a:rPr sz="1000" b="1" spc="40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00" b="1" spc="-20" dirty="0">
                <a:solidFill>
                  <a:srgbClr val="D97706"/>
                </a:solidFill>
                <a:latin typeface="Tahoma"/>
                <a:cs typeface="Tahoma"/>
              </a:rPr>
              <a:t>[PK]</a:t>
            </a:r>
            <a:endParaRPr sz="900">
              <a:latin typeface="Tahoma"/>
              <a:cs typeface="Tahoma"/>
            </a:endParaRPr>
          </a:p>
          <a:p>
            <a:pPr marL="340360" indent="-327660">
              <a:lnSpc>
                <a:spcPct val="100000"/>
              </a:lnSpc>
              <a:spcBef>
                <a:spcPts val="800"/>
              </a:spcBef>
              <a:buClr>
                <a:srgbClr val="01918C"/>
              </a:buClr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spc="-10" dirty="0">
                <a:solidFill>
                  <a:srgbClr val="4B5563"/>
                </a:solidFill>
                <a:latin typeface="Verdana"/>
                <a:cs typeface="Verdana"/>
              </a:rPr>
              <a:t>ManufacturerName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44650" y="3390671"/>
            <a:ext cx="83185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1918C"/>
                </a:solidFill>
                <a:latin typeface="Tahoma"/>
                <a:cs typeface="Tahoma"/>
              </a:rPr>
              <a:t>Suppliers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73918" y="3629980"/>
            <a:ext cx="1372235" cy="492759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515"/>
              </a:spcBef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SupplierID</a:t>
            </a:r>
            <a:r>
              <a:rPr sz="1000" b="1" spc="22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00" b="1" spc="-20" dirty="0">
                <a:solidFill>
                  <a:srgbClr val="D97706"/>
                </a:solidFill>
                <a:latin typeface="Tahoma"/>
                <a:cs typeface="Tahoma"/>
              </a:rPr>
              <a:t>[PK]</a:t>
            </a:r>
            <a:endParaRPr sz="900">
              <a:latin typeface="Tahoma"/>
              <a:cs typeface="Tahoma"/>
            </a:endParaRPr>
          </a:p>
          <a:p>
            <a:pPr marL="340360" indent="-327660">
              <a:lnSpc>
                <a:spcPct val="100000"/>
              </a:lnSpc>
              <a:spcBef>
                <a:spcPts val="800"/>
              </a:spcBef>
              <a:buClr>
                <a:srgbClr val="01918C"/>
              </a:buClr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spc="-10" dirty="0">
                <a:solidFill>
                  <a:srgbClr val="4B5563"/>
                </a:solidFill>
                <a:latin typeface="Verdana"/>
                <a:cs typeface="Verdana"/>
              </a:rPr>
              <a:t>SupplierName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44650" y="4180713"/>
            <a:ext cx="9721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01918C"/>
                </a:solidFill>
                <a:latin typeface="Tahoma"/>
                <a:cs typeface="Tahoma"/>
              </a:rPr>
              <a:t>Medicines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65918" y="4438432"/>
            <a:ext cx="3087370" cy="7931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500"/>
              </a:spcBef>
              <a:buSzPct val="127272"/>
              <a:buFont typeface="Arial MT"/>
              <a:buChar char="●"/>
              <a:tabLst>
                <a:tab pos="347980" algn="l"/>
              </a:tabLst>
            </a:pPr>
            <a:r>
              <a:rPr sz="1100" b="1" dirty="0">
                <a:solidFill>
                  <a:srgbClr val="01918C"/>
                </a:solidFill>
                <a:latin typeface="Tahoma"/>
                <a:cs typeface="Tahoma"/>
              </a:rPr>
              <a:t>MedicineID</a:t>
            </a:r>
            <a:r>
              <a:rPr sz="1100" b="1" spc="254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000" b="1" spc="-20" dirty="0">
                <a:solidFill>
                  <a:srgbClr val="D97706"/>
                </a:solidFill>
                <a:latin typeface="Tahoma"/>
                <a:cs typeface="Tahoma"/>
              </a:rPr>
              <a:t>[PK]</a:t>
            </a:r>
            <a:endParaRPr sz="100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509"/>
              </a:spcBef>
              <a:buSzPct val="127272"/>
              <a:buFont typeface="Arial MT"/>
              <a:buChar char="●"/>
              <a:tabLst>
                <a:tab pos="347980" algn="l"/>
              </a:tabLst>
            </a:pPr>
            <a:r>
              <a:rPr sz="1100" b="1" dirty="0">
                <a:solidFill>
                  <a:srgbClr val="01918C"/>
                </a:solidFill>
                <a:latin typeface="Tahoma"/>
                <a:cs typeface="Tahoma"/>
              </a:rPr>
              <a:t>CategoryID</a:t>
            </a:r>
            <a:r>
              <a:rPr sz="1100" b="1" spc="14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2563EB"/>
                </a:solidFill>
                <a:latin typeface="Tahoma"/>
                <a:cs typeface="Tahoma"/>
              </a:rPr>
              <a:t>[FK]</a:t>
            </a:r>
            <a:r>
              <a:rPr sz="1400" dirty="0">
                <a:latin typeface="Arial MT"/>
                <a:cs typeface="Arial MT"/>
              </a:rPr>
              <a:t>,</a:t>
            </a:r>
            <a:r>
              <a:rPr sz="1400" spc="80" dirty="0">
                <a:latin typeface="Arial MT"/>
                <a:cs typeface="Arial MT"/>
              </a:rPr>
              <a:t> </a:t>
            </a:r>
            <a:r>
              <a:rPr sz="1100" b="1" dirty="0">
                <a:solidFill>
                  <a:srgbClr val="01918C"/>
                </a:solidFill>
                <a:latin typeface="Tahoma"/>
                <a:cs typeface="Tahoma"/>
              </a:rPr>
              <a:t>ManufacturerID</a:t>
            </a:r>
            <a:r>
              <a:rPr sz="1100" b="1" spc="15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000" b="1" spc="-20" dirty="0">
                <a:solidFill>
                  <a:srgbClr val="2563EB"/>
                </a:solidFill>
                <a:latin typeface="Tahoma"/>
                <a:cs typeface="Tahoma"/>
              </a:rPr>
              <a:t>[FK]</a:t>
            </a:r>
            <a:endParaRPr sz="1000">
              <a:latin typeface="Tahoma"/>
              <a:cs typeface="Tahoma"/>
            </a:endParaRPr>
          </a:p>
          <a:p>
            <a:pPr marL="347980" indent="-335280">
              <a:lnSpc>
                <a:spcPct val="100000"/>
              </a:lnSpc>
              <a:spcBef>
                <a:spcPts val="450"/>
              </a:spcBef>
              <a:buClr>
                <a:srgbClr val="01918C"/>
              </a:buClr>
              <a:buSzPct val="127272"/>
              <a:buFont typeface="Arial MT"/>
              <a:buChar char="●"/>
              <a:tabLst>
                <a:tab pos="347980" algn="l"/>
              </a:tabLst>
            </a:pPr>
            <a:r>
              <a:rPr sz="1100" spc="10" dirty="0">
                <a:solidFill>
                  <a:srgbClr val="4B5563"/>
                </a:solidFill>
                <a:latin typeface="Verdana"/>
                <a:cs typeface="Verdana"/>
              </a:rPr>
              <a:t>MedicineName</a:t>
            </a:r>
            <a:r>
              <a:rPr sz="1400" spc="10" dirty="0">
                <a:latin typeface="Arial MT"/>
                <a:cs typeface="Arial MT"/>
              </a:rPr>
              <a:t>,</a:t>
            </a:r>
            <a:r>
              <a:rPr sz="1400" spc="335" dirty="0"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4B5563"/>
                </a:solidFill>
                <a:latin typeface="Verdana"/>
                <a:cs typeface="Verdana"/>
              </a:rPr>
              <a:t>IsRestricted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572250" y="1143000"/>
            <a:ext cx="4762500" cy="4477385"/>
            <a:chOff x="6572250" y="1143000"/>
            <a:chExt cx="4762500" cy="4477385"/>
          </a:xfrm>
        </p:grpSpPr>
        <p:sp>
          <p:nvSpPr>
            <p:cNvPr id="15" name="object 15"/>
            <p:cNvSpPr/>
            <p:nvPr/>
          </p:nvSpPr>
          <p:spPr>
            <a:xfrm>
              <a:off x="6572250" y="1143000"/>
              <a:ext cx="4762500" cy="4477385"/>
            </a:xfrm>
            <a:custGeom>
              <a:avLst/>
              <a:gdLst/>
              <a:ahLst/>
              <a:cxnLst/>
              <a:rect l="l" t="t" r="r" b="b"/>
              <a:pathLst>
                <a:path w="4762500" h="4477385">
                  <a:moveTo>
                    <a:pt x="4610150" y="4476899"/>
                  </a:moveTo>
                  <a:lnTo>
                    <a:pt x="152349" y="4476899"/>
                  </a:lnTo>
                  <a:lnTo>
                    <a:pt x="104194" y="4469133"/>
                  </a:lnTo>
                  <a:lnTo>
                    <a:pt x="62373" y="4447505"/>
                  </a:lnTo>
                  <a:lnTo>
                    <a:pt x="29394" y="4414526"/>
                  </a:lnTo>
                  <a:lnTo>
                    <a:pt x="7766" y="4372705"/>
                  </a:lnTo>
                  <a:lnTo>
                    <a:pt x="0" y="4324551"/>
                  </a:lnTo>
                  <a:lnTo>
                    <a:pt x="0" y="152348"/>
                  </a:lnTo>
                  <a:lnTo>
                    <a:pt x="7766" y="104194"/>
                  </a:lnTo>
                  <a:lnTo>
                    <a:pt x="29394" y="62373"/>
                  </a:lnTo>
                  <a:lnTo>
                    <a:pt x="62373" y="29394"/>
                  </a:lnTo>
                  <a:lnTo>
                    <a:pt x="104194" y="7766"/>
                  </a:lnTo>
                  <a:lnTo>
                    <a:pt x="152349" y="0"/>
                  </a:lnTo>
                  <a:lnTo>
                    <a:pt x="4610150" y="0"/>
                  </a:lnTo>
                  <a:lnTo>
                    <a:pt x="4668452" y="11596"/>
                  </a:lnTo>
                  <a:lnTo>
                    <a:pt x="4717877" y="44621"/>
                  </a:lnTo>
                  <a:lnTo>
                    <a:pt x="4750903" y="94047"/>
                  </a:lnTo>
                  <a:lnTo>
                    <a:pt x="4762499" y="152348"/>
                  </a:lnTo>
                  <a:lnTo>
                    <a:pt x="4762499" y="4324551"/>
                  </a:lnTo>
                  <a:lnTo>
                    <a:pt x="4754733" y="4372705"/>
                  </a:lnTo>
                  <a:lnTo>
                    <a:pt x="4733105" y="4414526"/>
                  </a:lnTo>
                  <a:lnTo>
                    <a:pt x="4700126" y="4447505"/>
                  </a:lnTo>
                  <a:lnTo>
                    <a:pt x="4658305" y="4469133"/>
                  </a:lnTo>
                  <a:lnTo>
                    <a:pt x="4610150" y="4476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00850" y="1685925"/>
              <a:ext cx="4305299" cy="191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788150" y="1311655"/>
            <a:ext cx="305435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60" dirty="0">
                <a:solidFill>
                  <a:srgbClr val="01918C"/>
                </a:solidFill>
                <a:latin typeface="Tahoma"/>
                <a:cs typeface="Tahoma"/>
              </a:rPr>
              <a:t>Procurement</a:t>
            </a:r>
            <a:r>
              <a:rPr sz="1800" b="1" spc="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800" b="1" spc="-120" dirty="0">
                <a:solidFill>
                  <a:srgbClr val="01918C"/>
                </a:solidFill>
                <a:latin typeface="Tahoma"/>
                <a:cs typeface="Tahoma"/>
              </a:rPr>
              <a:t>&amp;</a:t>
            </a:r>
            <a:r>
              <a:rPr sz="1800" b="1" spc="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01918C"/>
                </a:solidFill>
                <a:latin typeface="Tahoma"/>
                <a:cs typeface="Tahoma"/>
              </a:rPr>
              <a:t>Inventory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sz="1300" b="1" spc="-10" dirty="0">
                <a:solidFill>
                  <a:srgbClr val="01918C"/>
                </a:solidFill>
                <a:latin typeface="Tahoma"/>
                <a:cs typeface="Tahoma"/>
              </a:rPr>
              <a:t>Purchases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17418" y="2048830"/>
            <a:ext cx="1441450" cy="1256030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515"/>
              </a:spcBef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PurchaseID</a:t>
            </a:r>
            <a:r>
              <a:rPr sz="1000" b="1" spc="33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00" b="1" spc="-20" dirty="0">
                <a:solidFill>
                  <a:srgbClr val="D97706"/>
                </a:solidFill>
                <a:latin typeface="Tahoma"/>
                <a:cs typeface="Tahoma"/>
              </a:rPr>
              <a:t>[PK]</a:t>
            </a:r>
            <a:endParaRPr sz="900">
              <a:latin typeface="Tahoma"/>
              <a:cs typeface="Tahoma"/>
            </a:endParaRPr>
          </a:p>
          <a:p>
            <a:pPr marL="340360" indent="-327660">
              <a:lnSpc>
                <a:spcPct val="100000"/>
              </a:lnSpc>
              <a:spcBef>
                <a:spcPts val="800"/>
              </a:spcBef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SupplierID</a:t>
            </a:r>
            <a:r>
              <a:rPr sz="1000" b="1" spc="22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00" b="1" spc="-20" dirty="0">
                <a:solidFill>
                  <a:srgbClr val="2563EB"/>
                </a:solidFill>
                <a:latin typeface="Tahoma"/>
                <a:cs typeface="Tahoma"/>
              </a:rPr>
              <a:t>[FK]</a:t>
            </a:r>
            <a:endParaRPr sz="900">
              <a:latin typeface="Tahoma"/>
              <a:cs typeface="Tahoma"/>
            </a:endParaRPr>
          </a:p>
          <a:p>
            <a:pPr marL="340360" indent="-327660">
              <a:lnSpc>
                <a:spcPct val="100000"/>
              </a:lnSpc>
              <a:spcBef>
                <a:spcPts val="805"/>
              </a:spcBef>
              <a:buClr>
                <a:srgbClr val="01918C"/>
              </a:buClr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spc="-10" dirty="0">
                <a:solidFill>
                  <a:srgbClr val="4B5563"/>
                </a:solidFill>
                <a:latin typeface="Verdana"/>
                <a:cs typeface="Verdana"/>
              </a:rPr>
              <a:t>PurchaseDate</a:t>
            </a:r>
            <a:endParaRPr sz="1000">
              <a:latin typeface="Verdana"/>
              <a:cs typeface="Verdana"/>
            </a:endParaRPr>
          </a:p>
          <a:p>
            <a:pPr marL="340360" indent="-327660">
              <a:lnSpc>
                <a:spcPct val="100000"/>
              </a:lnSpc>
              <a:spcBef>
                <a:spcPts val="805"/>
              </a:spcBef>
              <a:buClr>
                <a:srgbClr val="01918C"/>
              </a:buClr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spc="-10" dirty="0">
                <a:solidFill>
                  <a:srgbClr val="4B5563"/>
                </a:solidFill>
                <a:latin typeface="Verdana"/>
                <a:cs typeface="Verdana"/>
              </a:rPr>
              <a:t>TotalAmount</a:t>
            </a:r>
            <a:endParaRPr sz="1000">
              <a:latin typeface="Verdana"/>
              <a:cs typeface="Verdana"/>
            </a:endParaRPr>
          </a:p>
          <a:p>
            <a:pPr marL="340360" indent="-327660">
              <a:lnSpc>
                <a:spcPct val="100000"/>
              </a:lnSpc>
              <a:spcBef>
                <a:spcPts val="805"/>
              </a:spcBef>
              <a:buClr>
                <a:srgbClr val="01918C"/>
              </a:buClr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spc="-10" dirty="0">
                <a:solidFill>
                  <a:srgbClr val="4B5563"/>
                </a:solidFill>
                <a:latin typeface="Verdana"/>
                <a:cs typeface="Verdana"/>
              </a:rPr>
              <a:t>OrderStatus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88150" y="3390671"/>
            <a:ext cx="72390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01918C"/>
                </a:solidFill>
                <a:latin typeface="Tahoma"/>
                <a:cs typeface="Tahoma"/>
              </a:rPr>
              <a:t>Batches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17418" y="3629980"/>
            <a:ext cx="1431925" cy="1765300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340360" indent="-327660">
              <a:lnSpc>
                <a:spcPct val="100000"/>
              </a:lnSpc>
              <a:spcBef>
                <a:spcPts val="515"/>
              </a:spcBef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BatchID</a:t>
            </a:r>
            <a:r>
              <a:rPr sz="1000" b="1" spc="23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00" b="1" spc="-20" dirty="0">
                <a:solidFill>
                  <a:srgbClr val="D97706"/>
                </a:solidFill>
                <a:latin typeface="Tahoma"/>
                <a:cs typeface="Tahoma"/>
              </a:rPr>
              <a:t>[PK]</a:t>
            </a:r>
            <a:endParaRPr sz="900">
              <a:latin typeface="Tahoma"/>
              <a:cs typeface="Tahoma"/>
            </a:endParaRPr>
          </a:p>
          <a:p>
            <a:pPr marL="340360" indent="-327660">
              <a:lnSpc>
                <a:spcPct val="100000"/>
              </a:lnSpc>
              <a:spcBef>
                <a:spcPts val="800"/>
              </a:spcBef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MedicineID</a:t>
            </a:r>
            <a:r>
              <a:rPr sz="1000" b="1" spc="35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00" b="1" spc="-20" dirty="0">
                <a:solidFill>
                  <a:srgbClr val="2563EB"/>
                </a:solidFill>
                <a:latin typeface="Tahoma"/>
                <a:cs typeface="Tahoma"/>
              </a:rPr>
              <a:t>[FK]</a:t>
            </a:r>
            <a:endParaRPr sz="900">
              <a:latin typeface="Tahoma"/>
              <a:cs typeface="Tahoma"/>
            </a:endParaRPr>
          </a:p>
          <a:p>
            <a:pPr marL="340360" indent="-327660">
              <a:lnSpc>
                <a:spcPct val="100000"/>
              </a:lnSpc>
              <a:spcBef>
                <a:spcPts val="805"/>
              </a:spcBef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PurchaseID</a:t>
            </a:r>
            <a:r>
              <a:rPr sz="1000" b="1" spc="33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00" b="1" spc="-20" dirty="0">
                <a:solidFill>
                  <a:srgbClr val="2563EB"/>
                </a:solidFill>
                <a:latin typeface="Tahoma"/>
                <a:cs typeface="Tahoma"/>
              </a:rPr>
              <a:t>[FK]</a:t>
            </a:r>
            <a:endParaRPr sz="900">
              <a:latin typeface="Tahoma"/>
              <a:cs typeface="Tahoma"/>
            </a:endParaRPr>
          </a:p>
          <a:p>
            <a:pPr marL="340360" indent="-327660">
              <a:lnSpc>
                <a:spcPct val="100000"/>
              </a:lnSpc>
              <a:spcBef>
                <a:spcPts val="805"/>
              </a:spcBef>
              <a:buClr>
                <a:srgbClr val="01918C"/>
              </a:buClr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spc="-10" dirty="0">
                <a:solidFill>
                  <a:srgbClr val="4B5563"/>
                </a:solidFill>
                <a:latin typeface="Verdana"/>
                <a:cs typeface="Verdana"/>
              </a:rPr>
              <a:t>BatchNumber</a:t>
            </a:r>
            <a:endParaRPr sz="1000">
              <a:latin typeface="Verdana"/>
              <a:cs typeface="Verdana"/>
            </a:endParaRPr>
          </a:p>
          <a:p>
            <a:pPr marL="340360" indent="-327660">
              <a:lnSpc>
                <a:spcPct val="100000"/>
              </a:lnSpc>
              <a:spcBef>
                <a:spcPts val="805"/>
              </a:spcBef>
              <a:buClr>
                <a:srgbClr val="01918C"/>
              </a:buClr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spc="-10" dirty="0">
                <a:solidFill>
                  <a:srgbClr val="4B5563"/>
                </a:solidFill>
                <a:latin typeface="Verdana"/>
                <a:cs typeface="Verdana"/>
              </a:rPr>
              <a:t>ExpiryDate</a:t>
            </a:r>
            <a:endParaRPr sz="1000">
              <a:latin typeface="Verdana"/>
              <a:cs typeface="Verdana"/>
            </a:endParaRPr>
          </a:p>
          <a:p>
            <a:pPr marL="340360" indent="-327660">
              <a:lnSpc>
                <a:spcPct val="100000"/>
              </a:lnSpc>
              <a:spcBef>
                <a:spcPts val="805"/>
              </a:spcBef>
              <a:buClr>
                <a:srgbClr val="01918C"/>
              </a:buClr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spc="-10" dirty="0">
                <a:solidFill>
                  <a:srgbClr val="4B5563"/>
                </a:solidFill>
                <a:latin typeface="Verdana"/>
                <a:cs typeface="Verdana"/>
              </a:rPr>
              <a:t>StockQuantity</a:t>
            </a:r>
            <a:endParaRPr sz="1000">
              <a:latin typeface="Verdana"/>
              <a:cs typeface="Verdana"/>
            </a:endParaRPr>
          </a:p>
          <a:p>
            <a:pPr marL="340360" indent="-327660">
              <a:lnSpc>
                <a:spcPct val="100000"/>
              </a:lnSpc>
              <a:spcBef>
                <a:spcPts val="800"/>
              </a:spcBef>
              <a:buClr>
                <a:srgbClr val="01918C"/>
              </a:buClr>
              <a:buSzPct val="130000"/>
              <a:buFont typeface="Arial MT"/>
              <a:buChar char="●"/>
              <a:tabLst>
                <a:tab pos="340360" algn="l"/>
              </a:tabLst>
            </a:pPr>
            <a:r>
              <a:rPr sz="1000" spc="-10" dirty="0">
                <a:solidFill>
                  <a:srgbClr val="4B5563"/>
                </a:solidFill>
                <a:latin typeface="Verdana"/>
                <a:cs typeface="Verdana"/>
              </a:rPr>
              <a:t>UnitCost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421599" y="5784050"/>
            <a:ext cx="9920605" cy="509905"/>
            <a:chOff x="1421599" y="5784050"/>
            <a:chExt cx="9920605" cy="509905"/>
          </a:xfrm>
        </p:grpSpPr>
        <p:sp>
          <p:nvSpPr>
            <p:cNvPr id="22" name="object 22"/>
            <p:cNvSpPr/>
            <p:nvPr/>
          </p:nvSpPr>
          <p:spPr>
            <a:xfrm>
              <a:off x="1428749" y="5791200"/>
              <a:ext cx="9906000" cy="495300"/>
            </a:xfrm>
            <a:custGeom>
              <a:avLst/>
              <a:gdLst/>
              <a:ahLst/>
              <a:cxnLst/>
              <a:rect l="l" t="t" r="r" b="b"/>
              <a:pathLst>
                <a:path w="9906000" h="495300">
                  <a:moveTo>
                    <a:pt x="9829802" y="495299"/>
                  </a:moveTo>
                  <a:lnTo>
                    <a:pt x="76196" y="495299"/>
                  </a:lnTo>
                  <a:lnTo>
                    <a:pt x="46537" y="489312"/>
                  </a:lnTo>
                  <a:lnTo>
                    <a:pt x="22317" y="472982"/>
                  </a:lnTo>
                  <a:lnTo>
                    <a:pt x="5987" y="448762"/>
                  </a:lnTo>
                  <a:lnTo>
                    <a:pt x="0" y="419102"/>
                  </a:lnTo>
                  <a:lnTo>
                    <a:pt x="0" y="76196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9829802" y="0"/>
                  </a:lnTo>
                  <a:lnTo>
                    <a:pt x="9872077" y="12801"/>
                  </a:lnTo>
                  <a:lnTo>
                    <a:pt x="9900199" y="47037"/>
                  </a:lnTo>
                  <a:lnTo>
                    <a:pt x="9905999" y="76196"/>
                  </a:lnTo>
                  <a:lnTo>
                    <a:pt x="9905999" y="419102"/>
                  </a:lnTo>
                  <a:lnTo>
                    <a:pt x="9900011" y="448762"/>
                  </a:lnTo>
                  <a:lnTo>
                    <a:pt x="9883682" y="472982"/>
                  </a:lnTo>
                  <a:lnTo>
                    <a:pt x="9859462" y="489312"/>
                  </a:lnTo>
                  <a:lnTo>
                    <a:pt x="9829802" y="495299"/>
                  </a:lnTo>
                  <a:close/>
                </a:path>
              </a:pathLst>
            </a:custGeom>
            <a:solidFill>
              <a:srgbClr val="FFF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28749" y="5791200"/>
              <a:ext cx="9906000" cy="495300"/>
            </a:xfrm>
            <a:custGeom>
              <a:avLst/>
              <a:gdLst/>
              <a:ahLst/>
              <a:cxnLst/>
              <a:rect l="l" t="t" r="r" b="b"/>
              <a:pathLst>
                <a:path w="9906000" h="495300">
                  <a:moveTo>
                    <a:pt x="0" y="76196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9829802" y="0"/>
                  </a:lnTo>
                  <a:lnTo>
                    <a:pt x="9872077" y="12801"/>
                  </a:lnTo>
                  <a:lnTo>
                    <a:pt x="9900199" y="47037"/>
                  </a:lnTo>
                  <a:lnTo>
                    <a:pt x="9905999" y="76196"/>
                  </a:lnTo>
                  <a:lnTo>
                    <a:pt x="9905999" y="419102"/>
                  </a:lnTo>
                  <a:lnTo>
                    <a:pt x="9900011" y="448762"/>
                  </a:lnTo>
                  <a:lnTo>
                    <a:pt x="9883682" y="472982"/>
                  </a:lnTo>
                  <a:lnTo>
                    <a:pt x="9859462" y="489312"/>
                  </a:lnTo>
                  <a:lnTo>
                    <a:pt x="9829802" y="495299"/>
                  </a:lnTo>
                  <a:lnTo>
                    <a:pt x="76196" y="495299"/>
                  </a:lnTo>
                  <a:lnTo>
                    <a:pt x="46537" y="489312"/>
                  </a:lnTo>
                  <a:lnTo>
                    <a:pt x="22317" y="472982"/>
                  </a:lnTo>
                  <a:lnTo>
                    <a:pt x="5987" y="448762"/>
                  </a:lnTo>
                  <a:lnTo>
                    <a:pt x="0" y="419102"/>
                  </a:lnTo>
                  <a:lnTo>
                    <a:pt x="0" y="76196"/>
                  </a:lnTo>
                  <a:close/>
                </a:path>
              </a:pathLst>
            </a:custGeom>
            <a:ln w="14299">
              <a:solidFill>
                <a:srgbClr val="FFC1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606550" y="5957264"/>
            <a:ext cx="94729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AE6B00"/>
                </a:solidFill>
                <a:latin typeface="Tahoma"/>
                <a:cs typeface="Tahoma"/>
              </a:rPr>
              <a:t>Architectural</a:t>
            </a:r>
            <a:r>
              <a:rPr sz="1200" b="1" spc="95" dirty="0">
                <a:solidFill>
                  <a:srgbClr val="AE6B00"/>
                </a:solidFill>
                <a:latin typeface="Tahoma"/>
                <a:cs typeface="Tahoma"/>
              </a:rPr>
              <a:t> </a:t>
            </a:r>
            <a:r>
              <a:rPr sz="1200" b="1" dirty="0">
                <a:solidFill>
                  <a:srgbClr val="AE6B00"/>
                </a:solidFill>
                <a:latin typeface="Tahoma"/>
                <a:cs typeface="Tahoma"/>
              </a:rPr>
              <a:t>Note:</a:t>
            </a:r>
            <a:r>
              <a:rPr sz="1200" b="1" spc="85" dirty="0">
                <a:solidFill>
                  <a:srgbClr val="AE6B00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E3E3E"/>
                </a:solidFill>
                <a:latin typeface="Verdana"/>
                <a:cs typeface="Verdana"/>
              </a:rPr>
              <a:t>Master</a:t>
            </a:r>
            <a:r>
              <a:rPr sz="1200" spc="1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E3E3E"/>
                </a:solidFill>
                <a:latin typeface="Verdana"/>
                <a:cs typeface="Verdana"/>
              </a:rPr>
              <a:t>data</a:t>
            </a:r>
            <a:r>
              <a:rPr sz="1200" spc="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E3E3E"/>
                </a:solidFill>
                <a:latin typeface="Verdana"/>
                <a:cs typeface="Verdana"/>
              </a:rPr>
              <a:t>separated</a:t>
            </a:r>
            <a:r>
              <a:rPr sz="1200" spc="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E3E3E"/>
                </a:solidFill>
                <a:latin typeface="Verdana"/>
                <a:cs typeface="Verdana"/>
              </a:rPr>
              <a:t>from</a:t>
            </a:r>
            <a:r>
              <a:rPr sz="1200" spc="1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E3E3E"/>
                </a:solidFill>
                <a:latin typeface="Verdana"/>
                <a:cs typeface="Verdana"/>
              </a:rPr>
              <a:t>transactional</a:t>
            </a:r>
            <a:r>
              <a:rPr sz="1200" spc="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3E3E3E"/>
                </a:solidFill>
                <a:latin typeface="Verdana"/>
                <a:cs typeface="Verdana"/>
              </a:rPr>
              <a:t>inventory;</a:t>
            </a:r>
            <a:r>
              <a:rPr sz="1200" spc="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E3E3E"/>
                </a:solidFill>
                <a:latin typeface="Verdana"/>
                <a:cs typeface="Verdana"/>
              </a:rPr>
              <a:t>batches</a:t>
            </a:r>
            <a:r>
              <a:rPr sz="1200" spc="1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E3E3E"/>
                </a:solidFill>
                <a:latin typeface="Verdana"/>
                <a:cs typeface="Verdana"/>
              </a:rPr>
              <a:t>model</a:t>
            </a:r>
            <a:r>
              <a:rPr sz="1200" spc="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E3E3E"/>
                </a:solidFill>
                <a:latin typeface="Verdana"/>
                <a:cs typeface="Verdana"/>
              </a:rPr>
              <a:t>enables</a:t>
            </a:r>
            <a:r>
              <a:rPr sz="1200" spc="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E3E3E"/>
                </a:solidFill>
                <a:latin typeface="Verdana"/>
                <a:cs typeface="Verdana"/>
              </a:rPr>
              <a:t>per-</a:t>
            </a:r>
            <a:r>
              <a:rPr sz="1200" spc="-20" dirty="0">
                <a:solidFill>
                  <a:srgbClr val="3E3E3E"/>
                </a:solidFill>
                <a:latin typeface="Verdana"/>
                <a:cs typeface="Verdana"/>
              </a:rPr>
              <a:t>lot</a:t>
            </a:r>
            <a:r>
              <a:rPr sz="1200" spc="1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E3E3E"/>
                </a:solidFill>
                <a:latin typeface="Verdana"/>
                <a:cs typeface="Verdana"/>
              </a:rPr>
              <a:t>expiry</a:t>
            </a:r>
            <a:r>
              <a:rPr sz="1200" spc="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3E3E3E"/>
                </a:solidFill>
                <a:latin typeface="Verdana"/>
                <a:cs typeface="Verdana"/>
              </a:rPr>
              <a:t>and</a:t>
            </a:r>
            <a:r>
              <a:rPr sz="1200" spc="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3E3E3E"/>
                </a:solidFill>
                <a:latin typeface="Verdana"/>
                <a:cs typeface="Verdana"/>
              </a:rPr>
              <a:t>costing.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6" name="Freeform 32">
            <a:extLst>
              <a:ext uri="{FF2B5EF4-FFF2-40B4-BE49-F238E27FC236}">
                <a16:creationId xmlns:a16="http://schemas.microsoft.com/office/drawing/2014/main" id="{ABA48DFF-B08B-C37A-0ACD-058F1F53E75D}"/>
              </a:ext>
            </a:extLst>
          </p:cNvPr>
          <p:cNvSpPr/>
          <p:nvPr/>
        </p:nvSpPr>
        <p:spPr>
          <a:xfrm>
            <a:off x="11201400" y="66339"/>
            <a:ext cx="982824" cy="285231"/>
          </a:xfrm>
          <a:custGeom>
            <a:avLst/>
            <a:gdLst/>
            <a:ahLst/>
            <a:cxnLst/>
            <a:rect l="l" t="t" r="r" b="b"/>
            <a:pathLst>
              <a:path w="1299612" h="703776">
                <a:moveTo>
                  <a:pt x="0" y="0"/>
                </a:moveTo>
                <a:lnTo>
                  <a:pt x="1299612" y="0"/>
                </a:lnTo>
                <a:lnTo>
                  <a:pt x="1299612" y="703776"/>
                </a:lnTo>
                <a:lnTo>
                  <a:pt x="0" y="7037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4609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Relational</a:t>
            </a:r>
            <a:r>
              <a:rPr sz="3200" spc="50" dirty="0"/>
              <a:t> </a:t>
            </a:r>
            <a:r>
              <a:rPr sz="3200" spc="65" dirty="0"/>
              <a:t>Schema:</a:t>
            </a:r>
            <a:r>
              <a:rPr sz="3200" spc="55" dirty="0"/>
              <a:t> </a:t>
            </a:r>
            <a:r>
              <a:rPr sz="3200" spc="60" dirty="0"/>
              <a:t>Transactions</a:t>
            </a:r>
            <a:r>
              <a:rPr sz="3200" spc="50" dirty="0"/>
              <a:t> </a:t>
            </a:r>
            <a:r>
              <a:rPr sz="3200" dirty="0"/>
              <a:t>&amp;</a:t>
            </a:r>
            <a:r>
              <a:rPr sz="3200" spc="55" dirty="0"/>
              <a:t> </a:t>
            </a:r>
            <a:r>
              <a:rPr sz="3200" spc="100" dirty="0"/>
              <a:t>Movements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423987" y="1095375"/>
            <a:ext cx="4962525" cy="1548130"/>
            <a:chOff x="1423987" y="1095375"/>
            <a:chExt cx="4962525" cy="1548130"/>
          </a:xfrm>
        </p:grpSpPr>
        <p:sp>
          <p:nvSpPr>
            <p:cNvPr id="4" name="object 4"/>
            <p:cNvSpPr/>
            <p:nvPr/>
          </p:nvSpPr>
          <p:spPr>
            <a:xfrm>
              <a:off x="1428750" y="1095375"/>
              <a:ext cx="4953000" cy="381000"/>
            </a:xfrm>
            <a:custGeom>
              <a:avLst/>
              <a:gdLst/>
              <a:ahLst/>
              <a:cxnLst/>
              <a:rect l="l" t="t" r="r" b="b"/>
              <a:pathLst>
                <a:path w="4953000" h="381000">
                  <a:moveTo>
                    <a:pt x="4895849" y="380999"/>
                  </a:move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4895849" y="0"/>
                  </a:lnTo>
                  <a:lnTo>
                    <a:pt x="4936261" y="16738"/>
                  </a:lnTo>
                  <a:lnTo>
                    <a:pt x="4952999" y="57149"/>
                  </a:lnTo>
                  <a:lnTo>
                    <a:pt x="4952999" y="323849"/>
                  </a:lnTo>
                  <a:lnTo>
                    <a:pt x="4948508" y="346095"/>
                  </a:lnTo>
                  <a:lnTo>
                    <a:pt x="4936261" y="364261"/>
                  </a:lnTo>
                  <a:lnTo>
                    <a:pt x="4918095" y="376508"/>
                  </a:lnTo>
                  <a:lnTo>
                    <a:pt x="4895849" y="380999"/>
                  </a:lnTo>
                  <a:close/>
                </a:path>
              </a:pathLst>
            </a:custGeom>
            <a:solidFill>
              <a:srgbClr val="019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28750" y="1590675"/>
              <a:ext cx="4953000" cy="1048385"/>
            </a:xfrm>
            <a:custGeom>
              <a:avLst/>
              <a:gdLst/>
              <a:ahLst/>
              <a:cxnLst/>
              <a:rect l="l" t="t" r="r" b="b"/>
              <a:pathLst>
                <a:path w="4953000" h="1048385">
                  <a:moveTo>
                    <a:pt x="4857745" y="1047899"/>
                  </a:moveTo>
                  <a:lnTo>
                    <a:pt x="95254" y="1047899"/>
                  </a:lnTo>
                  <a:lnTo>
                    <a:pt x="58176" y="1040414"/>
                  </a:lnTo>
                  <a:lnTo>
                    <a:pt x="27899" y="1020000"/>
                  </a:lnTo>
                  <a:lnTo>
                    <a:pt x="7485" y="989723"/>
                  </a:lnTo>
                  <a:lnTo>
                    <a:pt x="0" y="952645"/>
                  </a:lnTo>
                  <a:lnTo>
                    <a:pt x="0" y="95254"/>
                  </a:lnTo>
                  <a:lnTo>
                    <a:pt x="7485" y="58176"/>
                  </a:lnTo>
                  <a:lnTo>
                    <a:pt x="27899" y="27899"/>
                  </a:lnTo>
                  <a:lnTo>
                    <a:pt x="58176" y="7485"/>
                  </a:lnTo>
                  <a:lnTo>
                    <a:pt x="95254" y="0"/>
                  </a:lnTo>
                  <a:lnTo>
                    <a:pt x="4857745" y="0"/>
                  </a:lnTo>
                  <a:lnTo>
                    <a:pt x="4910592" y="16003"/>
                  </a:lnTo>
                  <a:lnTo>
                    <a:pt x="4945749" y="58801"/>
                  </a:lnTo>
                  <a:lnTo>
                    <a:pt x="4952999" y="95254"/>
                  </a:lnTo>
                  <a:lnTo>
                    <a:pt x="4952999" y="952645"/>
                  </a:lnTo>
                  <a:lnTo>
                    <a:pt x="4945514" y="989723"/>
                  </a:lnTo>
                  <a:lnTo>
                    <a:pt x="4925100" y="1020000"/>
                  </a:lnTo>
                  <a:lnTo>
                    <a:pt x="4894822" y="1040414"/>
                  </a:lnTo>
                  <a:lnTo>
                    <a:pt x="4857745" y="104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28750" y="1590675"/>
              <a:ext cx="4953000" cy="1048385"/>
            </a:xfrm>
            <a:custGeom>
              <a:avLst/>
              <a:gdLst/>
              <a:ahLst/>
              <a:cxnLst/>
              <a:rect l="l" t="t" r="r" b="b"/>
              <a:pathLst>
                <a:path w="4953000" h="1048385">
                  <a:moveTo>
                    <a:pt x="0" y="95254"/>
                  </a:moveTo>
                  <a:lnTo>
                    <a:pt x="7485" y="58176"/>
                  </a:lnTo>
                  <a:lnTo>
                    <a:pt x="27899" y="27899"/>
                  </a:lnTo>
                  <a:lnTo>
                    <a:pt x="58176" y="7485"/>
                  </a:lnTo>
                  <a:lnTo>
                    <a:pt x="95254" y="0"/>
                  </a:lnTo>
                  <a:lnTo>
                    <a:pt x="4857745" y="0"/>
                  </a:lnTo>
                  <a:lnTo>
                    <a:pt x="4910592" y="16003"/>
                  </a:lnTo>
                  <a:lnTo>
                    <a:pt x="4945749" y="58801"/>
                  </a:lnTo>
                  <a:lnTo>
                    <a:pt x="4952999" y="95254"/>
                  </a:lnTo>
                  <a:lnTo>
                    <a:pt x="4952999" y="952645"/>
                  </a:lnTo>
                  <a:lnTo>
                    <a:pt x="4945514" y="989723"/>
                  </a:lnTo>
                  <a:lnTo>
                    <a:pt x="4925100" y="1020000"/>
                  </a:lnTo>
                  <a:lnTo>
                    <a:pt x="4894822" y="1040414"/>
                  </a:lnTo>
                  <a:lnTo>
                    <a:pt x="4857745" y="1047899"/>
                  </a:lnTo>
                  <a:lnTo>
                    <a:pt x="95254" y="1047899"/>
                  </a:lnTo>
                  <a:lnTo>
                    <a:pt x="58176" y="1040414"/>
                  </a:lnTo>
                  <a:lnTo>
                    <a:pt x="27899" y="1020000"/>
                  </a:lnTo>
                  <a:lnTo>
                    <a:pt x="7485" y="989723"/>
                  </a:lnTo>
                  <a:lnTo>
                    <a:pt x="0" y="952645"/>
                  </a:lnTo>
                  <a:lnTo>
                    <a:pt x="0" y="9525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28750" y="1590687"/>
              <a:ext cx="4953000" cy="304800"/>
            </a:xfrm>
            <a:custGeom>
              <a:avLst/>
              <a:gdLst/>
              <a:ahLst/>
              <a:cxnLst/>
              <a:rect l="l" t="t" r="r" b="b"/>
              <a:pathLst>
                <a:path w="4953000" h="304800">
                  <a:moveTo>
                    <a:pt x="4953000" y="95250"/>
                  </a:moveTo>
                  <a:lnTo>
                    <a:pt x="4936985" y="42392"/>
                  </a:lnTo>
                  <a:lnTo>
                    <a:pt x="4894199" y="7239"/>
                  </a:lnTo>
                  <a:lnTo>
                    <a:pt x="4857750" y="0"/>
                  </a:lnTo>
                  <a:lnTo>
                    <a:pt x="95250" y="0"/>
                  </a:lnTo>
                  <a:lnTo>
                    <a:pt x="58166" y="7480"/>
                  </a:lnTo>
                  <a:lnTo>
                    <a:pt x="27889" y="27889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0" y="190500"/>
                  </a:lnTo>
                  <a:lnTo>
                    <a:pt x="0" y="209550"/>
                  </a:lnTo>
                  <a:lnTo>
                    <a:pt x="0" y="304800"/>
                  </a:lnTo>
                  <a:lnTo>
                    <a:pt x="95250" y="304800"/>
                  </a:lnTo>
                  <a:lnTo>
                    <a:pt x="4857750" y="304800"/>
                  </a:lnTo>
                  <a:lnTo>
                    <a:pt x="4953000" y="304800"/>
                  </a:lnTo>
                  <a:lnTo>
                    <a:pt x="4953000" y="209550"/>
                  </a:lnTo>
                  <a:lnTo>
                    <a:pt x="4953000" y="190500"/>
                  </a:lnTo>
                  <a:lnTo>
                    <a:pt x="4953000" y="952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58925" y="1898801"/>
            <a:ext cx="1548130" cy="41211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b="1" spc="-65" dirty="0">
                <a:solidFill>
                  <a:srgbClr val="3E3E3E"/>
                </a:solidFill>
                <a:latin typeface="Verdana"/>
                <a:cs typeface="Verdana"/>
              </a:rPr>
              <a:t>CustomerID</a:t>
            </a:r>
            <a:r>
              <a:rPr sz="1000" b="1" spc="-3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800" b="1" spc="-25" dirty="0">
                <a:solidFill>
                  <a:srgbClr val="D97706"/>
                </a:solidFill>
                <a:latin typeface="Tahoma"/>
                <a:cs typeface="Tahoma"/>
              </a:rPr>
              <a:t>PK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b="1" spc="-65" dirty="0">
                <a:solidFill>
                  <a:srgbClr val="3E3E3E"/>
                </a:solidFill>
                <a:latin typeface="Verdana"/>
                <a:cs typeface="Verdana"/>
              </a:rPr>
              <a:t>CustomerName</a:t>
            </a:r>
            <a:r>
              <a:rPr sz="1050" spc="-65" dirty="0">
                <a:solidFill>
                  <a:srgbClr val="3E3E3E"/>
                </a:solidFill>
                <a:latin typeface="Verdana"/>
                <a:cs typeface="Verdana"/>
              </a:rPr>
              <a:t>,</a:t>
            </a:r>
            <a:r>
              <a:rPr sz="1050" spc="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000" b="1" spc="-10" dirty="0">
                <a:solidFill>
                  <a:srgbClr val="3E3E3E"/>
                </a:solidFill>
                <a:latin typeface="Verdana"/>
                <a:cs typeface="Verdana"/>
              </a:rPr>
              <a:t>Phone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23987" y="2728912"/>
            <a:ext cx="4962525" cy="1134110"/>
            <a:chOff x="1423987" y="2728912"/>
            <a:chExt cx="4962525" cy="1134110"/>
          </a:xfrm>
        </p:grpSpPr>
        <p:sp>
          <p:nvSpPr>
            <p:cNvPr id="10" name="object 10"/>
            <p:cNvSpPr/>
            <p:nvPr/>
          </p:nvSpPr>
          <p:spPr>
            <a:xfrm>
              <a:off x="1428750" y="2733675"/>
              <a:ext cx="4953000" cy="1124585"/>
            </a:xfrm>
            <a:custGeom>
              <a:avLst/>
              <a:gdLst/>
              <a:ahLst/>
              <a:cxnLst/>
              <a:rect l="l" t="t" r="r" b="b"/>
              <a:pathLst>
                <a:path w="4953000" h="1124585">
                  <a:moveTo>
                    <a:pt x="4857743" y="1124099"/>
                  </a:moveTo>
                  <a:lnTo>
                    <a:pt x="95256" y="1124099"/>
                  </a:lnTo>
                  <a:lnTo>
                    <a:pt x="58178" y="1116614"/>
                  </a:lnTo>
                  <a:lnTo>
                    <a:pt x="27899" y="1096200"/>
                  </a:lnTo>
                  <a:lnTo>
                    <a:pt x="7485" y="1065921"/>
                  </a:lnTo>
                  <a:lnTo>
                    <a:pt x="0" y="1028843"/>
                  </a:lnTo>
                  <a:lnTo>
                    <a:pt x="0" y="95256"/>
                  </a:lnTo>
                  <a:lnTo>
                    <a:pt x="7485" y="58178"/>
                  </a:lnTo>
                  <a:lnTo>
                    <a:pt x="27899" y="27899"/>
                  </a:lnTo>
                  <a:lnTo>
                    <a:pt x="58178" y="7485"/>
                  </a:lnTo>
                  <a:lnTo>
                    <a:pt x="95256" y="0"/>
                  </a:lnTo>
                  <a:lnTo>
                    <a:pt x="4857743" y="0"/>
                  </a:lnTo>
                  <a:lnTo>
                    <a:pt x="4910591" y="16004"/>
                  </a:lnTo>
                  <a:lnTo>
                    <a:pt x="4945748" y="58803"/>
                  </a:lnTo>
                  <a:lnTo>
                    <a:pt x="4952999" y="95256"/>
                  </a:lnTo>
                  <a:lnTo>
                    <a:pt x="4952999" y="1028843"/>
                  </a:lnTo>
                  <a:lnTo>
                    <a:pt x="4945514" y="1065921"/>
                  </a:lnTo>
                  <a:lnTo>
                    <a:pt x="4925100" y="1096200"/>
                  </a:lnTo>
                  <a:lnTo>
                    <a:pt x="4894821" y="1116614"/>
                  </a:lnTo>
                  <a:lnTo>
                    <a:pt x="4857743" y="112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28750" y="2733675"/>
              <a:ext cx="4953000" cy="1124585"/>
            </a:xfrm>
            <a:custGeom>
              <a:avLst/>
              <a:gdLst/>
              <a:ahLst/>
              <a:cxnLst/>
              <a:rect l="l" t="t" r="r" b="b"/>
              <a:pathLst>
                <a:path w="4953000" h="1124585">
                  <a:moveTo>
                    <a:pt x="0" y="95256"/>
                  </a:moveTo>
                  <a:lnTo>
                    <a:pt x="7485" y="58178"/>
                  </a:lnTo>
                  <a:lnTo>
                    <a:pt x="27899" y="27899"/>
                  </a:lnTo>
                  <a:lnTo>
                    <a:pt x="58178" y="7485"/>
                  </a:lnTo>
                  <a:lnTo>
                    <a:pt x="95256" y="0"/>
                  </a:lnTo>
                  <a:lnTo>
                    <a:pt x="4857743" y="0"/>
                  </a:lnTo>
                  <a:lnTo>
                    <a:pt x="4910591" y="16004"/>
                  </a:lnTo>
                  <a:lnTo>
                    <a:pt x="4945748" y="58803"/>
                  </a:lnTo>
                  <a:lnTo>
                    <a:pt x="4952999" y="95256"/>
                  </a:lnTo>
                  <a:lnTo>
                    <a:pt x="4952999" y="1028843"/>
                  </a:lnTo>
                  <a:lnTo>
                    <a:pt x="4945514" y="1065921"/>
                  </a:lnTo>
                  <a:lnTo>
                    <a:pt x="4925100" y="1096200"/>
                  </a:lnTo>
                  <a:lnTo>
                    <a:pt x="4894821" y="1116614"/>
                  </a:lnTo>
                  <a:lnTo>
                    <a:pt x="4857743" y="1124099"/>
                  </a:lnTo>
                  <a:lnTo>
                    <a:pt x="95256" y="1124099"/>
                  </a:lnTo>
                  <a:lnTo>
                    <a:pt x="58178" y="1116614"/>
                  </a:lnTo>
                  <a:lnTo>
                    <a:pt x="27899" y="1096200"/>
                  </a:lnTo>
                  <a:lnTo>
                    <a:pt x="7485" y="1065921"/>
                  </a:lnTo>
                  <a:lnTo>
                    <a:pt x="0" y="1028843"/>
                  </a:lnTo>
                  <a:lnTo>
                    <a:pt x="0" y="95256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28750" y="2733687"/>
              <a:ext cx="4953000" cy="304800"/>
            </a:xfrm>
            <a:custGeom>
              <a:avLst/>
              <a:gdLst/>
              <a:ahLst/>
              <a:cxnLst/>
              <a:rect l="l" t="t" r="r" b="b"/>
              <a:pathLst>
                <a:path w="4953000" h="304800">
                  <a:moveTo>
                    <a:pt x="4953000" y="95250"/>
                  </a:moveTo>
                  <a:lnTo>
                    <a:pt x="4936985" y="42392"/>
                  </a:lnTo>
                  <a:lnTo>
                    <a:pt x="4894199" y="7239"/>
                  </a:lnTo>
                  <a:lnTo>
                    <a:pt x="4857750" y="0"/>
                  </a:lnTo>
                  <a:lnTo>
                    <a:pt x="95250" y="0"/>
                  </a:lnTo>
                  <a:lnTo>
                    <a:pt x="58166" y="7480"/>
                  </a:lnTo>
                  <a:lnTo>
                    <a:pt x="27889" y="27889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0" y="190500"/>
                  </a:lnTo>
                  <a:lnTo>
                    <a:pt x="0" y="209550"/>
                  </a:lnTo>
                  <a:lnTo>
                    <a:pt x="0" y="304800"/>
                  </a:lnTo>
                  <a:lnTo>
                    <a:pt x="95250" y="304800"/>
                  </a:lnTo>
                  <a:lnTo>
                    <a:pt x="4857750" y="304800"/>
                  </a:lnTo>
                  <a:lnTo>
                    <a:pt x="4953000" y="304800"/>
                  </a:lnTo>
                  <a:lnTo>
                    <a:pt x="4953000" y="209550"/>
                  </a:lnTo>
                  <a:lnTo>
                    <a:pt x="4953000" y="190500"/>
                  </a:lnTo>
                  <a:lnTo>
                    <a:pt x="4953000" y="952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58925" y="2794889"/>
            <a:ext cx="1082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1918C"/>
                </a:solidFill>
                <a:latin typeface="Tahoma"/>
                <a:cs typeface="Tahoma"/>
              </a:rPr>
              <a:t>Prescriptions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58925" y="3039745"/>
            <a:ext cx="1577975" cy="60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100"/>
              </a:spcBef>
            </a:pPr>
            <a:r>
              <a:rPr sz="1000" b="1" spc="-65" dirty="0">
                <a:solidFill>
                  <a:srgbClr val="3E3E3E"/>
                </a:solidFill>
                <a:latin typeface="Verdana"/>
                <a:cs typeface="Verdana"/>
              </a:rPr>
              <a:t>PrescriptionID</a:t>
            </a:r>
            <a:r>
              <a:rPr sz="1000" b="1" spc="3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800" b="1" spc="-25" dirty="0">
                <a:solidFill>
                  <a:srgbClr val="D97706"/>
                </a:solidFill>
                <a:latin typeface="Tahoma"/>
                <a:cs typeface="Tahoma"/>
              </a:rPr>
              <a:t>PK </a:t>
            </a:r>
            <a:r>
              <a:rPr sz="1000" b="1" spc="-65" dirty="0">
                <a:solidFill>
                  <a:srgbClr val="3E3E3E"/>
                </a:solidFill>
                <a:latin typeface="Verdana"/>
                <a:cs typeface="Verdana"/>
              </a:rPr>
              <a:t>CustomerID</a:t>
            </a:r>
            <a:r>
              <a:rPr sz="1000" b="1" spc="-3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800" b="1" spc="-25" dirty="0">
                <a:solidFill>
                  <a:srgbClr val="2563EB"/>
                </a:solidFill>
                <a:latin typeface="Tahoma"/>
                <a:cs typeface="Tahoma"/>
              </a:rPr>
              <a:t>FK </a:t>
            </a:r>
            <a:r>
              <a:rPr sz="1000" b="1" spc="-60" dirty="0">
                <a:solidFill>
                  <a:srgbClr val="3E3E3E"/>
                </a:solidFill>
                <a:latin typeface="Verdana"/>
                <a:cs typeface="Verdana"/>
              </a:rPr>
              <a:t>DoctorName</a:t>
            </a:r>
            <a:r>
              <a:rPr sz="1050" spc="-60" dirty="0">
                <a:solidFill>
                  <a:srgbClr val="3E3E3E"/>
                </a:solidFill>
                <a:latin typeface="Verdana"/>
                <a:cs typeface="Verdana"/>
              </a:rPr>
              <a:t>,</a:t>
            </a:r>
            <a:r>
              <a:rPr sz="1050" spc="-3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000" b="1" spc="-70" dirty="0">
                <a:solidFill>
                  <a:srgbClr val="3E3E3E"/>
                </a:solidFill>
                <a:latin typeface="Verdana"/>
                <a:cs typeface="Verdana"/>
              </a:rPr>
              <a:t>IssueDate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23987" y="3948112"/>
            <a:ext cx="4962525" cy="1210310"/>
            <a:chOff x="1423987" y="3948112"/>
            <a:chExt cx="4962525" cy="1210310"/>
          </a:xfrm>
        </p:grpSpPr>
        <p:sp>
          <p:nvSpPr>
            <p:cNvPr id="16" name="object 16"/>
            <p:cNvSpPr/>
            <p:nvPr/>
          </p:nvSpPr>
          <p:spPr>
            <a:xfrm>
              <a:off x="1428750" y="3952875"/>
              <a:ext cx="4953000" cy="1200785"/>
            </a:xfrm>
            <a:custGeom>
              <a:avLst/>
              <a:gdLst/>
              <a:ahLst/>
              <a:cxnLst/>
              <a:rect l="l" t="t" r="r" b="b"/>
              <a:pathLst>
                <a:path w="4953000" h="1200785">
                  <a:moveTo>
                    <a:pt x="4857744" y="1200299"/>
                  </a:moveTo>
                  <a:lnTo>
                    <a:pt x="95255" y="1200299"/>
                  </a:lnTo>
                  <a:lnTo>
                    <a:pt x="58177" y="1192814"/>
                  </a:lnTo>
                  <a:lnTo>
                    <a:pt x="27899" y="1172400"/>
                  </a:lnTo>
                  <a:lnTo>
                    <a:pt x="7485" y="1142122"/>
                  </a:lnTo>
                  <a:lnTo>
                    <a:pt x="0" y="1105044"/>
                  </a:lnTo>
                  <a:lnTo>
                    <a:pt x="0" y="95255"/>
                  </a:lnTo>
                  <a:lnTo>
                    <a:pt x="7485" y="58177"/>
                  </a:lnTo>
                  <a:lnTo>
                    <a:pt x="27899" y="27899"/>
                  </a:lnTo>
                  <a:lnTo>
                    <a:pt x="58177" y="7485"/>
                  </a:lnTo>
                  <a:lnTo>
                    <a:pt x="95255" y="0"/>
                  </a:lnTo>
                  <a:lnTo>
                    <a:pt x="4857744" y="0"/>
                  </a:lnTo>
                  <a:lnTo>
                    <a:pt x="4910592" y="16004"/>
                  </a:lnTo>
                  <a:lnTo>
                    <a:pt x="4945749" y="58802"/>
                  </a:lnTo>
                  <a:lnTo>
                    <a:pt x="4952999" y="95255"/>
                  </a:lnTo>
                  <a:lnTo>
                    <a:pt x="4952999" y="1105044"/>
                  </a:lnTo>
                  <a:lnTo>
                    <a:pt x="4945514" y="1142122"/>
                  </a:lnTo>
                  <a:lnTo>
                    <a:pt x="4925100" y="1172400"/>
                  </a:lnTo>
                  <a:lnTo>
                    <a:pt x="4894822" y="1192814"/>
                  </a:lnTo>
                  <a:lnTo>
                    <a:pt x="4857744" y="1200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28750" y="3952875"/>
              <a:ext cx="4953000" cy="1200785"/>
            </a:xfrm>
            <a:custGeom>
              <a:avLst/>
              <a:gdLst/>
              <a:ahLst/>
              <a:cxnLst/>
              <a:rect l="l" t="t" r="r" b="b"/>
              <a:pathLst>
                <a:path w="4953000" h="1200785">
                  <a:moveTo>
                    <a:pt x="0" y="95255"/>
                  </a:moveTo>
                  <a:lnTo>
                    <a:pt x="7485" y="58177"/>
                  </a:lnTo>
                  <a:lnTo>
                    <a:pt x="27899" y="27899"/>
                  </a:lnTo>
                  <a:lnTo>
                    <a:pt x="58177" y="7485"/>
                  </a:lnTo>
                  <a:lnTo>
                    <a:pt x="95255" y="0"/>
                  </a:lnTo>
                  <a:lnTo>
                    <a:pt x="4857744" y="0"/>
                  </a:lnTo>
                  <a:lnTo>
                    <a:pt x="4910592" y="16004"/>
                  </a:lnTo>
                  <a:lnTo>
                    <a:pt x="4945749" y="58802"/>
                  </a:lnTo>
                  <a:lnTo>
                    <a:pt x="4952999" y="95255"/>
                  </a:lnTo>
                  <a:lnTo>
                    <a:pt x="4952999" y="1105044"/>
                  </a:lnTo>
                  <a:lnTo>
                    <a:pt x="4945514" y="1142122"/>
                  </a:lnTo>
                  <a:lnTo>
                    <a:pt x="4925100" y="1172400"/>
                  </a:lnTo>
                  <a:lnTo>
                    <a:pt x="4894822" y="1192814"/>
                  </a:lnTo>
                  <a:lnTo>
                    <a:pt x="4857744" y="1200299"/>
                  </a:lnTo>
                  <a:lnTo>
                    <a:pt x="95255" y="1200299"/>
                  </a:lnTo>
                  <a:lnTo>
                    <a:pt x="58177" y="1192814"/>
                  </a:lnTo>
                  <a:lnTo>
                    <a:pt x="27899" y="1172400"/>
                  </a:lnTo>
                  <a:lnTo>
                    <a:pt x="7485" y="1142122"/>
                  </a:lnTo>
                  <a:lnTo>
                    <a:pt x="0" y="1105044"/>
                  </a:lnTo>
                  <a:lnTo>
                    <a:pt x="0" y="95255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28750" y="3952887"/>
              <a:ext cx="4953000" cy="304800"/>
            </a:xfrm>
            <a:custGeom>
              <a:avLst/>
              <a:gdLst/>
              <a:ahLst/>
              <a:cxnLst/>
              <a:rect l="l" t="t" r="r" b="b"/>
              <a:pathLst>
                <a:path w="4953000" h="304800">
                  <a:moveTo>
                    <a:pt x="4953000" y="95250"/>
                  </a:moveTo>
                  <a:lnTo>
                    <a:pt x="4936985" y="42405"/>
                  </a:lnTo>
                  <a:lnTo>
                    <a:pt x="4894199" y="7239"/>
                  </a:lnTo>
                  <a:lnTo>
                    <a:pt x="4857750" y="0"/>
                  </a:lnTo>
                  <a:lnTo>
                    <a:pt x="95250" y="0"/>
                  </a:lnTo>
                  <a:lnTo>
                    <a:pt x="58166" y="7480"/>
                  </a:lnTo>
                  <a:lnTo>
                    <a:pt x="27889" y="27889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0" y="190500"/>
                  </a:lnTo>
                  <a:lnTo>
                    <a:pt x="0" y="209550"/>
                  </a:lnTo>
                  <a:lnTo>
                    <a:pt x="0" y="304800"/>
                  </a:lnTo>
                  <a:lnTo>
                    <a:pt x="95250" y="304800"/>
                  </a:lnTo>
                  <a:lnTo>
                    <a:pt x="4857750" y="304800"/>
                  </a:lnTo>
                  <a:lnTo>
                    <a:pt x="4953000" y="304800"/>
                  </a:lnTo>
                  <a:lnTo>
                    <a:pt x="4953000" y="209550"/>
                  </a:lnTo>
                  <a:lnTo>
                    <a:pt x="4953000" y="190500"/>
                  </a:lnTo>
                  <a:lnTo>
                    <a:pt x="4953000" y="952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558925" y="4014089"/>
            <a:ext cx="4400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1918C"/>
                </a:solidFill>
                <a:latin typeface="Tahoma"/>
                <a:cs typeface="Tahoma"/>
              </a:rPr>
              <a:t>Sales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58925" y="4261001"/>
            <a:ext cx="2165350" cy="61023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b="1" spc="-85" dirty="0">
                <a:solidFill>
                  <a:srgbClr val="3E3E3E"/>
                </a:solidFill>
                <a:latin typeface="Verdana"/>
                <a:cs typeface="Verdana"/>
              </a:rPr>
              <a:t>SaleID</a:t>
            </a:r>
            <a:r>
              <a:rPr sz="1000" b="1" spc="-5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800" b="1" spc="-25" dirty="0">
                <a:solidFill>
                  <a:srgbClr val="D97706"/>
                </a:solidFill>
                <a:latin typeface="Tahoma"/>
                <a:cs typeface="Tahoma"/>
              </a:rPr>
              <a:t>PK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b="1" spc="-65" dirty="0">
                <a:solidFill>
                  <a:srgbClr val="3E3E3E"/>
                </a:solidFill>
                <a:latin typeface="Verdana"/>
                <a:cs typeface="Verdana"/>
              </a:rPr>
              <a:t>CustomerID</a:t>
            </a:r>
            <a:r>
              <a:rPr sz="1000" b="1" spc="-2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800" b="1" spc="-40" dirty="0">
                <a:solidFill>
                  <a:srgbClr val="2563EB"/>
                </a:solidFill>
                <a:latin typeface="Tahoma"/>
                <a:cs typeface="Tahoma"/>
              </a:rPr>
              <a:t>FK</a:t>
            </a:r>
            <a:r>
              <a:rPr sz="1050" spc="-40" dirty="0">
                <a:solidFill>
                  <a:srgbClr val="3E3E3E"/>
                </a:solidFill>
                <a:latin typeface="Verdana"/>
                <a:cs typeface="Verdana"/>
              </a:rPr>
              <a:t>,</a:t>
            </a:r>
            <a:r>
              <a:rPr sz="1050" spc="-3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000" b="1" spc="-65" dirty="0">
                <a:solidFill>
                  <a:srgbClr val="3E3E3E"/>
                </a:solidFill>
                <a:latin typeface="Verdana"/>
                <a:cs typeface="Verdana"/>
              </a:rPr>
              <a:t>PrescriptionID</a:t>
            </a:r>
            <a:r>
              <a:rPr sz="1000" b="1" spc="-2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800" b="1" spc="-25" dirty="0">
                <a:solidFill>
                  <a:srgbClr val="2563EB"/>
                </a:solidFill>
                <a:latin typeface="Tahoma"/>
                <a:cs typeface="Tahoma"/>
              </a:rPr>
              <a:t>FK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b="1" spc="-70" dirty="0">
                <a:solidFill>
                  <a:srgbClr val="3E3E3E"/>
                </a:solidFill>
                <a:latin typeface="Verdana"/>
                <a:cs typeface="Verdana"/>
              </a:rPr>
              <a:t>SaleDate</a:t>
            </a:r>
            <a:r>
              <a:rPr sz="1050" spc="-70" dirty="0">
                <a:solidFill>
                  <a:srgbClr val="3E3E3E"/>
                </a:solidFill>
                <a:latin typeface="Verdana"/>
                <a:cs typeface="Verdana"/>
              </a:rPr>
              <a:t>,</a:t>
            </a:r>
            <a:r>
              <a:rPr sz="1050" spc="-5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000" b="1" spc="-10" dirty="0">
                <a:solidFill>
                  <a:srgbClr val="3E3E3E"/>
                </a:solidFill>
                <a:latin typeface="Verdana"/>
                <a:cs typeface="Verdana"/>
              </a:rPr>
              <a:t>GrandTotal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615112" y="1095375"/>
            <a:ext cx="5010785" cy="1700530"/>
            <a:chOff x="6615112" y="1095375"/>
            <a:chExt cx="5010785" cy="1700530"/>
          </a:xfrm>
        </p:grpSpPr>
        <p:sp>
          <p:nvSpPr>
            <p:cNvPr id="22" name="object 22"/>
            <p:cNvSpPr/>
            <p:nvPr/>
          </p:nvSpPr>
          <p:spPr>
            <a:xfrm>
              <a:off x="6619875" y="1095375"/>
              <a:ext cx="5001260" cy="381000"/>
            </a:xfrm>
            <a:custGeom>
              <a:avLst/>
              <a:gdLst/>
              <a:ahLst/>
              <a:cxnLst/>
              <a:rect l="l" t="t" r="r" b="b"/>
              <a:pathLst>
                <a:path w="5001259" h="381000">
                  <a:moveTo>
                    <a:pt x="4943549" y="380999"/>
                  </a:moveTo>
                  <a:lnTo>
                    <a:pt x="57149" y="380999"/>
                  </a:lnTo>
                  <a:lnTo>
                    <a:pt x="34904" y="376508"/>
                  </a:lnTo>
                  <a:lnTo>
                    <a:pt x="16738" y="364261"/>
                  </a:lnTo>
                  <a:lnTo>
                    <a:pt x="4491" y="346095"/>
                  </a:lnTo>
                  <a:lnTo>
                    <a:pt x="0" y="323849"/>
                  </a:lnTo>
                  <a:lnTo>
                    <a:pt x="0" y="57149"/>
                  </a:lnTo>
                  <a:lnTo>
                    <a:pt x="4491" y="34904"/>
                  </a:lnTo>
                  <a:lnTo>
                    <a:pt x="16738" y="16738"/>
                  </a:lnTo>
                  <a:lnTo>
                    <a:pt x="34904" y="4491"/>
                  </a:lnTo>
                  <a:lnTo>
                    <a:pt x="57149" y="0"/>
                  </a:lnTo>
                  <a:lnTo>
                    <a:pt x="4943549" y="0"/>
                  </a:lnTo>
                  <a:lnTo>
                    <a:pt x="4983960" y="16738"/>
                  </a:lnTo>
                  <a:lnTo>
                    <a:pt x="5000699" y="57149"/>
                  </a:lnTo>
                  <a:lnTo>
                    <a:pt x="5000699" y="323849"/>
                  </a:lnTo>
                  <a:lnTo>
                    <a:pt x="4996208" y="346095"/>
                  </a:lnTo>
                  <a:lnTo>
                    <a:pt x="4983961" y="364261"/>
                  </a:lnTo>
                  <a:lnTo>
                    <a:pt x="4965795" y="376508"/>
                  </a:lnTo>
                  <a:lnTo>
                    <a:pt x="4943549" y="380999"/>
                  </a:lnTo>
                  <a:close/>
                </a:path>
              </a:pathLst>
            </a:custGeom>
            <a:solidFill>
              <a:srgbClr val="019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19875" y="1590675"/>
              <a:ext cx="5001260" cy="1200785"/>
            </a:xfrm>
            <a:custGeom>
              <a:avLst/>
              <a:gdLst/>
              <a:ahLst/>
              <a:cxnLst/>
              <a:rect l="l" t="t" r="r" b="b"/>
              <a:pathLst>
                <a:path w="5001259" h="1200785">
                  <a:moveTo>
                    <a:pt x="4905444" y="1200299"/>
                  </a:moveTo>
                  <a:lnTo>
                    <a:pt x="95255" y="1200299"/>
                  </a:lnTo>
                  <a:lnTo>
                    <a:pt x="58177" y="1192814"/>
                  </a:lnTo>
                  <a:lnTo>
                    <a:pt x="27899" y="1172400"/>
                  </a:lnTo>
                  <a:lnTo>
                    <a:pt x="7485" y="1142122"/>
                  </a:lnTo>
                  <a:lnTo>
                    <a:pt x="0" y="1105044"/>
                  </a:lnTo>
                  <a:lnTo>
                    <a:pt x="0" y="95255"/>
                  </a:lnTo>
                  <a:lnTo>
                    <a:pt x="7485" y="58177"/>
                  </a:lnTo>
                  <a:lnTo>
                    <a:pt x="27899" y="27899"/>
                  </a:lnTo>
                  <a:lnTo>
                    <a:pt x="58177" y="7485"/>
                  </a:lnTo>
                  <a:lnTo>
                    <a:pt x="95255" y="0"/>
                  </a:lnTo>
                  <a:lnTo>
                    <a:pt x="4905444" y="0"/>
                  </a:lnTo>
                  <a:lnTo>
                    <a:pt x="4958291" y="16004"/>
                  </a:lnTo>
                  <a:lnTo>
                    <a:pt x="4993448" y="58802"/>
                  </a:lnTo>
                  <a:lnTo>
                    <a:pt x="5000699" y="95255"/>
                  </a:lnTo>
                  <a:lnTo>
                    <a:pt x="5000699" y="1105044"/>
                  </a:lnTo>
                  <a:lnTo>
                    <a:pt x="4993214" y="1142122"/>
                  </a:lnTo>
                  <a:lnTo>
                    <a:pt x="4972800" y="1172400"/>
                  </a:lnTo>
                  <a:lnTo>
                    <a:pt x="4942522" y="1192814"/>
                  </a:lnTo>
                  <a:lnTo>
                    <a:pt x="4905444" y="1200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19875" y="1590675"/>
              <a:ext cx="5001260" cy="1200785"/>
            </a:xfrm>
            <a:custGeom>
              <a:avLst/>
              <a:gdLst/>
              <a:ahLst/>
              <a:cxnLst/>
              <a:rect l="l" t="t" r="r" b="b"/>
              <a:pathLst>
                <a:path w="5001259" h="1200785">
                  <a:moveTo>
                    <a:pt x="0" y="95255"/>
                  </a:moveTo>
                  <a:lnTo>
                    <a:pt x="7485" y="58177"/>
                  </a:lnTo>
                  <a:lnTo>
                    <a:pt x="27899" y="27899"/>
                  </a:lnTo>
                  <a:lnTo>
                    <a:pt x="58177" y="7485"/>
                  </a:lnTo>
                  <a:lnTo>
                    <a:pt x="95255" y="0"/>
                  </a:lnTo>
                  <a:lnTo>
                    <a:pt x="4905444" y="0"/>
                  </a:lnTo>
                  <a:lnTo>
                    <a:pt x="4958291" y="16004"/>
                  </a:lnTo>
                  <a:lnTo>
                    <a:pt x="4993448" y="58802"/>
                  </a:lnTo>
                  <a:lnTo>
                    <a:pt x="5000699" y="95255"/>
                  </a:lnTo>
                  <a:lnTo>
                    <a:pt x="5000699" y="1105044"/>
                  </a:lnTo>
                  <a:lnTo>
                    <a:pt x="4993214" y="1142122"/>
                  </a:lnTo>
                  <a:lnTo>
                    <a:pt x="4972800" y="1172400"/>
                  </a:lnTo>
                  <a:lnTo>
                    <a:pt x="4942522" y="1192814"/>
                  </a:lnTo>
                  <a:lnTo>
                    <a:pt x="4905444" y="1200299"/>
                  </a:lnTo>
                  <a:lnTo>
                    <a:pt x="95255" y="1200299"/>
                  </a:lnTo>
                  <a:lnTo>
                    <a:pt x="58177" y="1192814"/>
                  </a:lnTo>
                  <a:lnTo>
                    <a:pt x="27899" y="1172400"/>
                  </a:lnTo>
                  <a:lnTo>
                    <a:pt x="7485" y="1142122"/>
                  </a:lnTo>
                  <a:lnTo>
                    <a:pt x="0" y="1105044"/>
                  </a:lnTo>
                  <a:lnTo>
                    <a:pt x="0" y="95255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19875" y="1590687"/>
              <a:ext cx="5001260" cy="304800"/>
            </a:xfrm>
            <a:custGeom>
              <a:avLst/>
              <a:gdLst/>
              <a:ahLst/>
              <a:cxnLst/>
              <a:rect l="l" t="t" r="r" b="b"/>
              <a:pathLst>
                <a:path w="5001259" h="304800">
                  <a:moveTo>
                    <a:pt x="5000688" y="95250"/>
                  </a:moveTo>
                  <a:lnTo>
                    <a:pt x="4984686" y="42392"/>
                  </a:lnTo>
                  <a:lnTo>
                    <a:pt x="4941900" y="7239"/>
                  </a:lnTo>
                  <a:lnTo>
                    <a:pt x="4905438" y="0"/>
                  </a:lnTo>
                  <a:lnTo>
                    <a:pt x="95250" y="0"/>
                  </a:lnTo>
                  <a:lnTo>
                    <a:pt x="58166" y="7480"/>
                  </a:lnTo>
                  <a:lnTo>
                    <a:pt x="27889" y="27889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0" y="190500"/>
                  </a:lnTo>
                  <a:lnTo>
                    <a:pt x="0" y="209550"/>
                  </a:lnTo>
                  <a:lnTo>
                    <a:pt x="0" y="304800"/>
                  </a:lnTo>
                  <a:lnTo>
                    <a:pt x="95250" y="304800"/>
                  </a:lnTo>
                  <a:lnTo>
                    <a:pt x="4905438" y="304800"/>
                  </a:lnTo>
                  <a:lnTo>
                    <a:pt x="5000688" y="304800"/>
                  </a:lnTo>
                  <a:lnTo>
                    <a:pt x="5000688" y="209550"/>
                  </a:lnTo>
                  <a:lnTo>
                    <a:pt x="5000688" y="190500"/>
                  </a:lnTo>
                  <a:lnTo>
                    <a:pt x="5000688" y="952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558925" y="1167510"/>
            <a:ext cx="7086600" cy="692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03190" algn="l"/>
              </a:tabLst>
            </a:pPr>
            <a:r>
              <a:rPr sz="1300" b="1" dirty="0">
                <a:solidFill>
                  <a:srgbClr val="FFFFFF"/>
                </a:solidFill>
                <a:latin typeface="Tahoma"/>
                <a:cs typeface="Tahoma"/>
              </a:rPr>
              <a:t>Customer</a:t>
            </a:r>
            <a:r>
              <a:rPr sz="1300" b="1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300" b="1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ahoma"/>
                <a:cs typeface="Tahoma"/>
              </a:rPr>
              <a:t>Sales</a:t>
            </a:r>
            <a:r>
              <a:rPr sz="1300" b="1" spc="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ahoma"/>
                <a:cs typeface="Tahoma"/>
              </a:rPr>
              <a:t>Transaction</a:t>
            </a:r>
            <a:r>
              <a:rPr sz="1300" b="1" dirty="0">
                <a:solidFill>
                  <a:srgbClr val="FFFFFF"/>
                </a:solidFill>
                <a:latin typeface="Tahoma"/>
                <a:cs typeface="Tahoma"/>
              </a:rPr>
              <a:t>	Line</a:t>
            </a:r>
            <a:r>
              <a:rPr sz="13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ahoma"/>
                <a:cs typeface="Tahoma"/>
              </a:rPr>
              <a:t>Items</a:t>
            </a:r>
            <a:r>
              <a:rPr sz="13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300" b="1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ahoma"/>
                <a:cs typeface="Tahoma"/>
              </a:rPr>
              <a:t>Tracking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5203190" algn="l"/>
              </a:tabLst>
            </a:pPr>
            <a:r>
              <a:rPr sz="1200" b="1" spc="-10" dirty="0">
                <a:solidFill>
                  <a:srgbClr val="01918C"/>
                </a:solidFill>
                <a:latin typeface="Tahoma"/>
                <a:cs typeface="Tahoma"/>
              </a:rPr>
              <a:t>Customers</a:t>
            </a:r>
            <a:r>
              <a:rPr sz="1200" b="1" dirty="0">
                <a:solidFill>
                  <a:srgbClr val="01918C"/>
                </a:solidFill>
                <a:latin typeface="Tahoma"/>
                <a:cs typeface="Tahoma"/>
              </a:rPr>
              <a:t>	</a:t>
            </a:r>
            <a:r>
              <a:rPr sz="1200" b="1" spc="-10" dirty="0">
                <a:solidFill>
                  <a:srgbClr val="01918C"/>
                </a:solidFill>
                <a:latin typeface="Tahoma"/>
                <a:cs typeface="Tahoma"/>
              </a:rPr>
              <a:t>Sale_Items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750050" y="1898801"/>
            <a:ext cx="2544445" cy="61023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000" b="1" spc="-90" dirty="0">
                <a:solidFill>
                  <a:srgbClr val="3E3E3E"/>
                </a:solidFill>
                <a:latin typeface="Verdana"/>
                <a:cs typeface="Verdana"/>
              </a:rPr>
              <a:t>SaleItemID</a:t>
            </a:r>
            <a:r>
              <a:rPr sz="1000" b="1" spc="-1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800" b="1" spc="-25" dirty="0">
                <a:solidFill>
                  <a:srgbClr val="D97706"/>
                </a:solidFill>
                <a:latin typeface="Tahoma"/>
                <a:cs typeface="Tahoma"/>
              </a:rPr>
              <a:t>PK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b="1" spc="-85" dirty="0">
                <a:solidFill>
                  <a:srgbClr val="3E3E3E"/>
                </a:solidFill>
                <a:latin typeface="Verdana"/>
                <a:cs typeface="Verdana"/>
              </a:rPr>
              <a:t>SaleID</a:t>
            </a:r>
            <a:r>
              <a:rPr sz="1000" b="1" spc="-4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800" b="1" spc="-40" dirty="0">
                <a:solidFill>
                  <a:srgbClr val="2563EB"/>
                </a:solidFill>
                <a:latin typeface="Tahoma"/>
                <a:cs typeface="Tahoma"/>
              </a:rPr>
              <a:t>FK</a:t>
            </a:r>
            <a:r>
              <a:rPr sz="1050" spc="-40" dirty="0">
                <a:solidFill>
                  <a:srgbClr val="3E3E3E"/>
                </a:solidFill>
                <a:latin typeface="Verdana"/>
                <a:cs typeface="Verdana"/>
              </a:rPr>
              <a:t>,</a:t>
            </a:r>
            <a:r>
              <a:rPr sz="1050" spc="-6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000" b="1" spc="-65" dirty="0">
                <a:solidFill>
                  <a:srgbClr val="3E3E3E"/>
                </a:solidFill>
                <a:latin typeface="Verdana"/>
                <a:cs typeface="Verdana"/>
              </a:rPr>
              <a:t>BatchID</a:t>
            </a:r>
            <a:r>
              <a:rPr sz="1000" b="1" spc="-3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800" b="1" spc="-25" dirty="0">
                <a:solidFill>
                  <a:srgbClr val="2563EB"/>
                </a:solidFill>
                <a:latin typeface="Tahoma"/>
                <a:cs typeface="Tahoma"/>
              </a:rPr>
              <a:t>FK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b="1" spc="-65" dirty="0">
                <a:solidFill>
                  <a:srgbClr val="3E3E3E"/>
                </a:solidFill>
                <a:latin typeface="Verdana"/>
                <a:cs typeface="Verdana"/>
              </a:rPr>
              <a:t>Quantity</a:t>
            </a:r>
            <a:r>
              <a:rPr sz="1050" spc="-65" dirty="0">
                <a:solidFill>
                  <a:srgbClr val="3E3E3E"/>
                </a:solidFill>
                <a:latin typeface="Verdana"/>
                <a:cs typeface="Verdana"/>
              </a:rPr>
              <a:t>,</a:t>
            </a:r>
            <a:r>
              <a:rPr sz="105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000" b="1" spc="-60" dirty="0">
                <a:solidFill>
                  <a:srgbClr val="3E3E3E"/>
                </a:solidFill>
                <a:latin typeface="Verdana"/>
                <a:cs typeface="Verdana"/>
              </a:rPr>
              <a:t>UnitPrice</a:t>
            </a:r>
            <a:r>
              <a:rPr sz="1050" spc="-60" dirty="0">
                <a:solidFill>
                  <a:srgbClr val="3E3E3E"/>
                </a:solidFill>
                <a:latin typeface="Verdana"/>
                <a:cs typeface="Verdana"/>
              </a:rPr>
              <a:t>,</a:t>
            </a:r>
            <a:r>
              <a:rPr sz="1050" spc="-5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000" b="1" spc="-50" dirty="0">
                <a:solidFill>
                  <a:srgbClr val="3E3E3E"/>
                </a:solidFill>
                <a:latin typeface="Verdana"/>
                <a:cs typeface="Verdana"/>
              </a:rPr>
              <a:t>Discount</a:t>
            </a:r>
            <a:r>
              <a:rPr sz="1050" spc="-50" dirty="0">
                <a:solidFill>
                  <a:srgbClr val="3E3E3E"/>
                </a:solidFill>
                <a:latin typeface="Verdana"/>
                <a:cs typeface="Verdana"/>
              </a:rPr>
              <a:t>,</a:t>
            </a:r>
            <a:r>
              <a:rPr sz="105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000" b="1" spc="-60" dirty="0">
                <a:solidFill>
                  <a:srgbClr val="3E3E3E"/>
                </a:solidFill>
                <a:latin typeface="Verdana"/>
                <a:cs typeface="Verdana"/>
              </a:rPr>
              <a:t>SubTotal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615112" y="2881312"/>
            <a:ext cx="5010785" cy="1057910"/>
            <a:chOff x="6615112" y="2881312"/>
            <a:chExt cx="5010785" cy="1057910"/>
          </a:xfrm>
        </p:grpSpPr>
        <p:sp>
          <p:nvSpPr>
            <p:cNvPr id="29" name="object 29"/>
            <p:cNvSpPr/>
            <p:nvPr/>
          </p:nvSpPr>
          <p:spPr>
            <a:xfrm>
              <a:off x="6619875" y="2886075"/>
              <a:ext cx="5001260" cy="1048385"/>
            </a:xfrm>
            <a:custGeom>
              <a:avLst/>
              <a:gdLst/>
              <a:ahLst/>
              <a:cxnLst/>
              <a:rect l="l" t="t" r="r" b="b"/>
              <a:pathLst>
                <a:path w="5001259" h="1048385">
                  <a:moveTo>
                    <a:pt x="4905445" y="1047899"/>
                  </a:moveTo>
                  <a:lnTo>
                    <a:pt x="95253" y="1047899"/>
                  </a:lnTo>
                  <a:lnTo>
                    <a:pt x="58176" y="1040414"/>
                  </a:lnTo>
                  <a:lnTo>
                    <a:pt x="27899" y="1020000"/>
                  </a:lnTo>
                  <a:lnTo>
                    <a:pt x="7485" y="989722"/>
                  </a:lnTo>
                  <a:lnTo>
                    <a:pt x="0" y="952645"/>
                  </a:lnTo>
                  <a:lnTo>
                    <a:pt x="0" y="95254"/>
                  </a:lnTo>
                  <a:lnTo>
                    <a:pt x="7485" y="58176"/>
                  </a:lnTo>
                  <a:lnTo>
                    <a:pt x="27899" y="27899"/>
                  </a:lnTo>
                  <a:lnTo>
                    <a:pt x="58176" y="7485"/>
                  </a:lnTo>
                  <a:lnTo>
                    <a:pt x="95253" y="0"/>
                  </a:lnTo>
                  <a:lnTo>
                    <a:pt x="4905445" y="0"/>
                  </a:lnTo>
                  <a:lnTo>
                    <a:pt x="4958292" y="16003"/>
                  </a:lnTo>
                  <a:lnTo>
                    <a:pt x="4993449" y="58801"/>
                  </a:lnTo>
                  <a:lnTo>
                    <a:pt x="5000699" y="95254"/>
                  </a:lnTo>
                  <a:lnTo>
                    <a:pt x="5000699" y="952645"/>
                  </a:lnTo>
                  <a:lnTo>
                    <a:pt x="4993214" y="989722"/>
                  </a:lnTo>
                  <a:lnTo>
                    <a:pt x="4972800" y="1020000"/>
                  </a:lnTo>
                  <a:lnTo>
                    <a:pt x="4942522" y="1040414"/>
                  </a:lnTo>
                  <a:lnTo>
                    <a:pt x="4905445" y="104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19875" y="2886075"/>
              <a:ext cx="5001260" cy="1048385"/>
            </a:xfrm>
            <a:custGeom>
              <a:avLst/>
              <a:gdLst/>
              <a:ahLst/>
              <a:cxnLst/>
              <a:rect l="l" t="t" r="r" b="b"/>
              <a:pathLst>
                <a:path w="5001259" h="1048385">
                  <a:moveTo>
                    <a:pt x="0" y="95254"/>
                  </a:moveTo>
                  <a:lnTo>
                    <a:pt x="7485" y="58176"/>
                  </a:lnTo>
                  <a:lnTo>
                    <a:pt x="27899" y="27899"/>
                  </a:lnTo>
                  <a:lnTo>
                    <a:pt x="58176" y="7485"/>
                  </a:lnTo>
                  <a:lnTo>
                    <a:pt x="95253" y="0"/>
                  </a:lnTo>
                  <a:lnTo>
                    <a:pt x="4905445" y="0"/>
                  </a:lnTo>
                  <a:lnTo>
                    <a:pt x="4958292" y="16003"/>
                  </a:lnTo>
                  <a:lnTo>
                    <a:pt x="4993449" y="58801"/>
                  </a:lnTo>
                  <a:lnTo>
                    <a:pt x="5000699" y="95254"/>
                  </a:lnTo>
                  <a:lnTo>
                    <a:pt x="5000699" y="952645"/>
                  </a:lnTo>
                  <a:lnTo>
                    <a:pt x="4993214" y="989722"/>
                  </a:lnTo>
                  <a:lnTo>
                    <a:pt x="4972800" y="1020000"/>
                  </a:lnTo>
                  <a:lnTo>
                    <a:pt x="4942522" y="1040414"/>
                  </a:lnTo>
                  <a:lnTo>
                    <a:pt x="4905445" y="1047899"/>
                  </a:lnTo>
                  <a:lnTo>
                    <a:pt x="95253" y="1047899"/>
                  </a:lnTo>
                  <a:lnTo>
                    <a:pt x="58176" y="1040414"/>
                  </a:lnTo>
                  <a:lnTo>
                    <a:pt x="27899" y="1020000"/>
                  </a:lnTo>
                  <a:lnTo>
                    <a:pt x="7485" y="989722"/>
                  </a:lnTo>
                  <a:lnTo>
                    <a:pt x="0" y="952645"/>
                  </a:lnTo>
                  <a:lnTo>
                    <a:pt x="0" y="9525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19875" y="2886087"/>
              <a:ext cx="5001260" cy="304800"/>
            </a:xfrm>
            <a:custGeom>
              <a:avLst/>
              <a:gdLst/>
              <a:ahLst/>
              <a:cxnLst/>
              <a:rect l="l" t="t" r="r" b="b"/>
              <a:pathLst>
                <a:path w="5001259" h="304800">
                  <a:moveTo>
                    <a:pt x="5000688" y="95250"/>
                  </a:moveTo>
                  <a:lnTo>
                    <a:pt x="4984686" y="42392"/>
                  </a:lnTo>
                  <a:lnTo>
                    <a:pt x="4941900" y="7239"/>
                  </a:lnTo>
                  <a:lnTo>
                    <a:pt x="4905438" y="0"/>
                  </a:lnTo>
                  <a:lnTo>
                    <a:pt x="95250" y="0"/>
                  </a:lnTo>
                  <a:lnTo>
                    <a:pt x="58166" y="7480"/>
                  </a:lnTo>
                  <a:lnTo>
                    <a:pt x="27889" y="27889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0" y="190500"/>
                  </a:lnTo>
                  <a:lnTo>
                    <a:pt x="0" y="209550"/>
                  </a:lnTo>
                  <a:lnTo>
                    <a:pt x="0" y="304800"/>
                  </a:lnTo>
                  <a:lnTo>
                    <a:pt x="95250" y="304800"/>
                  </a:lnTo>
                  <a:lnTo>
                    <a:pt x="4905438" y="304800"/>
                  </a:lnTo>
                  <a:lnTo>
                    <a:pt x="5000688" y="304800"/>
                  </a:lnTo>
                  <a:lnTo>
                    <a:pt x="5000688" y="209550"/>
                  </a:lnTo>
                  <a:lnTo>
                    <a:pt x="5000688" y="190500"/>
                  </a:lnTo>
                  <a:lnTo>
                    <a:pt x="5000688" y="952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750050" y="2947289"/>
            <a:ext cx="8280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1918C"/>
                </a:solidFill>
                <a:latin typeface="Tahoma"/>
                <a:cs typeface="Tahoma"/>
              </a:rPr>
              <a:t>Payments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50050" y="3191891"/>
            <a:ext cx="2021205" cy="42164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000" b="1" spc="-65" dirty="0">
                <a:solidFill>
                  <a:srgbClr val="3E3E3E"/>
                </a:solidFill>
                <a:latin typeface="Verdana"/>
                <a:cs typeface="Verdana"/>
              </a:rPr>
              <a:t>PaymentID</a:t>
            </a:r>
            <a:r>
              <a:rPr sz="1000" b="1" spc="-4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800" b="1" spc="-40" dirty="0">
                <a:solidFill>
                  <a:srgbClr val="D97706"/>
                </a:solidFill>
                <a:latin typeface="Tahoma"/>
                <a:cs typeface="Tahoma"/>
              </a:rPr>
              <a:t>PK</a:t>
            </a:r>
            <a:r>
              <a:rPr sz="1050" spc="-40" dirty="0">
                <a:solidFill>
                  <a:srgbClr val="3E3E3E"/>
                </a:solidFill>
                <a:latin typeface="Verdana"/>
                <a:cs typeface="Verdana"/>
              </a:rPr>
              <a:t>,</a:t>
            </a:r>
            <a:r>
              <a:rPr sz="105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000" b="1" spc="-85" dirty="0">
                <a:solidFill>
                  <a:srgbClr val="3E3E3E"/>
                </a:solidFill>
                <a:latin typeface="Verdana"/>
                <a:cs typeface="Verdana"/>
              </a:rPr>
              <a:t>SaleID</a:t>
            </a:r>
            <a:r>
              <a:rPr sz="1000" b="1" spc="-4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800" b="1" spc="-25" dirty="0">
                <a:solidFill>
                  <a:srgbClr val="2563EB"/>
                </a:solidFill>
                <a:latin typeface="Tahoma"/>
                <a:cs typeface="Tahoma"/>
              </a:rPr>
              <a:t>FK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b="1" spc="-50" dirty="0">
                <a:solidFill>
                  <a:srgbClr val="3E3E3E"/>
                </a:solidFill>
                <a:latin typeface="Verdana"/>
                <a:cs typeface="Verdana"/>
              </a:rPr>
              <a:t>PaymentMethod</a:t>
            </a:r>
            <a:r>
              <a:rPr sz="1050" spc="-50" dirty="0">
                <a:solidFill>
                  <a:srgbClr val="3E3E3E"/>
                </a:solidFill>
                <a:latin typeface="Verdana"/>
                <a:cs typeface="Verdana"/>
              </a:rPr>
              <a:t>,</a:t>
            </a:r>
            <a:r>
              <a:rPr sz="105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000" b="1" spc="-30" dirty="0">
                <a:solidFill>
                  <a:srgbClr val="3E3E3E"/>
                </a:solidFill>
                <a:latin typeface="Verdana"/>
                <a:cs typeface="Verdana"/>
              </a:rPr>
              <a:t>AmountPaid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615112" y="4024312"/>
            <a:ext cx="5010785" cy="1134110"/>
            <a:chOff x="6615112" y="4024312"/>
            <a:chExt cx="5010785" cy="1134110"/>
          </a:xfrm>
        </p:grpSpPr>
        <p:sp>
          <p:nvSpPr>
            <p:cNvPr id="35" name="object 35"/>
            <p:cNvSpPr/>
            <p:nvPr/>
          </p:nvSpPr>
          <p:spPr>
            <a:xfrm>
              <a:off x="6619875" y="4029075"/>
              <a:ext cx="5001260" cy="1124585"/>
            </a:xfrm>
            <a:custGeom>
              <a:avLst/>
              <a:gdLst/>
              <a:ahLst/>
              <a:cxnLst/>
              <a:rect l="l" t="t" r="r" b="b"/>
              <a:pathLst>
                <a:path w="5001259" h="1124585">
                  <a:moveTo>
                    <a:pt x="4905443" y="1124099"/>
                  </a:moveTo>
                  <a:lnTo>
                    <a:pt x="95256" y="1124099"/>
                  </a:lnTo>
                  <a:lnTo>
                    <a:pt x="58178" y="1116614"/>
                  </a:lnTo>
                  <a:lnTo>
                    <a:pt x="27899" y="1096200"/>
                  </a:lnTo>
                  <a:lnTo>
                    <a:pt x="7485" y="1065921"/>
                  </a:lnTo>
                  <a:lnTo>
                    <a:pt x="0" y="1028843"/>
                  </a:lnTo>
                  <a:lnTo>
                    <a:pt x="0" y="95256"/>
                  </a:lnTo>
                  <a:lnTo>
                    <a:pt x="7485" y="58178"/>
                  </a:lnTo>
                  <a:lnTo>
                    <a:pt x="27899" y="27899"/>
                  </a:lnTo>
                  <a:lnTo>
                    <a:pt x="58178" y="7485"/>
                  </a:lnTo>
                  <a:lnTo>
                    <a:pt x="95256" y="0"/>
                  </a:lnTo>
                  <a:lnTo>
                    <a:pt x="4905443" y="0"/>
                  </a:lnTo>
                  <a:lnTo>
                    <a:pt x="4958291" y="16004"/>
                  </a:lnTo>
                  <a:lnTo>
                    <a:pt x="4993448" y="58803"/>
                  </a:lnTo>
                  <a:lnTo>
                    <a:pt x="5000699" y="95256"/>
                  </a:lnTo>
                  <a:lnTo>
                    <a:pt x="5000699" y="1028843"/>
                  </a:lnTo>
                  <a:lnTo>
                    <a:pt x="4993214" y="1065921"/>
                  </a:lnTo>
                  <a:lnTo>
                    <a:pt x="4972800" y="1096200"/>
                  </a:lnTo>
                  <a:lnTo>
                    <a:pt x="4942521" y="1116614"/>
                  </a:lnTo>
                  <a:lnTo>
                    <a:pt x="4905443" y="1124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619875" y="4029075"/>
              <a:ext cx="5001260" cy="1124585"/>
            </a:xfrm>
            <a:custGeom>
              <a:avLst/>
              <a:gdLst/>
              <a:ahLst/>
              <a:cxnLst/>
              <a:rect l="l" t="t" r="r" b="b"/>
              <a:pathLst>
                <a:path w="5001259" h="1124585">
                  <a:moveTo>
                    <a:pt x="0" y="95256"/>
                  </a:moveTo>
                  <a:lnTo>
                    <a:pt x="7485" y="58178"/>
                  </a:lnTo>
                  <a:lnTo>
                    <a:pt x="27899" y="27899"/>
                  </a:lnTo>
                  <a:lnTo>
                    <a:pt x="58178" y="7485"/>
                  </a:lnTo>
                  <a:lnTo>
                    <a:pt x="95256" y="0"/>
                  </a:lnTo>
                  <a:lnTo>
                    <a:pt x="4905443" y="0"/>
                  </a:lnTo>
                  <a:lnTo>
                    <a:pt x="4958291" y="16004"/>
                  </a:lnTo>
                  <a:lnTo>
                    <a:pt x="4993448" y="58803"/>
                  </a:lnTo>
                  <a:lnTo>
                    <a:pt x="5000699" y="95256"/>
                  </a:lnTo>
                  <a:lnTo>
                    <a:pt x="5000699" y="1028843"/>
                  </a:lnTo>
                  <a:lnTo>
                    <a:pt x="4993214" y="1065921"/>
                  </a:lnTo>
                  <a:lnTo>
                    <a:pt x="4972800" y="1096200"/>
                  </a:lnTo>
                  <a:lnTo>
                    <a:pt x="4942521" y="1116614"/>
                  </a:lnTo>
                  <a:lnTo>
                    <a:pt x="4905443" y="1124099"/>
                  </a:lnTo>
                  <a:lnTo>
                    <a:pt x="95256" y="1124099"/>
                  </a:lnTo>
                  <a:lnTo>
                    <a:pt x="58178" y="1116614"/>
                  </a:lnTo>
                  <a:lnTo>
                    <a:pt x="27899" y="1096200"/>
                  </a:lnTo>
                  <a:lnTo>
                    <a:pt x="7485" y="1065921"/>
                  </a:lnTo>
                  <a:lnTo>
                    <a:pt x="0" y="1028843"/>
                  </a:lnTo>
                  <a:lnTo>
                    <a:pt x="0" y="95256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619875" y="4029087"/>
              <a:ext cx="5001260" cy="304800"/>
            </a:xfrm>
            <a:custGeom>
              <a:avLst/>
              <a:gdLst/>
              <a:ahLst/>
              <a:cxnLst/>
              <a:rect l="l" t="t" r="r" b="b"/>
              <a:pathLst>
                <a:path w="5001259" h="304800">
                  <a:moveTo>
                    <a:pt x="5000688" y="95250"/>
                  </a:moveTo>
                  <a:lnTo>
                    <a:pt x="4984686" y="42405"/>
                  </a:lnTo>
                  <a:lnTo>
                    <a:pt x="4941900" y="7239"/>
                  </a:lnTo>
                  <a:lnTo>
                    <a:pt x="4905438" y="0"/>
                  </a:lnTo>
                  <a:lnTo>
                    <a:pt x="95250" y="0"/>
                  </a:lnTo>
                  <a:lnTo>
                    <a:pt x="58166" y="7480"/>
                  </a:lnTo>
                  <a:lnTo>
                    <a:pt x="27889" y="27889"/>
                  </a:lnTo>
                  <a:lnTo>
                    <a:pt x="7480" y="58166"/>
                  </a:lnTo>
                  <a:lnTo>
                    <a:pt x="0" y="95250"/>
                  </a:lnTo>
                  <a:lnTo>
                    <a:pt x="0" y="190500"/>
                  </a:lnTo>
                  <a:lnTo>
                    <a:pt x="0" y="209550"/>
                  </a:lnTo>
                  <a:lnTo>
                    <a:pt x="0" y="304800"/>
                  </a:lnTo>
                  <a:lnTo>
                    <a:pt x="95250" y="304800"/>
                  </a:lnTo>
                  <a:lnTo>
                    <a:pt x="4905438" y="304800"/>
                  </a:lnTo>
                  <a:lnTo>
                    <a:pt x="5000688" y="304800"/>
                  </a:lnTo>
                  <a:lnTo>
                    <a:pt x="5000688" y="209550"/>
                  </a:lnTo>
                  <a:lnTo>
                    <a:pt x="5000688" y="190500"/>
                  </a:lnTo>
                  <a:lnTo>
                    <a:pt x="5000688" y="9525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750050" y="4090289"/>
            <a:ext cx="15024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1918C"/>
                </a:solidFill>
                <a:latin typeface="Tahoma"/>
                <a:cs typeface="Tahoma"/>
              </a:rPr>
              <a:t>Stock_Movements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750050" y="4334891"/>
            <a:ext cx="2762250" cy="42164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000" b="1" spc="-65" dirty="0">
                <a:solidFill>
                  <a:srgbClr val="3E3E3E"/>
                </a:solidFill>
                <a:latin typeface="Verdana"/>
                <a:cs typeface="Verdana"/>
              </a:rPr>
              <a:t>MovementID</a:t>
            </a:r>
            <a:r>
              <a:rPr sz="1000" b="1" spc="-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800" b="1" spc="-40" dirty="0">
                <a:solidFill>
                  <a:srgbClr val="D97706"/>
                </a:solidFill>
                <a:latin typeface="Tahoma"/>
                <a:cs typeface="Tahoma"/>
              </a:rPr>
              <a:t>PK</a:t>
            </a:r>
            <a:r>
              <a:rPr sz="1050" spc="-40" dirty="0">
                <a:solidFill>
                  <a:srgbClr val="3E3E3E"/>
                </a:solidFill>
                <a:latin typeface="Verdana"/>
                <a:cs typeface="Verdana"/>
              </a:rPr>
              <a:t>,</a:t>
            </a:r>
            <a:r>
              <a:rPr sz="1050" spc="-3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000" b="1" spc="-65" dirty="0">
                <a:solidFill>
                  <a:srgbClr val="3E3E3E"/>
                </a:solidFill>
                <a:latin typeface="Verdana"/>
                <a:cs typeface="Verdana"/>
              </a:rPr>
              <a:t>BatchID</a:t>
            </a:r>
            <a:r>
              <a:rPr sz="1000" b="1" spc="-1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800" b="1" spc="-25" dirty="0">
                <a:solidFill>
                  <a:srgbClr val="2563EB"/>
                </a:solidFill>
                <a:latin typeface="Tahoma"/>
                <a:cs typeface="Tahoma"/>
              </a:rPr>
              <a:t>FK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000" b="1" spc="-60" dirty="0">
                <a:solidFill>
                  <a:srgbClr val="3E3E3E"/>
                </a:solidFill>
                <a:latin typeface="Verdana"/>
                <a:cs typeface="Verdana"/>
              </a:rPr>
              <a:t>MovementType</a:t>
            </a:r>
            <a:r>
              <a:rPr sz="1050" spc="-60" dirty="0">
                <a:solidFill>
                  <a:srgbClr val="3E3E3E"/>
                </a:solidFill>
                <a:latin typeface="Verdana"/>
                <a:cs typeface="Verdana"/>
              </a:rPr>
              <a:t>,</a:t>
            </a:r>
            <a:r>
              <a:rPr sz="1050" spc="-3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000" b="1" spc="-65" dirty="0">
                <a:solidFill>
                  <a:srgbClr val="3E3E3E"/>
                </a:solidFill>
                <a:latin typeface="Verdana"/>
                <a:cs typeface="Verdana"/>
              </a:rPr>
              <a:t>Quantity</a:t>
            </a:r>
            <a:r>
              <a:rPr sz="1050" spc="-65" dirty="0">
                <a:solidFill>
                  <a:srgbClr val="3E3E3E"/>
                </a:solidFill>
                <a:latin typeface="Verdana"/>
                <a:cs typeface="Verdana"/>
              </a:rPr>
              <a:t>,</a:t>
            </a:r>
            <a:r>
              <a:rPr sz="1050" spc="-3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000" b="1" spc="-30" dirty="0">
                <a:solidFill>
                  <a:srgbClr val="3E3E3E"/>
                </a:solidFill>
                <a:latin typeface="Verdana"/>
                <a:cs typeface="Verdana"/>
              </a:rPr>
              <a:t>MovementDate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419225" y="5324475"/>
            <a:ext cx="10211435" cy="1067435"/>
            <a:chOff x="1419225" y="5324475"/>
            <a:chExt cx="10211435" cy="1067435"/>
          </a:xfrm>
        </p:grpSpPr>
        <p:sp>
          <p:nvSpPr>
            <p:cNvPr id="41" name="object 41"/>
            <p:cNvSpPr/>
            <p:nvPr/>
          </p:nvSpPr>
          <p:spPr>
            <a:xfrm>
              <a:off x="1428750" y="5334000"/>
              <a:ext cx="10192385" cy="1048385"/>
            </a:xfrm>
            <a:custGeom>
              <a:avLst/>
              <a:gdLst/>
              <a:ahLst/>
              <a:cxnLst/>
              <a:rect l="l" t="t" r="r" b="b"/>
              <a:pathLst>
                <a:path w="10192385" h="1048385">
                  <a:moveTo>
                    <a:pt x="10077584" y="1047899"/>
                  </a:move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10077584" y="0"/>
                  </a:lnTo>
                  <a:lnTo>
                    <a:pt x="10121331" y="8701"/>
                  </a:lnTo>
                  <a:lnTo>
                    <a:pt x="10158417" y="33481"/>
                  </a:lnTo>
                  <a:lnTo>
                    <a:pt x="10183198" y="70568"/>
                  </a:lnTo>
                  <a:lnTo>
                    <a:pt x="10191899" y="114315"/>
                  </a:lnTo>
                  <a:lnTo>
                    <a:pt x="10191899" y="933584"/>
                  </a:lnTo>
                  <a:lnTo>
                    <a:pt x="10182916" y="978081"/>
                  </a:lnTo>
                  <a:lnTo>
                    <a:pt x="10158417" y="1014417"/>
                  </a:lnTo>
                  <a:lnTo>
                    <a:pt x="10122081" y="1038916"/>
                  </a:lnTo>
                  <a:lnTo>
                    <a:pt x="10077584" y="104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428750" y="5334000"/>
              <a:ext cx="10192385" cy="1048385"/>
            </a:xfrm>
            <a:custGeom>
              <a:avLst/>
              <a:gdLst/>
              <a:ahLst/>
              <a:cxnLst/>
              <a:rect l="l" t="t" r="r" b="b"/>
              <a:pathLst>
                <a:path w="10192385" h="1048385">
                  <a:moveTo>
                    <a:pt x="0" y="114315"/>
                  </a:moveTo>
                  <a:lnTo>
                    <a:pt x="8983" y="69818"/>
                  </a:lnTo>
                  <a:lnTo>
                    <a:pt x="33482" y="33482"/>
                  </a:lnTo>
                  <a:lnTo>
                    <a:pt x="69818" y="8983"/>
                  </a:lnTo>
                  <a:lnTo>
                    <a:pt x="114315" y="0"/>
                  </a:lnTo>
                  <a:lnTo>
                    <a:pt x="10077584" y="0"/>
                  </a:lnTo>
                  <a:lnTo>
                    <a:pt x="10121331" y="8701"/>
                  </a:lnTo>
                  <a:lnTo>
                    <a:pt x="10158417" y="33481"/>
                  </a:lnTo>
                  <a:lnTo>
                    <a:pt x="10183198" y="70568"/>
                  </a:lnTo>
                  <a:lnTo>
                    <a:pt x="10191899" y="114315"/>
                  </a:lnTo>
                  <a:lnTo>
                    <a:pt x="10191899" y="933584"/>
                  </a:lnTo>
                  <a:lnTo>
                    <a:pt x="10182916" y="978081"/>
                  </a:lnTo>
                  <a:lnTo>
                    <a:pt x="10158417" y="1014417"/>
                  </a:lnTo>
                  <a:lnTo>
                    <a:pt x="10122081" y="1038916"/>
                  </a:lnTo>
                  <a:lnTo>
                    <a:pt x="10077584" y="1047899"/>
                  </a:lnTo>
                  <a:lnTo>
                    <a:pt x="114315" y="1047899"/>
                  </a:lnTo>
                  <a:lnTo>
                    <a:pt x="69818" y="1038916"/>
                  </a:lnTo>
                  <a:lnTo>
                    <a:pt x="33482" y="1014417"/>
                  </a:lnTo>
                  <a:lnTo>
                    <a:pt x="8983" y="978081"/>
                  </a:lnTo>
                  <a:lnTo>
                    <a:pt x="0" y="933584"/>
                  </a:lnTo>
                  <a:lnTo>
                    <a:pt x="0" y="114315"/>
                  </a:lnTo>
                  <a:close/>
                </a:path>
              </a:pathLst>
            </a:custGeom>
            <a:ln w="19049">
              <a:solidFill>
                <a:srgbClr val="02C1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428749" y="5333999"/>
              <a:ext cx="114300" cy="1048385"/>
            </a:xfrm>
            <a:custGeom>
              <a:avLst/>
              <a:gdLst/>
              <a:ahLst/>
              <a:cxnLst/>
              <a:rect l="l" t="t" r="r" b="b"/>
              <a:pathLst>
                <a:path w="114300" h="1048385">
                  <a:moveTo>
                    <a:pt x="95249" y="3844"/>
                  </a:moveTo>
                  <a:lnTo>
                    <a:pt x="95249" y="0"/>
                  </a:lnTo>
                  <a:lnTo>
                    <a:pt x="114299" y="0"/>
                  </a:lnTo>
                  <a:lnTo>
                    <a:pt x="95249" y="3844"/>
                  </a:lnTo>
                  <a:close/>
                </a:path>
                <a:path w="114300" h="1048385">
                  <a:moveTo>
                    <a:pt x="95249" y="1044055"/>
                  </a:moveTo>
                  <a:lnTo>
                    <a:pt x="69798" y="1038920"/>
                  </a:lnTo>
                  <a:lnTo>
                    <a:pt x="33468" y="1014427"/>
                  </a:lnTo>
                  <a:lnTo>
                    <a:pt x="8978" y="978091"/>
                  </a:lnTo>
                  <a:lnTo>
                    <a:pt x="0" y="933582"/>
                  </a:lnTo>
                  <a:lnTo>
                    <a:pt x="0" y="114317"/>
                  </a:lnTo>
                  <a:lnTo>
                    <a:pt x="8978" y="69808"/>
                  </a:lnTo>
                  <a:lnTo>
                    <a:pt x="33468" y="33472"/>
                  </a:lnTo>
                  <a:lnTo>
                    <a:pt x="69798" y="8979"/>
                  </a:lnTo>
                  <a:lnTo>
                    <a:pt x="95249" y="3844"/>
                  </a:lnTo>
                  <a:lnTo>
                    <a:pt x="95249" y="1044055"/>
                  </a:lnTo>
                  <a:close/>
                </a:path>
                <a:path w="114300" h="1048385">
                  <a:moveTo>
                    <a:pt x="114299" y="1047899"/>
                  </a:moveTo>
                  <a:lnTo>
                    <a:pt x="95249" y="1047899"/>
                  </a:lnTo>
                  <a:lnTo>
                    <a:pt x="95249" y="1044055"/>
                  </a:lnTo>
                  <a:lnTo>
                    <a:pt x="114299" y="1047899"/>
                  </a:lnTo>
                  <a:close/>
                </a:path>
              </a:pathLst>
            </a:custGeom>
            <a:solidFill>
              <a:srgbClr val="FFC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654175" y="5586222"/>
            <a:ext cx="8633460" cy="47498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100" b="1" spc="10" dirty="0">
                <a:solidFill>
                  <a:srgbClr val="01918C"/>
                </a:solidFill>
                <a:latin typeface="Tahoma"/>
                <a:cs typeface="Tahoma"/>
              </a:rPr>
              <a:t>Architectural</a:t>
            </a:r>
            <a:r>
              <a:rPr sz="1100" b="1" spc="17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01918C"/>
                </a:solidFill>
                <a:latin typeface="Tahoma"/>
                <a:cs typeface="Tahoma"/>
              </a:rPr>
              <a:t>Rationale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1100" spc="-20" dirty="0">
                <a:solidFill>
                  <a:srgbClr val="3E3E3E"/>
                </a:solidFill>
                <a:latin typeface="Verdana"/>
                <a:cs typeface="Verdana"/>
              </a:rPr>
              <a:t>Transactions</a:t>
            </a: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 are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normalized</a:t>
            </a: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into</a:t>
            </a: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E3E3E"/>
                </a:solidFill>
                <a:latin typeface="Verdana"/>
                <a:cs typeface="Verdana"/>
              </a:rPr>
              <a:t>header/detail</a:t>
            </a: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and</a:t>
            </a:r>
            <a:r>
              <a:rPr sz="1100" spc="-2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movement</a:t>
            </a: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logs</a:t>
            </a: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to</a:t>
            </a: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E3E3E"/>
                </a:solidFill>
                <a:latin typeface="Verdana"/>
                <a:cs typeface="Verdana"/>
              </a:rPr>
              <a:t>preserve</a:t>
            </a: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auditability</a:t>
            </a:r>
            <a:r>
              <a:rPr sz="1100" spc="-2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and</a:t>
            </a: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support</a:t>
            </a: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E3E3E"/>
                </a:solidFill>
                <a:latin typeface="Verdana"/>
                <a:cs typeface="Verdana"/>
              </a:rPr>
              <a:t>FIFO/LIFO</a:t>
            </a: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analyses.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6" name="Freeform 32">
            <a:extLst>
              <a:ext uri="{FF2B5EF4-FFF2-40B4-BE49-F238E27FC236}">
                <a16:creationId xmlns:a16="http://schemas.microsoft.com/office/drawing/2014/main" id="{B20FF555-FC38-20A9-16E9-1059DF8B8F74}"/>
              </a:ext>
            </a:extLst>
          </p:cNvPr>
          <p:cNvSpPr/>
          <p:nvPr/>
        </p:nvSpPr>
        <p:spPr>
          <a:xfrm>
            <a:off x="11201400" y="66339"/>
            <a:ext cx="982824" cy="285231"/>
          </a:xfrm>
          <a:custGeom>
            <a:avLst/>
            <a:gdLst/>
            <a:ahLst/>
            <a:cxnLst/>
            <a:rect l="l" t="t" r="r" b="b"/>
            <a:pathLst>
              <a:path w="1299612" h="703776">
                <a:moveTo>
                  <a:pt x="0" y="0"/>
                </a:moveTo>
                <a:lnTo>
                  <a:pt x="1299612" y="0"/>
                </a:lnTo>
                <a:lnTo>
                  <a:pt x="1299612" y="703776"/>
                </a:lnTo>
                <a:lnTo>
                  <a:pt x="0" y="703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459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0"/>
              </a:spcBef>
            </a:pPr>
            <a:r>
              <a:rPr sz="3200" spc="65" dirty="0"/>
              <a:t>Normalization</a:t>
            </a:r>
            <a:r>
              <a:rPr sz="3200" spc="-65" dirty="0"/>
              <a:t> </a:t>
            </a:r>
            <a:r>
              <a:rPr sz="3200" spc="45" dirty="0"/>
              <a:t>Pipeline:</a:t>
            </a:r>
            <a:r>
              <a:rPr sz="3200" spc="-60" dirty="0"/>
              <a:t> </a:t>
            </a:r>
            <a:r>
              <a:rPr sz="3200" spc="120" dirty="0"/>
              <a:t>Achieving</a:t>
            </a:r>
            <a:r>
              <a:rPr sz="3200" spc="-60" dirty="0"/>
              <a:t> </a:t>
            </a:r>
            <a:r>
              <a:rPr sz="3200" spc="-155" dirty="0"/>
              <a:t>1NF</a:t>
            </a:r>
            <a:r>
              <a:rPr sz="3200" spc="-60" dirty="0"/>
              <a:t> </a:t>
            </a:r>
            <a:r>
              <a:rPr sz="3200" dirty="0"/>
              <a:t>&amp;</a:t>
            </a:r>
            <a:r>
              <a:rPr sz="3200" spc="-60" dirty="0"/>
              <a:t> </a:t>
            </a:r>
            <a:r>
              <a:rPr sz="3200" spc="-25" dirty="0"/>
              <a:t>2NF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1421447" y="1278572"/>
            <a:ext cx="4967605" cy="4015104"/>
            <a:chOff x="1421447" y="1278572"/>
            <a:chExt cx="4967605" cy="4015104"/>
          </a:xfrm>
        </p:grpSpPr>
        <p:sp>
          <p:nvSpPr>
            <p:cNvPr id="4" name="object 4"/>
            <p:cNvSpPr/>
            <p:nvPr/>
          </p:nvSpPr>
          <p:spPr>
            <a:xfrm>
              <a:off x="1428750" y="1285875"/>
              <a:ext cx="4953000" cy="4000500"/>
            </a:xfrm>
            <a:custGeom>
              <a:avLst/>
              <a:gdLst/>
              <a:ahLst/>
              <a:cxnLst/>
              <a:rect l="l" t="t" r="r" b="b"/>
              <a:pathLst>
                <a:path w="4953000" h="4000500">
                  <a:moveTo>
                    <a:pt x="4800620" y="4000499"/>
                  </a:moveTo>
                  <a:lnTo>
                    <a:pt x="152378" y="4000499"/>
                  </a:lnTo>
                  <a:lnTo>
                    <a:pt x="104215" y="3992731"/>
                  </a:lnTo>
                  <a:lnTo>
                    <a:pt x="62385" y="3971099"/>
                  </a:lnTo>
                  <a:lnTo>
                    <a:pt x="29400" y="3938114"/>
                  </a:lnTo>
                  <a:lnTo>
                    <a:pt x="7768" y="3896284"/>
                  </a:lnTo>
                  <a:lnTo>
                    <a:pt x="0" y="3848120"/>
                  </a:lnTo>
                  <a:lnTo>
                    <a:pt x="0" y="152378"/>
                  </a:lnTo>
                  <a:lnTo>
                    <a:pt x="7768" y="104215"/>
                  </a:lnTo>
                  <a:lnTo>
                    <a:pt x="29400" y="62385"/>
                  </a:lnTo>
                  <a:lnTo>
                    <a:pt x="62385" y="29400"/>
                  </a:lnTo>
                  <a:lnTo>
                    <a:pt x="104215" y="7768"/>
                  </a:lnTo>
                  <a:lnTo>
                    <a:pt x="152378" y="0"/>
                  </a:lnTo>
                  <a:lnTo>
                    <a:pt x="4800620" y="0"/>
                  </a:lnTo>
                  <a:lnTo>
                    <a:pt x="4858933" y="11599"/>
                  </a:lnTo>
                  <a:lnTo>
                    <a:pt x="4908369" y="44630"/>
                  </a:lnTo>
                  <a:lnTo>
                    <a:pt x="4941400" y="94066"/>
                  </a:lnTo>
                  <a:lnTo>
                    <a:pt x="4952999" y="152378"/>
                  </a:lnTo>
                  <a:lnTo>
                    <a:pt x="4952999" y="3848120"/>
                  </a:lnTo>
                  <a:lnTo>
                    <a:pt x="4945231" y="3896284"/>
                  </a:lnTo>
                  <a:lnTo>
                    <a:pt x="4923599" y="3938114"/>
                  </a:lnTo>
                  <a:lnTo>
                    <a:pt x="4890614" y="3971099"/>
                  </a:lnTo>
                  <a:lnTo>
                    <a:pt x="4848784" y="3992731"/>
                  </a:lnTo>
                  <a:lnTo>
                    <a:pt x="4800620" y="4000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28750" y="1285875"/>
              <a:ext cx="4953000" cy="4000500"/>
            </a:xfrm>
            <a:custGeom>
              <a:avLst/>
              <a:gdLst/>
              <a:ahLst/>
              <a:cxnLst/>
              <a:rect l="l" t="t" r="r" b="b"/>
              <a:pathLst>
                <a:path w="4953000" h="4000500">
                  <a:moveTo>
                    <a:pt x="0" y="152378"/>
                  </a:moveTo>
                  <a:lnTo>
                    <a:pt x="7768" y="104215"/>
                  </a:lnTo>
                  <a:lnTo>
                    <a:pt x="29400" y="62385"/>
                  </a:lnTo>
                  <a:lnTo>
                    <a:pt x="62385" y="29400"/>
                  </a:lnTo>
                  <a:lnTo>
                    <a:pt x="104215" y="7768"/>
                  </a:lnTo>
                  <a:lnTo>
                    <a:pt x="152378" y="0"/>
                  </a:lnTo>
                  <a:lnTo>
                    <a:pt x="4800620" y="0"/>
                  </a:lnTo>
                  <a:lnTo>
                    <a:pt x="4858933" y="11599"/>
                  </a:lnTo>
                  <a:lnTo>
                    <a:pt x="4908369" y="44630"/>
                  </a:lnTo>
                  <a:lnTo>
                    <a:pt x="4941400" y="94066"/>
                  </a:lnTo>
                  <a:lnTo>
                    <a:pt x="4952999" y="152378"/>
                  </a:lnTo>
                  <a:lnTo>
                    <a:pt x="4952999" y="3848120"/>
                  </a:lnTo>
                  <a:lnTo>
                    <a:pt x="4945231" y="3896284"/>
                  </a:lnTo>
                  <a:lnTo>
                    <a:pt x="4923599" y="3938114"/>
                  </a:lnTo>
                  <a:lnTo>
                    <a:pt x="4890614" y="3971099"/>
                  </a:lnTo>
                  <a:lnTo>
                    <a:pt x="4848784" y="3992731"/>
                  </a:lnTo>
                  <a:lnTo>
                    <a:pt x="4800620" y="4000499"/>
                  </a:lnTo>
                  <a:lnTo>
                    <a:pt x="152378" y="4000499"/>
                  </a:lnTo>
                  <a:lnTo>
                    <a:pt x="104215" y="3992731"/>
                  </a:lnTo>
                  <a:lnTo>
                    <a:pt x="62385" y="3971099"/>
                  </a:lnTo>
                  <a:lnTo>
                    <a:pt x="29400" y="3938114"/>
                  </a:lnTo>
                  <a:lnTo>
                    <a:pt x="7768" y="3896284"/>
                  </a:lnTo>
                  <a:lnTo>
                    <a:pt x="0" y="3848120"/>
                  </a:lnTo>
                  <a:lnTo>
                    <a:pt x="0" y="152378"/>
                  </a:lnTo>
                  <a:close/>
                </a:path>
              </a:pathLst>
            </a:custGeom>
            <a:ln w="14299">
              <a:solidFill>
                <a:srgbClr val="0191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57350" y="1514475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699" y="533399"/>
                  </a:moveTo>
                  <a:lnTo>
                    <a:pt x="218760" y="529103"/>
                  </a:lnTo>
                  <a:lnTo>
                    <a:pt x="173639" y="516714"/>
                  </a:lnTo>
                  <a:lnTo>
                    <a:pt x="132091" y="496987"/>
                  </a:lnTo>
                  <a:lnTo>
                    <a:pt x="94868" y="470675"/>
                  </a:lnTo>
                  <a:lnTo>
                    <a:pt x="62724" y="438531"/>
                  </a:lnTo>
                  <a:lnTo>
                    <a:pt x="36412" y="401308"/>
                  </a:lnTo>
                  <a:lnTo>
                    <a:pt x="16685" y="359760"/>
                  </a:lnTo>
                  <a:lnTo>
                    <a:pt x="4296" y="314639"/>
                  </a:lnTo>
                  <a:lnTo>
                    <a:pt x="0" y="266699"/>
                  </a:lnTo>
                  <a:lnTo>
                    <a:pt x="4296" y="218760"/>
                  </a:lnTo>
                  <a:lnTo>
                    <a:pt x="16685" y="173639"/>
                  </a:lnTo>
                  <a:lnTo>
                    <a:pt x="36412" y="132091"/>
                  </a:lnTo>
                  <a:lnTo>
                    <a:pt x="62724" y="94868"/>
                  </a:lnTo>
                  <a:lnTo>
                    <a:pt x="94868" y="62724"/>
                  </a:lnTo>
                  <a:lnTo>
                    <a:pt x="132091" y="36412"/>
                  </a:lnTo>
                  <a:lnTo>
                    <a:pt x="173639" y="16685"/>
                  </a:lnTo>
                  <a:lnTo>
                    <a:pt x="218760" y="4296"/>
                  </a:lnTo>
                  <a:lnTo>
                    <a:pt x="266699" y="0"/>
                  </a:lnTo>
                  <a:lnTo>
                    <a:pt x="318973" y="5171"/>
                  </a:lnTo>
                  <a:lnTo>
                    <a:pt x="368761" y="20301"/>
                  </a:lnTo>
                  <a:lnTo>
                    <a:pt x="414665" y="44808"/>
                  </a:lnTo>
                  <a:lnTo>
                    <a:pt x="455285" y="78114"/>
                  </a:lnTo>
                  <a:lnTo>
                    <a:pt x="488591" y="118734"/>
                  </a:lnTo>
                  <a:lnTo>
                    <a:pt x="513098" y="164638"/>
                  </a:lnTo>
                  <a:lnTo>
                    <a:pt x="528228" y="214426"/>
                  </a:lnTo>
                  <a:lnTo>
                    <a:pt x="533399" y="266699"/>
                  </a:lnTo>
                  <a:lnTo>
                    <a:pt x="529103" y="314639"/>
                  </a:lnTo>
                  <a:lnTo>
                    <a:pt x="516714" y="359760"/>
                  </a:lnTo>
                  <a:lnTo>
                    <a:pt x="496987" y="401308"/>
                  </a:lnTo>
                  <a:lnTo>
                    <a:pt x="470675" y="438531"/>
                  </a:lnTo>
                  <a:lnTo>
                    <a:pt x="438531" y="470675"/>
                  </a:lnTo>
                  <a:lnTo>
                    <a:pt x="401308" y="496987"/>
                  </a:lnTo>
                  <a:lnTo>
                    <a:pt x="359760" y="516714"/>
                  </a:lnTo>
                  <a:lnTo>
                    <a:pt x="314639" y="529103"/>
                  </a:lnTo>
                  <a:lnTo>
                    <a:pt x="266699" y="533399"/>
                  </a:lnTo>
                  <a:close/>
                </a:path>
              </a:pathLst>
            </a:custGeom>
            <a:solidFill>
              <a:srgbClr val="02C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684098" y="1571371"/>
            <a:ext cx="4325620" cy="1890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spc="-112" baseline="-3787" dirty="0">
                <a:solidFill>
                  <a:srgbClr val="FFFFFF"/>
                </a:solidFill>
                <a:latin typeface="Arial"/>
                <a:cs typeface="Arial"/>
              </a:rPr>
              <a:t>1NF</a:t>
            </a:r>
            <a:r>
              <a:rPr sz="3300" b="1" spc="735" baseline="-37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1918C"/>
                </a:solidFill>
                <a:latin typeface="Tahoma"/>
                <a:cs typeface="Tahoma"/>
              </a:rPr>
              <a:t>First</a:t>
            </a:r>
            <a:r>
              <a:rPr sz="1800" b="1" spc="-6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01918C"/>
                </a:solidFill>
                <a:latin typeface="Tahoma"/>
                <a:cs typeface="Tahoma"/>
              </a:rPr>
              <a:t>Normal</a:t>
            </a:r>
            <a:r>
              <a:rPr sz="1800" b="1" spc="-6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800" b="1" spc="70" dirty="0">
                <a:solidFill>
                  <a:srgbClr val="01918C"/>
                </a:solidFill>
                <a:latin typeface="Tahoma"/>
                <a:cs typeface="Tahoma"/>
              </a:rPr>
              <a:t>Form</a:t>
            </a:r>
            <a:r>
              <a:rPr sz="1800" b="1" spc="-5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01918C"/>
                </a:solidFill>
                <a:latin typeface="Tahoma"/>
                <a:cs typeface="Tahoma"/>
              </a:rPr>
              <a:t>(1NF)</a:t>
            </a:r>
            <a:endParaRPr sz="1800">
              <a:latin typeface="Tahoma"/>
              <a:cs typeface="Tahoma"/>
            </a:endParaRPr>
          </a:p>
          <a:p>
            <a:pPr marL="429895" indent="-328295">
              <a:lnSpc>
                <a:spcPct val="100000"/>
              </a:lnSpc>
              <a:spcBef>
                <a:spcPts val="2085"/>
              </a:spcBef>
              <a:buFont typeface="Arial MT"/>
              <a:buChar char="●"/>
              <a:tabLst>
                <a:tab pos="429895" algn="l"/>
              </a:tabLst>
            </a:pPr>
            <a:r>
              <a:rPr sz="1300" b="1" dirty="0">
                <a:solidFill>
                  <a:srgbClr val="01918C"/>
                </a:solidFill>
                <a:latin typeface="Tahoma"/>
                <a:cs typeface="Tahoma"/>
              </a:rPr>
              <a:t>Enforced</a:t>
            </a:r>
            <a:r>
              <a:rPr sz="1300" b="1" spc="229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01918C"/>
                </a:solidFill>
                <a:latin typeface="Tahoma"/>
                <a:cs typeface="Tahoma"/>
              </a:rPr>
              <a:t>atomic</a:t>
            </a:r>
            <a:r>
              <a:rPr sz="1300" b="1" spc="229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01918C"/>
                </a:solidFill>
                <a:latin typeface="Tahoma"/>
                <a:cs typeface="Tahoma"/>
              </a:rPr>
              <a:t>attributes:</a:t>
            </a:r>
            <a:r>
              <a:rPr sz="1300" b="1" spc="17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Separated</a:t>
            </a:r>
            <a:endParaRPr sz="1300">
              <a:latin typeface="Verdana"/>
              <a:cs typeface="Verdana"/>
            </a:endParaRPr>
          </a:p>
          <a:p>
            <a:pPr marL="429895" algn="just">
              <a:lnSpc>
                <a:spcPct val="100000"/>
              </a:lnSpc>
            </a:pP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multi-</a:t>
            </a:r>
            <a:r>
              <a:rPr sz="1300" spc="-20" dirty="0">
                <a:solidFill>
                  <a:srgbClr val="3E3E3E"/>
                </a:solidFill>
                <a:latin typeface="Verdana"/>
                <a:cs typeface="Verdana"/>
              </a:rPr>
              <a:t>line</a:t>
            </a:r>
            <a:r>
              <a:rPr sz="1300" spc="-4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E3E3E"/>
                </a:solidFill>
                <a:latin typeface="Verdana"/>
                <a:cs typeface="Verdana"/>
              </a:rPr>
              <a:t>sale</a:t>
            </a:r>
            <a:r>
              <a:rPr sz="1300" spc="-4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payloads</a:t>
            </a:r>
            <a:r>
              <a:rPr sz="1300" spc="-4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into</a:t>
            </a:r>
            <a:r>
              <a:rPr sz="1300" spc="-4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distinct</a:t>
            </a:r>
            <a:r>
              <a:rPr sz="1300" spc="-4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entities</a:t>
            </a:r>
            <a:r>
              <a:rPr sz="1300" spc="-4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3E3E3E"/>
                </a:solidFill>
                <a:latin typeface="Verdana"/>
                <a:cs typeface="Verdana"/>
              </a:rPr>
              <a:t>—</a:t>
            </a:r>
            <a:endParaRPr sz="1300">
              <a:latin typeface="Verdana"/>
              <a:cs typeface="Verdana"/>
            </a:endParaRPr>
          </a:p>
          <a:p>
            <a:pPr marL="429895" algn="just">
              <a:lnSpc>
                <a:spcPct val="100000"/>
              </a:lnSpc>
            </a:pPr>
            <a:r>
              <a:rPr sz="1100" b="1" dirty="0">
                <a:solidFill>
                  <a:srgbClr val="01918C"/>
                </a:solidFill>
                <a:latin typeface="Tahoma"/>
                <a:cs typeface="Tahoma"/>
              </a:rPr>
              <a:t>Sales</a:t>
            </a:r>
            <a:r>
              <a:rPr sz="1100" b="1" spc="4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00" spc="-35" dirty="0">
                <a:solidFill>
                  <a:srgbClr val="3E3E3E"/>
                </a:solidFill>
                <a:latin typeface="Verdana"/>
                <a:cs typeface="Verdana"/>
              </a:rPr>
              <a:t>(header)</a:t>
            </a:r>
            <a:r>
              <a:rPr sz="1300" spc="-8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and</a:t>
            </a:r>
            <a:r>
              <a:rPr sz="1300" spc="-9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b="1" spc="-10" dirty="0">
                <a:solidFill>
                  <a:srgbClr val="01918C"/>
                </a:solidFill>
                <a:latin typeface="Tahoma"/>
                <a:cs typeface="Tahoma"/>
              </a:rPr>
              <a:t>Sale_Items</a:t>
            </a:r>
            <a:r>
              <a:rPr sz="1100" b="1" spc="4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(rows).</a:t>
            </a:r>
            <a:endParaRPr sz="1300">
              <a:latin typeface="Verdana"/>
              <a:cs typeface="Verdana"/>
            </a:endParaRPr>
          </a:p>
          <a:p>
            <a:pPr marL="429895" marR="5080" indent="-328295" algn="just">
              <a:lnSpc>
                <a:spcPct val="100000"/>
              </a:lnSpc>
              <a:spcBef>
                <a:spcPts val="600"/>
              </a:spcBef>
              <a:buFont typeface="Arial MT"/>
              <a:buChar char="●"/>
              <a:tabLst>
                <a:tab pos="429895" algn="l"/>
              </a:tabLst>
            </a:pPr>
            <a:r>
              <a:rPr sz="1300" b="1" spc="10" dirty="0">
                <a:solidFill>
                  <a:srgbClr val="01918C"/>
                </a:solidFill>
                <a:latin typeface="Tahoma"/>
                <a:cs typeface="Tahoma"/>
              </a:rPr>
              <a:t>Eliminated</a:t>
            </a:r>
            <a:r>
              <a:rPr sz="1300" b="1" spc="7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00" b="1" spc="10" dirty="0">
                <a:solidFill>
                  <a:srgbClr val="01918C"/>
                </a:solidFill>
                <a:latin typeface="Tahoma"/>
                <a:cs typeface="Tahoma"/>
              </a:rPr>
              <a:t>list</a:t>
            </a:r>
            <a:r>
              <a:rPr sz="1300" b="1" spc="7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00" b="1" spc="10" dirty="0">
                <a:solidFill>
                  <a:srgbClr val="01918C"/>
                </a:solidFill>
                <a:latin typeface="Tahoma"/>
                <a:cs typeface="Tahoma"/>
              </a:rPr>
              <a:t>structures:</a:t>
            </a:r>
            <a:r>
              <a:rPr sz="1300" b="1" spc="3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00" spc="10" dirty="0">
                <a:solidFill>
                  <a:srgbClr val="3E3E3E"/>
                </a:solidFill>
                <a:latin typeface="Verdana"/>
                <a:cs typeface="Verdana"/>
              </a:rPr>
              <a:t>Removed</a:t>
            </a:r>
            <a:r>
              <a:rPr sz="1300" spc="-3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10" dirty="0">
                <a:solidFill>
                  <a:srgbClr val="3E3E3E"/>
                </a:solidFill>
                <a:latin typeface="Verdana"/>
                <a:cs typeface="Verdana"/>
              </a:rPr>
              <a:t>nested</a:t>
            </a:r>
            <a:r>
              <a:rPr sz="1300" spc="-3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3E3E3E"/>
                </a:solidFill>
                <a:latin typeface="Verdana"/>
                <a:cs typeface="Verdana"/>
              </a:rPr>
              <a:t>or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comma-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separated</a:t>
            </a:r>
            <a:r>
              <a:rPr sz="1300" spc="-3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30" dirty="0">
                <a:solidFill>
                  <a:srgbClr val="3E3E3E"/>
                </a:solidFill>
                <a:latin typeface="Verdana"/>
                <a:cs typeface="Verdana"/>
              </a:rPr>
              <a:t>lists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145" dirty="0">
                <a:solidFill>
                  <a:srgbClr val="3E3E3E"/>
                </a:solidFill>
                <a:latin typeface="Verdana"/>
                <a:cs typeface="Verdana"/>
              </a:rPr>
              <a:t>(e.g.,</a:t>
            </a:r>
            <a:r>
              <a:rPr sz="1300" spc="3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multi-</a:t>
            </a:r>
            <a:r>
              <a:rPr sz="1300" spc="-35" dirty="0">
                <a:solidFill>
                  <a:srgbClr val="3E3E3E"/>
                </a:solidFill>
                <a:latin typeface="Verdana"/>
                <a:cs typeface="Verdana"/>
              </a:rPr>
              <a:t>sku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40" dirty="0">
                <a:solidFill>
                  <a:srgbClr val="3E3E3E"/>
                </a:solidFill>
                <a:latin typeface="Verdana"/>
                <a:cs typeface="Verdana"/>
              </a:rPr>
              <a:t>lines)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3E3E3E"/>
                </a:solidFill>
                <a:latin typeface="Verdana"/>
                <a:cs typeface="Verdana"/>
              </a:rPr>
              <a:t>so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each</a:t>
            </a:r>
            <a:r>
              <a:rPr sz="130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row</a:t>
            </a:r>
            <a:r>
              <a:rPr sz="130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represents</a:t>
            </a:r>
            <a:r>
              <a:rPr sz="130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3E3E3E"/>
                </a:solidFill>
                <a:latin typeface="Verdana"/>
                <a:cs typeface="Verdana"/>
              </a:rPr>
              <a:t>a</a:t>
            </a:r>
            <a:r>
              <a:rPr sz="1300" spc="-5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single</a:t>
            </a:r>
            <a:r>
              <a:rPr sz="130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atomic</a:t>
            </a:r>
            <a:r>
              <a:rPr sz="130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fact.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7350" y="3531870"/>
            <a:ext cx="1754505" cy="15240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60"/>
              </a:lnSpc>
            </a:pPr>
            <a:r>
              <a:rPr sz="1000" b="1" dirty="0">
                <a:solidFill>
                  <a:srgbClr val="595959"/>
                </a:solidFill>
                <a:latin typeface="Tahoma"/>
                <a:cs typeface="Tahoma"/>
              </a:rPr>
              <a:t>Schema</a:t>
            </a:r>
            <a:r>
              <a:rPr sz="1000" b="1" spc="18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595959"/>
                </a:solidFill>
                <a:latin typeface="Tahoma"/>
                <a:cs typeface="Tahoma"/>
              </a:rPr>
              <a:t>Structural</a:t>
            </a:r>
            <a:r>
              <a:rPr sz="1000" b="1" spc="18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000" b="1" spc="-10" dirty="0">
                <a:solidFill>
                  <a:srgbClr val="595959"/>
                </a:solidFill>
                <a:latin typeface="Tahoma"/>
                <a:cs typeface="Tahoma"/>
              </a:rPr>
              <a:t>Impact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44650" y="3742182"/>
            <a:ext cx="4051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1918C"/>
                </a:solidFill>
                <a:latin typeface="Tahoma"/>
                <a:cs typeface="Tahoma"/>
              </a:rPr>
              <a:t>Sales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36786" y="3760470"/>
            <a:ext cx="1809750" cy="16764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75"/>
              </a:lnSpc>
            </a:pPr>
            <a:r>
              <a:rPr sz="1100" spc="-65" dirty="0">
                <a:solidFill>
                  <a:srgbClr val="3E3E3E"/>
                </a:solidFill>
                <a:latin typeface="Verdana"/>
                <a:cs typeface="Verdana"/>
              </a:rPr>
              <a:t>(SalesID,</a:t>
            </a:r>
            <a:r>
              <a:rPr sz="1100" spc="-5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3E3E3E"/>
                </a:solidFill>
                <a:latin typeface="Verdana"/>
                <a:cs typeface="Verdana"/>
              </a:rPr>
              <a:t>Date,</a:t>
            </a:r>
            <a:r>
              <a:rPr sz="1100" spc="-5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Customer)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48331" y="4004310"/>
            <a:ext cx="2151380" cy="167640"/>
          </a:xfrm>
          <a:custGeom>
            <a:avLst/>
            <a:gdLst/>
            <a:ahLst/>
            <a:cxnLst/>
            <a:rect l="l" t="t" r="r" b="b"/>
            <a:pathLst>
              <a:path w="2151379" h="167639">
                <a:moveTo>
                  <a:pt x="2151384" y="167639"/>
                </a:moveTo>
                <a:lnTo>
                  <a:pt x="0" y="167639"/>
                </a:lnTo>
                <a:lnTo>
                  <a:pt x="0" y="0"/>
                </a:lnTo>
                <a:lnTo>
                  <a:pt x="2151384" y="0"/>
                </a:lnTo>
                <a:lnTo>
                  <a:pt x="2151384" y="16763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44650" y="3986022"/>
            <a:ext cx="29698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1918C"/>
                </a:solidFill>
                <a:latin typeface="Tahoma"/>
                <a:cs typeface="Tahoma"/>
              </a:rPr>
              <a:t>Sale_Items</a:t>
            </a:r>
            <a:r>
              <a:rPr sz="1100" b="1" spc="-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3E3E3E"/>
                </a:solidFill>
                <a:latin typeface="Verdana"/>
                <a:cs typeface="Verdana"/>
              </a:rPr>
              <a:t>(SaleItemID,</a:t>
            </a:r>
            <a:r>
              <a:rPr sz="1100" spc="-60" dirty="0">
                <a:solidFill>
                  <a:srgbClr val="3E3E3E"/>
                </a:solidFill>
                <a:latin typeface="Verdana"/>
                <a:cs typeface="Verdana"/>
              </a:rPr>
              <a:t> SalesID,</a:t>
            </a:r>
            <a:r>
              <a:rPr sz="1100" spc="-55" dirty="0">
                <a:solidFill>
                  <a:srgbClr val="3E3E3E"/>
                </a:solidFill>
                <a:latin typeface="Verdana"/>
                <a:cs typeface="Verdana"/>
              </a:rPr>
              <a:t> SKU,</a:t>
            </a:r>
            <a:r>
              <a:rPr sz="110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E3E3E"/>
                </a:solidFill>
                <a:latin typeface="Verdana"/>
                <a:cs typeface="Verdana"/>
              </a:rPr>
              <a:t>Qty)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564947" y="1278572"/>
            <a:ext cx="4967605" cy="4015104"/>
            <a:chOff x="6564947" y="1278572"/>
            <a:chExt cx="4967605" cy="4015104"/>
          </a:xfrm>
        </p:grpSpPr>
        <p:sp>
          <p:nvSpPr>
            <p:cNvPr id="14" name="object 14"/>
            <p:cNvSpPr/>
            <p:nvPr/>
          </p:nvSpPr>
          <p:spPr>
            <a:xfrm>
              <a:off x="6572249" y="1285875"/>
              <a:ext cx="4953000" cy="4000500"/>
            </a:xfrm>
            <a:custGeom>
              <a:avLst/>
              <a:gdLst/>
              <a:ahLst/>
              <a:cxnLst/>
              <a:rect l="l" t="t" r="r" b="b"/>
              <a:pathLst>
                <a:path w="4953000" h="4000500">
                  <a:moveTo>
                    <a:pt x="4800620" y="4000499"/>
                  </a:moveTo>
                  <a:lnTo>
                    <a:pt x="152378" y="4000499"/>
                  </a:lnTo>
                  <a:lnTo>
                    <a:pt x="104215" y="3992731"/>
                  </a:lnTo>
                  <a:lnTo>
                    <a:pt x="62385" y="3971099"/>
                  </a:lnTo>
                  <a:lnTo>
                    <a:pt x="29400" y="3938114"/>
                  </a:lnTo>
                  <a:lnTo>
                    <a:pt x="7768" y="3896284"/>
                  </a:lnTo>
                  <a:lnTo>
                    <a:pt x="0" y="3848120"/>
                  </a:lnTo>
                  <a:lnTo>
                    <a:pt x="0" y="152378"/>
                  </a:lnTo>
                  <a:lnTo>
                    <a:pt x="7768" y="104215"/>
                  </a:lnTo>
                  <a:lnTo>
                    <a:pt x="29400" y="62385"/>
                  </a:lnTo>
                  <a:lnTo>
                    <a:pt x="62385" y="29400"/>
                  </a:lnTo>
                  <a:lnTo>
                    <a:pt x="104215" y="7768"/>
                  </a:lnTo>
                  <a:lnTo>
                    <a:pt x="152378" y="0"/>
                  </a:lnTo>
                  <a:lnTo>
                    <a:pt x="4800620" y="0"/>
                  </a:lnTo>
                  <a:lnTo>
                    <a:pt x="4858934" y="11599"/>
                  </a:lnTo>
                  <a:lnTo>
                    <a:pt x="4908369" y="44630"/>
                  </a:lnTo>
                  <a:lnTo>
                    <a:pt x="4941400" y="94066"/>
                  </a:lnTo>
                  <a:lnTo>
                    <a:pt x="4952999" y="152378"/>
                  </a:lnTo>
                  <a:lnTo>
                    <a:pt x="4952999" y="3848120"/>
                  </a:lnTo>
                  <a:lnTo>
                    <a:pt x="4945231" y="3896284"/>
                  </a:lnTo>
                  <a:lnTo>
                    <a:pt x="4923599" y="3938114"/>
                  </a:lnTo>
                  <a:lnTo>
                    <a:pt x="4890613" y="3971099"/>
                  </a:lnTo>
                  <a:lnTo>
                    <a:pt x="4848784" y="3992731"/>
                  </a:lnTo>
                  <a:lnTo>
                    <a:pt x="4800620" y="4000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72249" y="1285875"/>
              <a:ext cx="4953000" cy="4000500"/>
            </a:xfrm>
            <a:custGeom>
              <a:avLst/>
              <a:gdLst/>
              <a:ahLst/>
              <a:cxnLst/>
              <a:rect l="l" t="t" r="r" b="b"/>
              <a:pathLst>
                <a:path w="4953000" h="4000500">
                  <a:moveTo>
                    <a:pt x="0" y="152378"/>
                  </a:moveTo>
                  <a:lnTo>
                    <a:pt x="7768" y="104215"/>
                  </a:lnTo>
                  <a:lnTo>
                    <a:pt x="29400" y="62385"/>
                  </a:lnTo>
                  <a:lnTo>
                    <a:pt x="62385" y="29400"/>
                  </a:lnTo>
                  <a:lnTo>
                    <a:pt x="104215" y="7768"/>
                  </a:lnTo>
                  <a:lnTo>
                    <a:pt x="152378" y="0"/>
                  </a:lnTo>
                  <a:lnTo>
                    <a:pt x="4800620" y="0"/>
                  </a:lnTo>
                  <a:lnTo>
                    <a:pt x="4858934" y="11599"/>
                  </a:lnTo>
                  <a:lnTo>
                    <a:pt x="4908369" y="44630"/>
                  </a:lnTo>
                  <a:lnTo>
                    <a:pt x="4941400" y="94066"/>
                  </a:lnTo>
                  <a:lnTo>
                    <a:pt x="4952999" y="152378"/>
                  </a:lnTo>
                  <a:lnTo>
                    <a:pt x="4952999" y="3848120"/>
                  </a:lnTo>
                  <a:lnTo>
                    <a:pt x="4945231" y="3896284"/>
                  </a:lnTo>
                  <a:lnTo>
                    <a:pt x="4923599" y="3938114"/>
                  </a:lnTo>
                  <a:lnTo>
                    <a:pt x="4890613" y="3971099"/>
                  </a:lnTo>
                  <a:lnTo>
                    <a:pt x="4848784" y="3992731"/>
                  </a:lnTo>
                  <a:lnTo>
                    <a:pt x="4800620" y="4000499"/>
                  </a:lnTo>
                  <a:lnTo>
                    <a:pt x="152378" y="4000499"/>
                  </a:lnTo>
                  <a:lnTo>
                    <a:pt x="104215" y="3992731"/>
                  </a:lnTo>
                  <a:lnTo>
                    <a:pt x="62385" y="3971099"/>
                  </a:lnTo>
                  <a:lnTo>
                    <a:pt x="29400" y="3938114"/>
                  </a:lnTo>
                  <a:lnTo>
                    <a:pt x="7768" y="3896284"/>
                  </a:lnTo>
                  <a:lnTo>
                    <a:pt x="0" y="3848120"/>
                  </a:lnTo>
                  <a:lnTo>
                    <a:pt x="0" y="152378"/>
                  </a:lnTo>
                  <a:close/>
                </a:path>
              </a:pathLst>
            </a:custGeom>
            <a:ln w="14299">
              <a:solidFill>
                <a:srgbClr val="0191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00849" y="1514475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699" y="533399"/>
                  </a:moveTo>
                  <a:lnTo>
                    <a:pt x="218760" y="529103"/>
                  </a:lnTo>
                  <a:lnTo>
                    <a:pt x="173639" y="516714"/>
                  </a:lnTo>
                  <a:lnTo>
                    <a:pt x="132091" y="496987"/>
                  </a:lnTo>
                  <a:lnTo>
                    <a:pt x="94868" y="470675"/>
                  </a:lnTo>
                  <a:lnTo>
                    <a:pt x="62724" y="438531"/>
                  </a:lnTo>
                  <a:lnTo>
                    <a:pt x="36412" y="401308"/>
                  </a:lnTo>
                  <a:lnTo>
                    <a:pt x="16685" y="359760"/>
                  </a:lnTo>
                  <a:lnTo>
                    <a:pt x="4296" y="314639"/>
                  </a:lnTo>
                  <a:lnTo>
                    <a:pt x="0" y="266699"/>
                  </a:lnTo>
                  <a:lnTo>
                    <a:pt x="4296" y="218760"/>
                  </a:lnTo>
                  <a:lnTo>
                    <a:pt x="16685" y="173639"/>
                  </a:lnTo>
                  <a:lnTo>
                    <a:pt x="36412" y="132091"/>
                  </a:lnTo>
                  <a:lnTo>
                    <a:pt x="62724" y="94868"/>
                  </a:lnTo>
                  <a:lnTo>
                    <a:pt x="94868" y="62724"/>
                  </a:lnTo>
                  <a:lnTo>
                    <a:pt x="132091" y="36412"/>
                  </a:lnTo>
                  <a:lnTo>
                    <a:pt x="173639" y="16685"/>
                  </a:lnTo>
                  <a:lnTo>
                    <a:pt x="218760" y="4296"/>
                  </a:lnTo>
                  <a:lnTo>
                    <a:pt x="266699" y="0"/>
                  </a:lnTo>
                  <a:lnTo>
                    <a:pt x="318973" y="5171"/>
                  </a:lnTo>
                  <a:lnTo>
                    <a:pt x="368761" y="20301"/>
                  </a:lnTo>
                  <a:lnTo>
                    <a:pt x="414665" y="44808"/>
                  </a:lnTo>
                  <a:lnTo>
                    <a:pt x="455284" y="78114"/>
                  </a:lnTo>
                  <a:lnTo>
                    <a:pt x="488591" y="118734"/>
                  </a:lnTo>
                  <a:lnTo>
                    <a:pt x="513098" y="164638"/>
                  </a:lnTo>
                  <a:lnTo>
                    <a:pt x="528228" y="214426"/>
                  </a:lnTo>
                  <a:lnTo>
                    <a:pt x="533399" y="266699"/>
                  </a:lnTo>
                  <a:lnTo>
                    <a:pt x="529103" y="314639"/>
                  </a:lnTo>
                  <a:lnTo>
                    <a:pt x="516714" y="359760"/>
                  </a:lnTo>
                  <a:lnTo>
                    <a:pt x="496987" y="401308"/>
                  </a:lnTo>
                  <a:lnTo>
                    <a:pt x="470675" y="438531"/>
                  </a:lnTo>
                  <a:lnTo>
                    <a:pt x="438531" y="470675"/>
                  </a:lnTo>
                  <a:lnTo>
                    <a:pt x="401308" y="496987"/>
                  </a:lnTo>
                  <a:lnTo>
                    <a:pt x="359760" y="516714"/>
                  </a:lnTo>
                  <a:lnTo>
                    <a:pt x="314639" y="529103"/>
                  </a:lnTo>
                  <a:lnTo>
                    <a:pt x="266699" y="533399"/>
                  </a:lnTo>
                  <a:close/>
                </a:path>
              </a:pathLst>
            </a:custGeom>
            <a:solidFill>
              <a:srgbClr val="02C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97987" y="1571371"/>
            <a:ext cx="388874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b="1" baseline="-3787" dirty="0">
                <a:solidFill>
                  <a:srgbClr val="FFFFFF"/>
                </a:solidFill>
                <a:latin typeface="Arial"/>
                <a:cs typeface="Arial"/>
              </a:rPr>
              <a:t>2NF</a:t>
            </a:r>
            <a:r>
              <a:rPr sz="3300" b="1" spc="487" baseline="-378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65" dirty="0">
                <a:solidFill>
                  <a:srgbClr val="01918C"/>
                </a:solidFill>
                <a:latin typeface="Tahoma"/>
                <a:cs typeface="Tahoma"/>
              </a:rPr>
              <a:t>Second</a:t>
            </a:r>
            <a:r>
              <a:rPr sz="1800" b="1" spc="-3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01918C"/>
                </a:solidFill>
                <a:latin typeface="Tahoma"/>
                <a:cs typeface="Tahoma"/>
              </a:rPr>
              <a:t>Normal</a:t>
            </a:r>
            <a:r>
              <a:rPr sz="1800" b="1" spc="-3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800" b="1" spc="70" dirty="0">
                <a:solidFill>
                  <a:srgbClr val="01918C"/>
                </a:solidFill>
                <a:latin typeface="Tahoma"/>
                <a:cs typeface="Tahoma"/>
              </a:rPr>
              <a:t>Form</a:t>
            </a:r>
            <a:r>
              <a:rPr sz="1800" b="1" spc="-3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01918C"/>
                </a:solidFill>
                <a:latin typeface="Tahoma"/>
                <a:cs typeface="Tahoma"/>
              </a:rPr>
              <a:t>(2NF)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17059" y="2171446"/>
            <a:ext cx="4348480" cy="1290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marR="454025" indent="-328295" algn="just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40360" algn="l"/>
              </a:tabLst>
            </a:pPr>
            <a:r>
              <a:rPr sz="1300" b="1" spc="20" dirty="0">
                <a:solidFill>
                  <a:srgbClr val="01918C"/>
                </a:solidFill>
                <a:latin typeface="Tahoma"/>
                <a:cs typeface="Tahoma"/>
              </a:rPr>
              <a:t>Removed</a:t>
            </a:r>
            <a:r>
              <a:rPr sz="1300" b="1" spc="12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00" b="1" spc="20" dirty="0">
                <a:solidFill>
                  <a:srgbClr val="01918C"/>
                </a:solidFill>
                <a:latin typeface="Tahoma"/>
                <a:cs typeface="Tahoma"/>
              </a:rPr>
              <a:t>partial</a:t>
            </a:r>
            <a:r>
              <a:rPr sz="1300" b="1" spc="12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00" b="1" spc="20" dirty="0">
                <a:solidFill>
                  <a:srgbClr val="01918C"/>
                </a:solidFill>
                <a:latin typeface="Tahoma"/>
                <a:cs typeface="Tahoma"/>
              </a:rPr>
              <a:t>dependencies:</a:t>
            </a:r>
            <a:r>
              <a:rPr sz="1300" b="1" spc="7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Assigned explicit</a:t>
            </a:r>
            <a:r>
              <a:rPr sz="1300" spc="-1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surrogate </a:t>
            </a:r>
            <a:r>
              <a:rPr sz="1300" spc="-60" dirty="0">
                <a:solidFill>
                  <a:srgbClr val="3E3E3E"/>
                </a:solidFill>
                <a:latin typeface="Verdana"/>
                <a:cs typeface="Verdana"/>
              </a:rPr>
              <a:t>keys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including</a:t>
            </a:r>
            <a:r>
              <a:rPr sz="1300" spc="-2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b="1" spc="-20" dirty="0">
                <a:solidFill>
                  <a:srgbClr val="01918C"/>
                </a:solidFill>
                <a:latin typeface="Tahoma"/>
                <a:cs typeface="Tahoma"/>
              </a:rPr>
              <a:t>SaleItemID</a:t>
            </a:r>
            <a:r>
              <a:rPr sz="1300" spc="-20" dirty="0">
                <a:solidFill>
                  <a:srgbClr val="3E3E3E"/>
                </a:solidFill>
                <a:latin typeface="Verdana"/>
                <a:cs typeface="Verdana"/>
              </a:rPr>
              <a:t>, </a:t>
            </a:r>
            <a:r>
              <a:rPr sz="1100" b="1" spc="-20" dirty="0">
                <a:solidFill>
                  <a:srgbClr val="01918C"/>
                </a:solidFill>
                <a:latin typeface="Tahoma"/>
                <a:cs typeface="Tahoma"/>
              </a:rPr>
              <a:t>BatchID</a:t>
            </a:r>
            <a:r>
              <a:rPr sz="1300" spc="-20" dirty="0">
                <a:solidFill>
                  <a:srgbClr val="3E3E3E"/>
                </a:solidFill>
                <a:latin typeface="Verdana"/>
                <a:cs typeface="Verdana"/>
              </a:rPr>
              <a:t>,</a:t>
            </a:r>
            <a:r>
              <a:rPr sz="1300" spc="-4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and</a:t>
            </a:r>
            <a:r>
              <a:rPr sz="1300" spc="-4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b="1" spc="-10" dirty="0">
                <a:solidFill>
                  <a:srgbClr val="01918C"/>
                </a:solidFill>
                <a:latin typeface="Tahoma"/>
                <a:cs typeface="Tahoma"/>
              </a:rPr>
              <a:t>MovementID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.</a:t>
            </a:r>
            <a:endParaRPr sz="1300">
              <a:latin typeface="Verdana"/>
              <a:cs typeface="Verdana"/>
            </a:endParaRPr>
          </a:p>
          <a:p>
            <a:pPr marL="340360" marR="5080" indent="-328295" algn="just">
              <a:lnSpc>
                <a:spcPct val="100000"/>
              </a:lnSpc>
              <a:spcBef>
                <a:spcPts val="600"/>
              </a:spcBef>
              <a:buFont typeface="Arial MT"/>
              <a:buChar char="●"/>
              <a:tabLst>
                <a:tab pos="340360" algn="l"/>
              </a:tabLst>
            </a:pPr>
            <a:r>
              <a:rPr sz="1300" b="1" dirty="0">
                <a:solidFill>
                  <a:srgbClr val="01918C"/>
                </a:solidFill>
                <a:latin typeface="Tahoma"/>
                <a:cs typeface="Tahoma"/>
              </a:rPr>
              <a:t>Full</a:t>
            </a:r>
            <a:r>
              <a:rPr sz="1300" b="1" spc="17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01918C"/>
                </a:solidFill>
                <a:latin typeface="Tahoma"/>
                <a:cs typeface="Tahoma"/>
              </a:rPr>
              <a:t>primary</a:t>
            </a:r>
            <a:r>
              <a:rPr sz="1300" b="1" spc="17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01918C"/>
                </a:solidFill>
                <a:latin typeface="Tahoma"/>
                <a:cs typeface="Tahoma"/>
              </a:rPr>
              <a:t>key</a:t>
            </a:r>
            <a:r>
              <a:rPr sz="1300" b="1" spc="17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00" b="1" dirty="0">
                <a:solidFill>
                  <a:srgbClr val="01918C"/>
                </a:solidFill>
                <a:latin typeface="Tahoma"/>
                <a:cs typeface="Tahoma"/>
              </a:rPr>
              <a:t>dependency:</a:t>
            </a:r>
            <a:r>
              <a:rPr sz="1300" b="1" spc="12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Ensures</a:t>
            </a:r>
            <a:r>
              <a:rPr sz="1300" spc="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non-</a:t>
            </a:r>
            <a:r>
              <a:rPr sz="1300" spc="-25" dirty="0">
                <a:solidFill>
                  <a:srgbClr val="3E3E3E"/>
                </a:solidFill>
                <a:latin typeface="Verdana"/>
                <a:cs typeface="Verdana"/>
              </a:rPr>
              <a:t>key 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attributes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depend</a:t>
            </a:r>
            <a:r>
              <a:rPr sz="1300" spc="-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3E3E3E"/>
                </a:solidFill>
                <a:latin typeface="Verdana"/>
                <a:cs typeface="Verdana"/>
              </a:rPr>
              <a:t>strictly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on</a:t>
            </a:r>
            <a:r>
              <a:rPr sz="1300" spc="-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whole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 primary</a:t>
            </a:r>
            <a:r>
              <a:rPr sz="1300" spc="-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20" dirty="0">
                <a:solidFill>
                  <a:srgbClr val="3E3E3E"/>
                </a:solidFill>
                <a:latin typeface="Verdana"/>
                <a:cs typeface="Verdana"/>
              </a:rPr>
              <a:t>keys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(composite</a:t>
            </a:r>
            <a:r>
              <a:rPr sz="1300" spc="-8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50" dirty="0">
                <a:solidFill>
                  <a:srgbClr val="3E3E3E"/>
                </a:solidFill>
                <a:latin typeface="Verdana"/>
                <a:cs typeface="Verdana"/>
              </a:rPr>
              <a:t>keys</a:t>
            </a:r>
            <a:r>
              <a:rPr sz="1300" spc="-7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avoided</a:t>
            </a:r>
            <a:r>
              <a:rPr sz="1300" spc="-7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3E3E3E"/>
                </a:solidFill>
                <a:latin typeface="Verdana"/>
                <a:cs typeface="Verdana"/>
              </a:rPr>
              <a:t>for</a:t>
            </a:r>
            <a:r>
              <a:rPr sz="1300" spc="-8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frequent</a:t>
            </a:r>
            <a:r>
              <a:rPr sz="1300" spc="-7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updates).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00850" y="3531870"/>
            <a:ext cx="1893570" cy="15240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60"/>
              </a:lnSpc>
            </a:pPr>
            <a:r>
              <a:rPr sz="1000" b="1" spc="20" dirty="0">
                <a:solidFill>
                  <a:srgbClr val="595959"/>
                </a:solidFill>
                <a:latin typeface="Tahoma"/>
                <a:cs typeface="Tahoma"/>
              </a:rPr>
              <a:t>Key</a:t>
            </a:r>
            <a:r>
              <a:rPr sz="1000" b="1" spc="114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000" b="1" spc="20" dirty="0">
                <a:solidFill>
                  <a:srgbClr val="595959"/>
                </a:solidFill>
                <a:latin typeface="Tahoma"/>
                <a:cs typeface="Tahoma"/>
              </a:rPr>
              <a:t>Dependency</a:t>
            </a:r>
            <a:r>
              <a:rPr sz="1000" b="1" spc="12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000" b="1" spc="-10" dirty="0">
                <a:solidFill>
                  <a:srgbClr val="595959"/>
                </a:solidFill>
                <a:latin typeface="Tahoma"/>
                <a:cs typeface="Tahoma"/>
              </a:rPr>
              <a:t>Resolution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88150" y="3742182"/>
            <a:ext cx="111188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u="sng" dirty="0">
                <a:solidFill>
                  <a:srgbClr val="01918C"/>
                </a:solidFill>
                <a:uFill>
                  <a:solidFill>
                    <a:srgbClr val="01918C"/>
                  </a:solidFill>
                </a:uFill>
                <a:latin typeface="Tahoma"/>
                <a:cs typeface="Tahoma"/>
              </a:rPr>
              <a:t>PK:</a:t>
            </a:r>
            <a:r>
              <a:rPr sz="1100" b="1" u="sng" spc="-20" dirty="0">
                <a:solidFill>
                  <a:srgbClr val="01918C"/>
                </a:solidFill>
                <a:uFill>
                  <a:solidFill>
                    <a:srgbClr val="01918C"/>
                  </a:solidFill>
                </a:uFill>
                <a:latin typeface="Tahoma"/>
                <a:cs typeface="Tahoma"/>
              </a:rPr>
              <a:t> </a:t>
            </a:r>
            <a:r>
              <a:rPr sz="1100" b="1" u="sng" spc="-10" dirty="0">
                <a:solidFill>
                  <a:srgbClr val="01918C"/>
                </a:solidFill>
                <a:uFill>
                  <a:solidFill>
                    <a:srgbClr val="01918C"/>
                  </a:solidFill>
                </a:uFill>
                <a:latin typeface="Tahoma"/>
                <a:cs typeface="Tahoma"/>
              </a:rPr>
              <a:t>SaleItemID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86107" y="3760470"/>
            <a:ext cx="1156335" cy="16764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ts val="1275"/>
              </a:lnSpc>
            </a:pP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Entire</a:t>
            </a:r>
            <a:r>
              <a:rPr sz="1100" spc="-4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Row</a:t>
            </a:r>
            <a:r>
              <a:rPr sz="1100" spc="-4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E3E3E"/>
                </a:solidFill>
                <a:latin typeface="Verdana"/>
                <a:cs typeface="Verdana"/>
              </a:rPr>
              <a:t>Fact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00850" y="4004310"/>
            <a:ext cx="3050540" cy="15240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60"/>
              </a:lnSpc>
            </a:pP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Eliminates</a:t>
            </a:r>
            <a:r>
              <a:rPr sz="1000" spc="-5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Verdana"/>
                <a:cs typeface="Verdana"/>
              </a:rPr>
              <a:t>[Composite</a:t>
            </a:r>
            <a:r>
              <a:rPr sz="1000" spc="-5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30" dirty="0">
                <a:solidFill>
                  <a:srgbClr val="595959"/>
                </a:solidFill>
                <a:latin typeface="Verdana"/>
                <a:cs typeface="Verdana"/>
              </a:rPr>
              <a:t>Key</a:t>
            </a:r>
            <a:r>
              <a:rPr sz="1000" spc="-5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Partial</a:t>
            </a:r>
            <a:r>
              <a:rPr sz="1000" spc="-5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40" dirty="0">
                <a:solidFill>
                  <a:srgbClr val="595959"/>
                </a:solidFill>
                <a:latin typeface="Verdana"/>
                <a:cs typeface="Verdana"/>
              </a:rPr>
              <a:t>Attr]</a:t>
            </a:r>
            <a:r>
              <a:rPr sz="1000" spc="-5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Verdana"/>
                <a:cs typeface="Verdana"/>
              </a:rPr>
              <a:t>relations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428750" y="5476875"/>
            <a:ext cx="10096500" cy="857885"/>
            <a:chOff x="1428750" y="5476875"/>
            <a:chExt cx="10096500" cy="857885"/>
          </a:xfrm>
        </p:grpSpPr>
        <p:sp>
          <p:nvSpPr>
            <p:cNvPr id="24" name="object 24"/>
            <p:cNvSpPr/>
            <p:nvPr/>
          </p:nvSpPr>
          <p:spPr>
            <a:xfrm>
              <a:off x="1428750" y="5476875"/>
              <a:ext cx="10096500" cy="857885"/>
            </a:xfrm>
            <a:custGeom>
              <a:avLst/>
              <a:gdLst/>
              <a:ahLst/>
              <a:cxnLst/>
              <a:rect l="l" t="t" r="r" b="b"/>
              <a:pathLst>
                <a:path w="10096500" h="857885">
                  <a:moveTo>
                    <a:pt x="10001242" y="857399"/>
                  </a:moveTo>
                  <a:lnTo>
                    <a:pt x="95257" y="857399"/>
                  </a:lnTo>
                  <a:lnTo>
                    <a:pt x="58178" y="849914"/>
                  </a:lnTo>
                  <a:lnTo>
                    <a:pt x="27900" y="829499"/>
                  </a:lnTo>
                  <a:lnTo>
                    <a:pt x="7485" y="799221"/>
                  </a:lnTo>
                  <a:lnTo>
                    <a:pt x="0" y="762142"/>
                  </a:lnTo>
                  <a:lnTo>
                    <a:pt x="0" y="95256"/>
                  </a:lnTo>
                  <a:lnTo>
                    <a:pt x="7485" y="58178"/>
                  </a:lnTo>
                  <a:lnTo>
                    <a:pt x="27900" y="27900"/>
                  </a:lnTo>
                  <a:lnTo>
                    <a:pt x="58178" y="7485"/>
                  </a:lnTo>
                  <a:lnTo>
                    <a:pt x="95257" y="0"/>
                  </a:lnTo>
                  <a:lnTo>
                    <a:pt x="10001242" y="0"/>
                  </a:lnTo>
                  <a:lnTo>
                    <a:pt x="10054091" y="16004"/>
                  </a:lnTo>
                  <a:lnTo>
                    <a:pt x="10089248" y="58803"/>
                  </a:lnTo>
                  <a:lnTo>
                    <a:pt x="10096499" y="95256"/>
                  </a:lnTo>
                  <a:lnTo>
                    <a:pt x="10096499" y="762142"/>
                  </a:lnTo>
                  <a:lnTo>
                    <a:pt x="10089014" y="799221"/>
                  </a:lnTo>
                  <a:lnTo>
                    <a:pt x="10068599" y="829499"/>
                  </a:lnTo>
                  <a:lnTo>
                    <a:pt x="10038321" y="849914"/>
                  </a:lnTo>
                  <a:lnTo>
                    <a:pt x="10001242" y="857399"/>
                  </a:lnTo>
                  <a:close/>
                </a:path>
              </a:pathLst>
            </a:custGeom>
            <a:solidFill>
              <a:srgbClr val="019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28750" y="5476875"/>
              <a:ext cx="114300" cy="857885"/>
            </a:xfrm>
            <a:custGeom>
              <a:avLst/>
              <a:gdLst/>
              <a:ahLst/>
              <a:cxnLst/>
              <a:rect l="l" t="t" r="r" b="b"/>
              <a:pathLst>
                <a:path w="114300" h="857885">
                  <a:moveTo>
                    <a:pt x="114299" y="857399"/>
                  </a:moveTo>
                  <a:lnTo>
                    <a:pt x="0" y="857399"/>
                  </a:lnTo>
                  <a:lnTo>
                    <a:pt x="0" y="0"/>
                  </a:lnTo>
                  <a:lnTo>
                    <a:pt x="114299" y="0"/>
                  </a:lnTo>
                  <a:lnTo>
                    <a:pt x="114299" y="857399"/>
                  </a:lnTo>
                  <a:close/>
                </a:path>
              </a:pathLst>
            </a:custGeom>
            <a:solidFill>
              <a:srgbClr val="FFC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701800" y="5498158"/>
            <a:ext cx="9522460" cy="7264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200" b="1" spc="10" dirty="0">
                <a:solidFill>
                  <a:srgbClr val="FFC160"/>
                </a:solidFill>
                <a:latin typeface="Tahoma"/>
                <a:cs typeface="Tahoma"/>
              </a:rPr>
              <a:t>Architectural</a:t>
            </a:r>
            <a:r>
              <a:rPr sz="1200" b="1" spc="204" dirty="0">
                <a:solidFill>
                  <a:srgbClr val="FFC160"/>
                </a:solidFill>
                <a:latin typeface="Tahoma"/>
                <a:cs typeface="Tahoma"/>
              </a:rPr>
              <a:t> </a:t>
            </a:r>
            <a:r>
              <a:rPr sz="1200" b="1" spc="10" dirty="0">
                <a:solidFill>
                  <a:srgbClr val="FFC160"/>
                </a:solidFill>
                <a:latin typeface="Tahoma"/>
                <a:cs typeface="Tahoma"/>
              </a:rPr>
              <a:t>Design</a:t>
            </a:r>
            <a:r>
              <a:rPr sz="1200" b="1" spc="210" dirty="0">
                <a:solidFill>
                  <a:srgbClr val="FFC160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FFC160"/>
                </a:solidFill>
                <a:latin typeface="Tahoma"/>
                <a:cs typeface="Tahoma"/>
              </a:rPr>
              <a:t>Choice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1200" spc="-10" dirty="0">
                <a:solidFill>
                  <a:srgbClr val="FFFFFF"/>
                </a:solidFill>
                <a:latin typeface="Verdana"/>
                <a:cs typeface="Verdana"/>
              </a:rPr>
              <a:t>Surrogate</a:t>
            </a:r>
            <a:r>
              <a:rPr sz="12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45" dirty="0">
                <a:solidFill>
                  <a:srgbClr val="FFFFFF"/>
                </a:solidFill>
                <a:latin typeface="Verdana"/>
                <a:cs typeface="Verdana"/>
              </a:rPr>
              <a:t>keys</a:t>
            </a:r>
            <a:r>
              <a:rPr sz="12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signiﬁcantly</a:t>
            </a:r>
            <a:r>
              <a:rPr sz="12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improve</a:t>
            </a:r>
            <a:r>
              <a:rPr sz="12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mutation</a:t>
            </a:r>
            <a:r>
              <a:rPr sz="12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performance</a:t>
            </a:r>
            <a:r>
              <a:rPr sz="12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2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make</a:t>
            </a:r>
            <a:r>
              <a:rPr sz="12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Foreign</a:t>
            </a:r>
            <a:r>
              <a:rPr sz="12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FFFFFF"/>
                </a:solidFill>
                <a:latin typeface="Verdana"/>
                <a:cs typeface="Verdana"/>
              </a:rPr>
              <a:t>Key</a:t>
            </a:r>
            <a:r>
              <a:rPr sz="12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Verdana"/>
                <a:cs typeface="Verdana"/>
              </a:rPr>
              <a:t>(FK)</a:t>
            </a:r>
            <a:r>
              <a:rPr sz="12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relationships</a:t>
            </a:r>
            <a:r>
              <a:rPr sz="12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explicit</a:t>
            </a:r>
            <a:r>
              <a:rPr sz="12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2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Verdana"/>
                <a:cs typeface="Verdana"/>
              </a:rPr>
              <a:t>predictable </a:t>
            </a:r>
            <a:r>
              <a:rPr sz="1200" spc="-2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2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downstream</a:t>
            </a:r>
            <a:r>
              <a:rPr sz="12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FFFFFF"/>
                </a:solidFill>
                <a:latin typeface="Verdana"/>
                <a:cs typeface="Verdana"/>
              </a:rPr>
              <a:t>application</a:t>
            </a:r>
            <a:r>
              <a:rPr sz="1200" spc="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Verdana"/>
                <a:cs typeface="Verdana"/>
              </a:rPr>
              <a:t>logic.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8" name="Freeform 32">
            <a:extLst>
              <a:ext uri="{FF2B5EF4-FFF2-40B4-BE49-F238E27FC236}">
                <a16:creationId xmlns:a16="http://schemas.microsoft.com/office/drawing/2014/main" id="{9FE36E26-3DD4-EE18-5B84-EADF557602D5}"/>
              </a:ext>
            </a:extLst>
          </p:cNvPr>
          <p:cNvSpPr/>
          <p:nvPr/>
        </p:nvSpPr>
        <p:spPr>
          <a:xfrm>
            <a:off x="11201400" y="66339"/>
            <a:ext cx="982824" cy="285231"/>
          </a:xfrm>
          <a:custGeom>
            <a:avLst/>
            <a:gdLst/>
            <a:ahLst/>
            <a:cxnLst/>
            <a:rect l="l" t="t" r="r" b="b"/>
            <a:pathLst>
              <a:path w="1299612" h="703776">
                <a:moveTo>
                  <a:pt x="0" y="0"/>
                </a:moveTo>
                <a:lnTo>
                  <a:pt x="1299612" y="0"/>
                </a:lnTo>
                <a:lnTo>
                  <a:pt x="1299612" y="703776"/>
                </a:lnTo>
                <a:lnTo>
                  <a:pt x="0" y="703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38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10"/>
              </a:spcBef>
            </a:pPr>
            <a:r>
              <a:rPr sz="2950" spc="60" dirty="0"/>
              <a:t>Third</a:t>
            </a:r>
            <a:r>
              <a:rPr sz="2950" spc="-60" dirty="0"/>
              <a:t> </a:t>
            </a:r>
            <a:r>
              <a:rPr sz="2950" spc="85" dirty="0"/>
              <a:t>Normal</a:t>
            </a:r>
            <a:r>
              <a:rPr sz="2950" spc="-60" dirty="0"/>
              <a:t> </a:t>
            </a:r>
            <a:r>
              <a:rPr sz="2950" spc="120" dirty="0"/>
              <a:t>Form</a:t>
            </a:r>
            <a:r>
              <a:rPr sz="2950" spc="-60" dirty="0"/>
              <a:t> </a:t>
            </a:r>
            <a:r>
              <a:rPr sz="2950" spc="-70" dirty="0"/>
              <a:t>(3NF)</a:t>
            </a:r>
            <a:r>
              <a:rPr sz="2950" spc="-60" dirty="0"/>
              <a:t> </a:t>
            </a:r>
            <a:r>
              <a:rPr sz="2950" dirty="0"/>
              <a:t>&amp;</a:t>
            </a:r>
            <a:r>
              <a:rPr sz="2950" spc="-60" dirty="0"/>
              <a:t> </a:t>
            </a:r>
            <a:r>
              <a:rPr sz="2950" spc="145" dirty="0"/>
              <a:t>Dependency</a:t>
            </a:r>
            <a:r>
              <a:rPr sz="2950" spc="-60" dirty="0"/>
              <a:t> </a:t>
            </a:r>
            <a:r>
              <a:rPr sz="2950" spc="65" dirty="0"/>
              <a:t>Resolution</a:t>
            </a:r>
            <a:endParaRPr sz="2950"/>
          </a:p>
        </p:txBody>
      </p:sp>
      <p:grpSp>
        <p:nvGrpSpPr>
          <p:cNvPr id="3" name="object 3"/>
          <p:cNvGrpSpPr/>
          <p:nvPr/>
        </p:nvGrpSpPr>
        <p:grpSpPr>
          <a:xfrm>
            <a:off x="1428750" y="1190625"/>
            <a:ext cx="4953000" cy="4000500"/>
            <a:chOff x="1428750" y="1190625"/>
            <a:chExt cx="4953000" cy="4000500"/>
          </a:xfrm>
        </p:grpSpPr>
        <p:sp>
          <p:nvSpPr>
            <p:cNvPr id="4" name="object 4"/>
            <p:cNvSpPr/>
            <p:nvPr/>
          </p:nvSpPr>
          <p:spPr>
            <a:xfrm>
              <a:off x="1428750" y="1190625"/>
              <a:ext cx="4953000" cy="4000500"/>
            </a:xfrm>
            <a:custGeom>
              <a:avLst/>
              <a:gdLst/>
              <a:ahLst/>
              <a:cxnLst/>
              <a:rect l="l" t="t" r="r" b="b"/>
              <a:pathLst>
                <a:path w="4953000" h="4000500">
                  <a:moveTo>
                    <a:pt x="4838705" y="4000499"/>
                  </a:moveTo>
                  <a:lnTo>
                    <a:pt x="114294" y="4000499"/>
                  </a:lnTo>
                  <a:lnTo>
                    <a:pt x="69805" y="3991518"/>
                  </a:lnTo>
                  <a:lnTo>
                    <a:pt x="33475" y="3967023"/>
                  </a:lnTo>
                  <a:lnTo>
                    <a:pt x="8981" y="3930694"/>
                  </a:lnTo>
                  <a:lnTo>
                    <a:pt x="0" y="3886205"/>
                  </a:lnTo>
                  <a:lnTo>
                    <a:pt x="0" y="114294"/>
                  </a:lnTo>
                  <a:lnTo>
                    <a:pt x="8981" y="69805"/>
                  </a:lnTo>
                  <a:lnTo>
                    <a:pt x="33475" y="33475"/>
                  </a:lnTo>
                  <a:lnTo>
                    <a:pt x="69805" y="8981"/>
                  </a:lnTo>
                  <a:lnTo>
                    <a:pt x="114294" y="0"/>
                  </a:lnTo>
                  <a:lnTo>
                    <a:pt x="4838705" y="0"/>
                  </a:lnTo>
                  <a:lnTo>
                    <a:pt x="4882444" y="8700"/>
                  </a:lnTo>
                  <a:lnTo>
                    <a:pt x="4919523" y="33475"/>
                  </a:lnTo>
                  <a:lnTo>
                    <a:pt x="4944299" y="70555"/>
                  </a:lnTo>
                  <a:lnTo>
                    <a:pt x="4952999" y="114294"/>
                  </a:lnTo>
                  <a:lnTo>
                    <a:pt x="4952999" y="3886205"/>
                  </a:lnTo>
                  <a:lnTo>
                    <a:pt x="4944018" y="3930694"/>
                  </a:lnTo>
                  <a:lnTo>
                    <a:pt x="4919523" y="3967023"/>
                  </a:lnTo>
                  <a:lnTo>
                    <a:pt x="4883194" y="3991518"/>
                  </a:lnTo>
                  <a:lnTo>
                    <a:pt x="4838705" y="4000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28750" y="1190637"/>
              <a:ext cx="4953000" cy="571500"/>
            </a:xfrm>
            <a:custGeom>
              <a:avLst/>
              <a:gdLst/>
              <a:ahLst/>
              <a:cxnLst/>
              <a:rect l="l" t="t" r="r" b="b"/>
              <a:pathLst>
                <a:path w="4953000" h="571500">
                  <a:moveTo>
                    <a:pt x="4953000" y="114300"/>
                  </a:moveTo>
                  <a:lnTo>
                    <a:pt x="4944288" y="70548"/>
                  </a:lnTo>
                  <a:lnTo>
                    <a:pt x="4919510" y="33477"/>
                  </a:lnTo>
                  <a:lnTo>
                    <a:pt x="4882439" y="8699"/>
                  </a:lnTo>
                  <a:lnTo>
                    <a:pt x="4838700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381000"/>
                  </a:lnTo>
                  <a:lnTo>
                    <a:pt x="0" y="457200"/>
                  </a:lnTo>
                  <a:lnTo>
                    <a:pt x="0" y="571500"/>
                  </a:lnTo>
                  <a:lnTo>
                    <a:pt x="114300" y="571500"/>
                  </a:lnTo>
                  <a:lnTo>
                    <a:pt x="4838700" y="571500"/>
                  </a:lnTo>
                  <a:lnTo>
                    <a:pt x="4953000" y="571500"/>
                  </a:lnTo>
                  <a:lnTo>
                    <a:pt x="4953000" y="457200"/>
                  </a:lnTo>
                  <a:lnTo>
                    <a:pt x="4953000" y="381000"/>
                  </a:lnTo>
                  <a:lnTo>
                    <a:pt x="4953000" y="114300"/>
                  </a:lnTo>
                  <a:close/>
                </a:path>
              </a:pathLst>
            </a:custGeom>
            <a:solidFill>
              <a:srgbClr val="019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54175" y="1357402"/>
            <a:ext cx="367411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ahoma"/>
                <a:cs typeface="Tahoma"/>
              </a:rPr>
              <a:t>Transitive</a:t>
            </a:r>
            <a:r>
              <a:rPr sz="1600" b="1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65" dirty="0">
                <a:solidFill>
                  <a:srgbClr val="FFFFFF"/>
                </a:solidFill>
                <a:latin typeface="Tahoma"/>
                <a:cs typeface="Tahoma"/>
              </a:rPr>
              <a:t>Dependency</a:t>
            </a:r>
            <a:r>
              <a:rPr sz="1600" b="1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Resolution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4175" y="1857121"/>
            <a:ext cx="4298950" cy="77216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300" b="1" spc="-65" dirty="0">
                <a:solidFill>
                  <a:srgbClr val="01918C"/>
                </a:solidFill>
                <a:latin typeface="Verdana"/>
                <a:cs typeface="Verdana"/>
              </a:rPr>
              <a:t>Prescription</a:t>
            </a:r>
            <a:r>
              <a:rPr sz="1300" b="1" spc="-40" dirty="0">
                <a:solidFill>
                  <a:srgbClr val="01918C"/>
                </a:solidFill>
                <a:latin typeface="Verdana"/>
                <a:cs typeface="Verdana"/>
              </a:rPr>
              <a:t> </a:t>
            </a:r>
            <a:r>
              <a:rPr sz="1300" b="1" spc="-10" dirty="0">
                <a:solidFill>
                  <a:srgbClr val="01918C"/>
                </a:solidFill>
                <a:latin typeface="Verdana"/>
                <a:cs typeface="Verdana"/>
              </a:rPr>
              <a:t>Isolation</a:t>
            </a:r>
            <a:endParaRPr sz="1300">
              <a:latin typeface="Verdana"/>
              <a:cs typeface="Verdana"/>
            </a:endParaRPr>
          </a:p>
          <a:p>
            <a:pPr marL="327660" marR="13970" indent="-327660" algn="r">
              <a:lnSpc>
                <a:spcPct val="100000"/>
              </a:lnSpc>
              <a:spcBef>
                <a:spcPts val="600"/>
              </a:spcBef>
              <a:buFont typeface="Arial MT"/>
              <a:buChar char="●"/>
              <a:tabLst>
                <a:tab pos="327660" algn="l"/>
              </a:tabLst>
            </a:pP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Doctor</a:t>
            </a:r>
            <a:r>
              <a:rPr sz="1300" spc="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and</a:t>
            </a:r>
            <a:r>
              <a:rPr sz="1300" spc="1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prescription</a:t>
            </a:r>
            <a:r>
              <a:rPr sz="1300" spc="1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metadata</a:t>
            </a:r>
            <a:r>
              <a:rPr sz="1300" spc="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conﬁned</a:t>
            </a:r>
            <a:r>
              <a:rPr sz="1300" spc="1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3E3E3E"/>
                </a:solidFill>
                <a:latin typeface="Verdana"/>
                <a:cs typeface="Verdana"/>
              </a:rPr>
              <a:t>to</a:t>
            </a:r>
            <a:endParaRPr sz="13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</a:pPr>
            <a:r>
              <a:rPr sz="1300" b="1" dirty="0">
                <a:solidFill>
                  <a:srgbClr val="3E3E3E"/>
                </a:solidFill>
                <a:latin typeface="Tahoma"/>
                <a:cs typeface="Tahoma"/>
              </a:rPr>
              <a:t>Prescriptions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;</a:t>
            </a:r>
            <a:r>
              <a:rPr sz="1300" spc="-6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3E3E3E"/>
                </a:solidFill>
                <a:latin typeface="Verdana"/>
                <a:cs typeface="Verdana"/>
              </a:rPr>
              <a:t>sales</a:t>
            </a:r>
            <a:r>
              <a:rPr sz="130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reference</a:t>
            </a:r>
            <a:r>
              <a:rPr sz="1300" spc="-6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prescriptions</a:t>
            </a:r>
            <a:r>
              <a:rPr sz="130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3E3E3E"/>
                </a:solidFill>
                <a:latin typeface="Verdana"/>
                <a:cs typeface="Verdana"/>
              </a:rPr>
              <a:t>by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24075" y="2623185"/>
            <a:ext cx="1036955" cy="19812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10"/>
              </a:lnSpc>
            </a:pPr>
            <a:r>
              <a:rPr sz="1300" spc="-10" dirty="0">
                <a:solidFill>
                  <a:srgbClr val="3E3E3E"/>
                </a:solidFill>
                <a:latin typeface="Arial MT"/>
                <a:cs typeface="Arial MT"/>
              </a:rPr>
              <a:t>PrescriptionID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91112" y="2603880"/>
            <a:ext cx="40322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40" dirty="0">
                <a:solidFill>
                  <a:srgbClr val="3E3E3E"/>
                </a:solidFill>
                <a:latin typeface="Verdana"/>
                <a:cs typeface="Verdana"/>
              </a:rPr>
              <a:t>only.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54175" y="2954401"/>
            <a:ext cx="257556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60" dirty="0">
                <a:solidFill>
                  <a:srgbClr val="01918C"/>
                </a:solidFill>
                <a:latin typeface="Verdana"/>
                <a:cs typeface="Verdana"/>
              </a:rPr>
              <a:t>Canonical</a:t>
            </a:r>
            <a:r>
              <a:rPr sz="1300" b="1" spc="-40" dirty="0">
                <a:solidFill>
                  <a:srgbClr val="01918C"/>
                </a:solidFill>
                <a:latin typeface="Verdana"/>
                <a:cs typeface="Verdana"/>
              </a:rPr>
              <a:t> </a:t>
            </a:r>
            <a:r>
              <a:rPr sz="1300" b="1" spc="-65" dirty="0">
                <a:solidFill>
                  <a:srgbClr val="01918C"/>
                </a:solidFill>
                <a:latin typeface="Verdana"/>
                <a:cs typeface="Verdana"/>
              </a:rPr>
              <a:t>Attribute</a:t>
            </a:r>
            <a:r>
              <a:rPr sz="1300" b="1" spc="-35" dirty="0">
                <a:solidFill>
                  <a:srgbClr val="01918C"/>
                </a:solidFill>
                <a:latin typeface="Verdana"/>
                <a:cs typeface="Verdana"/>
              </a:rPr>
              <a:t> </a:t>
            </a:r>
            <a:r>
              <a:rPr sz="1300" b="1" spc="-40" dirty="0">
                <a:solidFill>
                  <a:srgbClr val="01918C"/>
                </a:solidFill>
                <a:latin typeface="Verdana"/>
                <a:cs typeface="Verdana"/>
              </a:rPr>
              <a:t>Retention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83083" y="3228721"/>
            <a:ext cx="42030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0360" marR="5080" indent="-328295">
              <a:lnSpc>
                <a:spcPct val="100000"/>
              </a:lnSpc>
              <a:spcBef>
                <a:spcPts val="100"/>
              </a:spcBef>
              <a:buFont typeface="Arial MT"/>
              <a:buChar char="●"/>
              <a:tabLst>
                <a:tab pos="340360" algn="l"/>
              </a:tabLst>
            </a:pP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Manufacturer</a:t>
            </a:r>
            <a:r>
              <a:rPr sz="1300" spc="-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and</a:t>
            </a:r>
            <a:r>
              <a:rPr sz="1300" spc="-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category</a:t>
            </a:r>
            <a:r>
              <a:rPr sz="1300" spc="-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attributes</a:t>
            </a:r>
            <a:r>
              <a:rPr sz="1300" spc="-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retained only</a:t>
            </a:r>
            <a:r>
              <a:rPr sz="130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in</a:t>
            </a:r>
            <a:r>
              <a:rPr sz="130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their</a:t>
            </a:r>
            <a:r>
              <a:rPr sz="130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canonical</a:t>
            </a:r>
            <a:r>
              <a:rPr sz="130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tables</a:t>
            </a:r>
            <a:r>
              <a:rPr sz="1300" spc="-6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(</a:t>
            </a:r>
            <a:r>
              <a:rPr sz="1300" b="1" spc="-10" dirty="0">
                <a:solidFill>
                  <a:srgbClr val="3E3E3E"/>
                </a:solidFill>
                <a:latin typeface="Tahoma"/>
                <a:cs typeface="Tahoma"/>
              </a:rPr>
              <a:t>Manufacturers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,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67587" y="3644265"/>
            <a:ext cx="826135" cy="198120"/>
          </a:xfrm>
          <a:custGeom>
            <a:avLst/>
            <a:gdLst/>
            <a:ahLst/>
            <a:cxnLst/>
            <a:rect l="l" t="t" r="r" b="b"/>
            <a:pathLst>
              <a:path w="826135" h="198120">
                <a:moveTo>
                  <a:pt x="825574" y="198120"/>
                </a:moveTo>
                <a:lnTo>
                  <a:pt x="0" y="198120"/>
                </a:lnTo>
                <a:lnTo>
                  <a:pt x="0" y="0"/>
                </a:lnTo>
                <a:lnTo>
                  <a:pt x="825574" y="0"/>
                </a:lnTo>
                <a:lnTo>
                  <a:pt x="825574" y="19812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111375" y="3624960"/>
            <a:ext cx="312991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3E3E3E"/>
                </a:solidFill>
                <a:latin typeface="Tahoma"/>
                <a:cs typeface="Tahoma"/>
              </a:rPr>
              <a:t>Categories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),</a:t>
            </a:r>
            <a:r>
              <a:rPr sz="1300" spc="-8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dirty="0">
                <a:solidFill>
                  <a:srgbClr val="3E3E3E"/>
                </a:solidFill>
                <a:latin typeface="Verdana"/>
                <a:cs typeface="Verdana"/>
              </a:rPr>
              <a:t>referenced</a:t>
            </a:r>
            <a:r>
              <a:rPr sz="1300" spc="-8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25" dirty="0">
                <a:solidFill>
                  <a:srgbClr val="3E3E3E"/>
                </a:solidFill>
                <a:latin typeface="Verdana"/>
                <a:cs typeface="Verdana"/>
              </a:rPr>
              <a:t>by</a:t>
            </a:r>
            <a:r>
              <a:rPr sz="1300" spc="-8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300" spc="-10" dirty="0">
                <a:solidFill>
                  <a:srgbClr val="3E3E3E"/>
                </a:solidFill>
                <a:latin typeface="Arial MT"/>
                <a:cs typeface="Arial MT"/>
              </a:rPr>
              <a:t>MedicineID</a:t>
            </a:r>
            <a:r>
              <a:rPr sz="1300" spc="-10" dirty="0">
                <a:solidFill>
                  <a:srgbClr val="3E3E3E"/>
                </a:solidFill>
                <a:latin typeface="Verdana"/>
                <a:cs typeface="Verdana"/>
              </a:rPr>
              <a:t>.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572250" y="1190625"/>
            <a:ext cx="5143500" cy="4000500"/>
            <a:chOff x="6572250" y="1190625"/>
            <a:chExt cx="5143500" cy="4000500"/>
          </a:xfrm>
        </p:grpSpPr>
        <p:sp>
          <p:nvSpPr>
            <p:cNvPr id="15" name="object 15"/>
            <p:cNvSpPr/>
            <p:nvPr/>
          </p:nvSpPr>
          <p:spPr>
            <a:xfrm>
              <a:off x="6572250" y="1190625"/>
              <a:ext cx="5143500" cy="4000500"/>
            </a:xfrm>
            <a:custGeom>
              <a:avLst/>
              <a:gdLst/>
              <a:ahLst/>
              <a:cxnLst/>
              <a:rect l="l" t="t" r="r" b="b"/>
              <a:pathLst>
                <a:path w="5143500" h="4000500">
                  <a:moveTo>
                    <a:pt x="5029205" y="4000499"/>
                  </a:moveTo>
                  <a:lnTo>
                    <a:pt x="114294" y="4000499"/>
                  </a:lnTo>
                  <a:lnTo>
                    <a:pt x="69805" y="3991518"/>
                  </a:lnTo>
                  <a:lnTo>
                    <a:pt x="33475" y="3967023"/>
                  </a:lnTo>
                  <a:lnTo>
                    <a:pt x="8981" y="3930694"/>
                  </a:lnTo>
                  <a:lnTo>
                    <a:pt x="0" y="3886205"/>
                  </a:lnTo>
                  <a:lnTo>
                    <a:pt x="0" y="114294"/>
                  </a:lnTo>
                  <a:lnTo>
                    <a:pt x="8981" y="69805"/>
                  </a:lnTo>
                  <a:lnTo>
                    <a:pt x="33475" y="33475"/>
                  </a:lnTo>
                  <a:lnTo>
                    <a:pt x="69805" y="8981"/>
                  </a:lnTo>
                  <a:lnTo>
                    <a:pt x="114294" y="0"/>
                  </a:lnTo>
                  <a:lnTo>
                    <a:pt x="5029205" y="0"/>
                  </a:lnTo>
                  <a:lnTo>
                    <a:pt x="5072944" y="8700"/>
                  </a:lnTo>
                  <a:lnTo>
                    <a:pt x="5110024" y="33475"/>
                  </a:lnTo>
                  <a:lnTo>
                    <a:pt x="5134799" y="70555"/>
                  </a:lnTo>
                  <a:lnTo>
                    <a:pt x="5143499" y="114294"/>
                  </a:lnTo>
                  <a:lnTo>
                    <a:pt x="5143499" y="3886205"/>
                  </a:lnTo>
                  <a:lnTo>
                    <a:pt x="5134518" y="3930694"/>
                  </a:lnTo>
                  <a:lnTo>
                    <a:pt x="5110024" y="3967023"/>
                  </a:lnTo>
                  <a:lnTo>
                    <a:pt x="5073694" y="3991518"/>
                  </a:lnTo>
                  <a:lnTo>
                    <a:pt x="5029205" y="4000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72250" y="1190637"/>
              <a:ext cx="5143500" cy="571500"/>
            </a:xfrm>
            <a:custGeom>
              <a:avLst/>
              <a:gdLst/>
              <a:ahLst/>
              <a:cxnLst/>
              <a:rect l="l" t="t" r="r" b="b"/>
              <a:pathLst>
                <a:path w="5143500" h="571500">
                  <a:moveTo>
                    <a:pt x="5143500" y="114300"/>
                  </a:moveTo>
                  <a:lnTo>
                    <a:pt x="5134788" y="70548"/>
                  </a:lnTo>
                  <a:lnTo>
                    <a:pt x="5110010" y="33477"/>
                  </a:lnTo>
                  <a:lnTo>
                    <a:pt x="5072939" y="8699"/>
                  </a:lnTo>
                  <a:lnTo>
                    <a:pt x="5029200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381000"/>
                  </a:lnTo>
                  <a:lnTo>
                    <a:pt x="0" y="457200"/>
                  </a:lnTo>
                  <a:lnTo>
                    <a:pt x="0" y="571500"/>
                  </a:lnTo>
                  <a:lnTo>
                    <a:pt x="114300" y="571500"/>
                  </a:lnTo>
                  <a:lnTo>
                    <a:pt x="5029200" y="571500"/>
                  </a:lnTo>
                  <a:lnTo>
                    <a:pt x="5143500" y="571500"/>
                  </a:lnTo>
                  <a:lnTo>
                    <a:pt x="5143500" y="457200"/>
                  </a:lnTo>
                  <a:lnTo>
                    <a:pt x="5143500" y="381000"/>
                  </a:lnTo>
                  <a:lnTo>
                    <a:pt x="5143500" y="114300"/>
                  </a:lnTo>
                  <a:close/>
                </a:path>
              </a:pathLst>
            </a:custGeom>
            <a:solidFill>
              <a:srgbClr val="02C1B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97675" y="1357402"/>
            <a:ext cx="32080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1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600" b="1" spc="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10" dirty="0">
                <a:solidFill>
                  <a:srgbClr val="FFFFFF"/>
                </a:solidFill>
                <a:latin typeface="Tahoma"/>
                <a:cs typeface="Tahoma"/>
              </a:rPr>
              <a:t>Functional</a:t>
            </a:r>
            <a:r>
              <a:rPr sz="1600" b="1" spc="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50" dirty="0">
                <a:solidFill>
                  <a:srgbClr val="FFFFFF"/>
                </a:solidFill>
                <a:latin typeface="Tahoma"/>
                <a:cs typeface="Tahoma"/>
              </a:rPr>
              <a:t>Dependencies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97675" y="1934336"/>
            <a:ext cx="9798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1918C"/>
                </a:solidFill>
                <a:latin typeface="Tahoma"/>
                <a:cs typeface="Tahoma"/>
              </a:rPr>
              <a:t>MedicineID</a:t>
            </a:r>
            <a:r>
              <a:rPr sz="1100" b="1" spc="17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100" b="1" spc="-490" dirty="0">
                <a:solidFill>
                  <a:srgbClr val="01918C"/>
                </a:solidFill>
                <a:latin typeface="Tahoma"/>
                <a:cs typeface="Tahoma"/>
              </a:rPr>
              <a:t>→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10375" y="2196465"/>
            <a:ext cx="4004945" cy="16764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MedicineName,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3E3E3E"/>
                </a:solidFill>
                <a:latin typeface="Verdana"/>
                <a:cs typeface="Verdana"/>
              </a:rPr>
              <a:t>CategoryID,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 ManufacturerID,</a:t>
            </a:r>
            <a:r>
              <a:rPr sz="1100" spc="-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IsRestricted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97675" y="2460116"/>
            <a:ext cx="7404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01918C"/>
                </a:solidFill>
                <a:latin typeface="Tahoma"/>
                <a:cs typeface="Tahoma"/>
              </a:rPr>
              <a:t>BatchID</a:t>
            </a:r>
            <a:r>
              <a:rPr sz="1100" b="1" spc="8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100" b="1" spc="-490" dirty="0">
                <a:solidFill>
                  <a:srgbClr val="01918C"/>
                </a:solidFill>
                <a:latin typeface="Tahoma"/>
                <a:cs typeface="Tahoma"/>
              </a:rPr>
              <a:t>→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10375" y="2722245"/>
            <a:ext cx="3616325" cy="16764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MedicineID,</a:t>
            </a:r>
            <a:r>
              <a:rPr sz="1100" spc="1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E3E3E"/>
                </a:solidFill>
                <a:latin typeface="Verdana"/>
                <a:cs typeface="Verdana"/>
              </a:rPr>
              <a:t>PurchaseID,</a:t>
            </a:r>
            <a:r>
              <a:rPr sz="1100" spc="1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BatchNumber,</a:t>
            </a:r>
            <a:r>
              <a:rPr sz="1100" spc="1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ExpiryDate,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810375" y="2889885"/>
            <a:ext cx="1677035" cy="16764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StockQuantity,</a:t>
            </a:r>
            <a:r>
              <a:rPr sz="1100" spc="2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UnitCost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97675" y="3153536"/>
            <a:ext cx="9550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01918C"/>
                </a:solidFill>
                <a:latin typeface="Tahoma"/>
                <a:cs typeface="Tahoma"/>
              </a:rPr>
              <a:t>SaleItemID</a:t>
            </a:r>
            <a:r>
              <a:rPr sz="1100" b="1" spc="-4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100" b="1" spc="-490" dirty="0">
                <a:solidFill>
                  <a:srgbClr val="01918C"/>
                </a:solidFill>
                <a:latin typeface="Tahoma"/>
                <a:cs typeface="Tahoma"/>
              </a:rPr>
              <a:t>→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10375" y="3415664"/>
            <a:ext cx="3837304" cy="16764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-60" dirty="0">
                <a:solidFill>
                  <a:srgbClr val="3E3E3E"/>
                </a:solidFill>
                <a:latin typeface="Verdana"/>
                <a:cs typeface="Verdana"/>
              </a:rPr>
              <a:t>SaleID,</a:t>
            </a:r>
            <a:r>
              <a:rPr sz="1100" spc="-5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BatchID,</a:t>
            </a:r>
            <a:r>
              <a:rPr sz="1100" spc="-5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3E3E3E"/>
                </a:solidFill>
                <a:latin typeface="Verdana"/>
                <a:cs typeface="Verdana"/>
              </a:rPr>
              <a:t>Quantity,</a:t>
            </a:r>
            <a:r>
              <a:rPr sz="1100" spc="-5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UnitPrice,</a:t>
            </a:r>
            <a:r>
              <a:rPr sz="1100" spc="-5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Discount,</a:t>
            </a:r>
            <a:r>
              <a:rPr sz="1100" spc="-5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SubTotal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28750" y="5381625"/>
            <a:ext cx="10287000" cy="857885"/>
            <a:chOff x="1428750" y="5381625"/>
            <a:chExt cx="10287000" cy="857885"/>
          </a:xfrm>
        </p:grpSpPr>
        <p:sp>
          <p:nvSpPr>
            <p:cNvPr id="26" name="object 26"/>
            <p:cNvSpPr/>
            <p:nvPr/>
          </p:nvSpPr>
          <p:spPr>
            <a:xfrm>
              <a:off x="1428750" y="5381625"/>
              <a:ext cx="10287000" cy="857885"/>
            </a:xfrm>
            <a:custGeom>
              <a:avLst/>
              <a:gdLst/>
              <a:ahLst/>
              <a:cxnLst/>
              <a:rect l="l" t="t" r="r" b="b"/>
              <a:pathLst>
                <a:path w="10287000" h="857885">
                  <a:moveTo>
                    <a:pt x="10210794" y="857399"/>
                  </a:moveTo>
                  <a:lnTo>
                    <a:pt x="76205" y="857399"/>
                  </a:lnTo>
                  <a:lnTo>
                    <a:pt x="46543" y="851411"/>
                  </a:lnTo>
                  <a:lnTo>
                    <a:pt x="22320" y="835079"/>
                  </a:lnTo>
                  <a:lnTo>
                    <a:pt x="5988" y="810857"/>
                  </a:lnTo>
                  <a:lnTo>
                    <a:pt x="0" y="781194"/>
                  </a:lnTo>
                  <a:lnTo>
                    <a:pt x="0" y="76205"/>
                  </a:lnTo>
                  <a:lnTo>
                    <a:pt x="5988" y="46542"/>
                  </a:lnTo>
                  <a:lnTo>
                    <a:pt x="22320" y="22320"/>
                  </a:lnTo>
                  <a:lnTo>
                    <a:pt x="46543" y="5988"/>
                  </a:lnTo>
                  <a:lnTo>
                    <a:pt x="76205" y="0"/>
                  </a:lnTo>
                  <a:lnTo>
                    <a:pt x="10210794" y="0"/>
                  </a:lnTo>
                  <a:lnTo>
                    <a:pt x="10253073" y="12803"/>
                  </a:lnTo>
                  <a:lnTo>
                    <a:pt x="10281199" y="47042"/>
                  </a:lnTo>
                  <a:lnTo>
                    <a:pt x="10286999" y="76205"/>
                  </a:lnTo>
                  <a:lnTo>
                    <a:pt x="10286999" y="781194"/>
                  </a:lnTo>
                  <a:lnTo>
                    <a:pt x="10281011" y="810857"/>
                  </a:lnTo>
                  <a:lnTo>
                    <a:pt x="10264679" y="835079"/>
                  </a:lnTo>
                  <a:lnTo>
                    <a:pt x="10240456" y="851411"/>
                  </a:lnTo>
                  <a:lnTo>
                    <a:pt x="10210794" y="857399"/>
                  </a:lnTo>
                  <a:close/>
                </a:path>
              </a:pathLst>
            </a:custGeom>
            <a:solidFill>
              <a:srgbClr val="019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28750" y="5381625"/>
              <a:ext cx="76200" cy="857885"/>
            </a:xfrm>
            <a:custGeom>
              <a:avLst/>
              <a:gdLst/>
              <a:ahLst/>
              <a:cxnLst/>
              <a:rect l="l" t="t" r="r" b="b"/>
              <a:pathLst>
                <a:path w="76200" h="857885">
                  <a:moveTo>
                    <a:pt x="38099" y="857399"/>
                  </a:moveTo>
                  <a:lnTo>
                    <a:pt x="23269" y="854405"/>
                  </a:lnTo>
                  <a:lnTo>
                    <a:pt x="11159" y="846240"/>
                  </a:lnTo>
                  <a:lnTo>
                    <a:pt x="2994" y="834130"/>
                  </a:lnTo>
                  <a:lnTo>
                    <a:pt x="0" y="819299"/>
                  </a:lnTo>
                  <a:lnTo>
                    <a:pt x="0" y="38099"/>
                  </a:lnTo>
                  <a:lnTo>
                    <a:pt x="2943" y="23519"/>
                  </a:lnTo>
                  <a:lnTo>
                    <a:pt x="2994" y="23269"/>
                  </a:lnTo>
                  <a:lnTo>
                    <a:pt x="11159" y="11159"/>
                  </a:lnTo>
                  <a:lnTo>
                    <a:pt x="23408" y="2900"/>
                  </a:lnTo>
                  <a:lnTo>
                    <a:pt x="23734" y="2900"/>
                  </a:lnTo>
                  <a:lnTo>
                    <a:pt x="38099" y="0"/>
                  </a:lnTo>
                  <a:lnTo>
                    <a:pt x="73299" y="23519"/>
                  </a:lnTo>
                  <a:lnTo>
                    <a:pt x="76199" y="38099"/>
                  </a:lnTo>
                  <a:lnTo>
                    <a:pt x="76199" y="819299"/>
                  </a:lnTo>
                  <a:lnTo>
                    <a:pt x="73205" y="834130"/>
                  </a:lnTo>
                  <a:lnTo>
                    <a:pt x="65040" y="846240"/>
                  </a:lnTo>
                  <a:lnTo>
                    <a:pt x="52930" y="854405"/>
                  </a:lnTo>
                  <a:lnTo>
                    <a:pt x="38099" y="857399"/>
                  </a:lnTo>
                  <a:close/>
                </a:path>
              </a:pathLst>
            </a:custGeom>
            <a:solidFill>
              <a:srgbClr val="FFC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654175" y="5558595"/>
            <a:ext cx="9274175" cy="44704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150" b="1" spc="70" dirty="0">
                <a:solidFill>
                  <a:srgbClr val="FFFFFF"/>
                </a:solidFill>
                <a:latin typeface="Tahoma"/>
                <a:cs typeface="Tahoma"/>
              </a:rPr>
              <a:t>Schema</a:t>
            </a:r>
            <a:r>
              <a:rPr sz="1150" b="1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b="1" spc="60" dirty="0">
                <a:solidFill>
                  <a:srgbClr val="FFFFFF"/>
                </a:solidFill>
                <a:latin typeface="Tahoma"/>
                <a:cs typeface="Tahoma"/>
              </a:rPr>
              <a:t>Meets</a:t>
            </a:r>
            <a:r>
              <a:rPr sz="1150" b="1" spc="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b="1" dirty="0">
                <a:solidFill>
                  <a:srgbClr val="FFFFFF"/>
                </a:solidFill>
                <a:latin typeface="Tahoma"/>
                <a:cs typeface="Tahoma"/>
              </a:rPr>
              <a:t>3NF</a:t>
            </a:r>
            <a:r>
              <a:rPr sz="1150" b="1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50" b="1" spc="-10" dirty="0">
                <a:solidFill>
                  <a:srgbClr val="FFFFFF"/>
                </a:solidFill>
                <a:latin typeface="Tahoma"/>
                <a:cs typeface="Tahoma"/>
              </a:rPr>
              <a:t>Standard: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000" dirty="0">
                <a:solidFill>
                  <a:srgbClr val="FFFFFF"/>
                </a:solidFill>
                <a:latin typeface="Verdana"/>
                <a:cs typeface="Verdana"/>
              </a:rPr>
              <a:t>Non-</a:t>
            </a:r>
            <a:r>
              <a:rPr sz="1000" spc="-20" dirty="0">
                <a:solidFill>
                  <a:srgbClr val="FFFFFF"/>
                </a:solidFill>
                <a:latin typeface="Verdana"/>
                <a:cs typeface="Verdana"/>
              </a:rPr>
              <a:t>key</a:t>
            </a:r>
            <a:r>
              <a:rPr sz="10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FFFFF"/>
                </a:solidFill>
                <a:latin typeface="Verdana"/>
                <a:cs typeface="Verdana"/>
              </a:rPr>
              <a:t>attributes</a:t>
            </a:r>
            <a:r>
              <a:rPr sz="1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FFFFF"/>
                </a:solidFill>
                <a:latin typeface="Verdana"/>
                <a:cs typeface="Verdana"/>
              </a:rPr>
              <a:t>depend</a:t>
            </a:r>
            <a:r>
              <a:rPr sz="1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Verdana"/>
                <a:cs typeface="Verdana"/>
              </a:rPr>
              <a:t>strictly</a:t>
            </a:r>
            <a:r>
              <a:rPr sz="1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Verdana"/>
                <a:cs typeface="Verdana"/>
              </a:rPr>
              <a:t>exclusively</a:t>
            </a:r>
            <a:r>
              <a:rPr sz="1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1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FFFFF"/>
                </a:solidFill>
                <a:latin typeface="Verdana"/>
                <a:cs typeface="Verdana"/>
              </a:rPr>
              <a:t>primary</a:t>
            </a:r>
            <a:r>
              <a:rPr sz="10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spc="-55" dirty="0">
                <a:solidFill>
                  <a:srgbClr val="FFFFFF"/>
                </a:solidFill>
                <a:latin typeface="Verdana"/>
                <a:cs typeface="Verdana"/>
              </a:rPr>
              <a:t>keys,</a:t>
            </a:r>
            <a:r>
              <a:rPr sz="1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FFFFF"/>
                </a:solidFill>
                <a:latin typeface="Verdana"/>
                <a:cs typeface="Verdana"/>
              </a:rPr>
              <a:t>entirely</a:t>
            </a:r>
            <a:r>
              <a:rPr sz="1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FFFFF"/>
                </a:solidFill>
                <a:latin typeface="Verdana"/>
                <a:cs typeface="Verdana"/>
              </a:rPr>
              <a:t>preventing</a:t>
            </a:r>
            <a:r>
              <a:rPr sz="1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FFFFF"/>
                </a:solidFill>
                <a:latin typeface="Verdana"/>
                <a:cs typeface="Verdana"/>
              </a:rPr>
              <a:t>redundancy</a:t>
            </a:r>
            <a:r>
              <a:rPr sz="1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FFFFF"/>
                </a:solidFill>
                <a:latin typeface="Verdana"/>
                <a:cs typeface="Verdana"/>
              </a:rPr>
              <a:t>update</a:t>
            </a:r>
            <a:r>
              <a:rPr sz="1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FFFFF"/>
                </a:solidFill>
                <a:latin typeface="Verdana"/>
                <a:cs typeface="Verdana"/>
              </a:rPr>
              <a:t>anomalies</a:t>
            </a:r>
            <a:r>
              <a:rPr sz="1000" spc="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Verdana"/>
                <a:cs typeface="Verdana"/>
              </a:rPr>
              <a:t>across</a:t>
            </a:r>
            <a:r>
              <a:rPr sz="1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000" spc="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Verdana"/>
                <a:cs typeface="Verdana"/>
              </a:rPr>
              <a:t>database.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0" name="Freeform 32">
            <a:extLst>
              <a:ext uri="{FF2B5EF4-FFF2-40B4-BE49-F238E27FC236}">
                <a16:creationId xmlns:a16="http://schemas.microsoft.com/office/drawing/2014/main" id="{BF27FBE2-EBE5-CA6F-C8EA-D271A63F2956}"/>
              </a:ext>
            </a:extLst>
          </p:cNvPr>
          <p:cNvSpPr/>
          <p:nvPr/>
        </p:nvSpPr>
        <p:spPr>
          <a:xfrm>
            <a:off x="11201400" y="66339"/>
            <a:ext cx="982824" cy="285231"/>
          </a:xfrm>
          <a:custGeom>
            <a:avLst/>
            <a:gdLst/>
            <a:ahLst/>
            <a:cxnLst/>
            <a:rect l="l" t="t" r="r" b="b"/>
            <a:pathLst>
              <a:path w="1299612" h="703776">
                <a:moveTo>
                  <a:pt x="0" y="0"/>
                </a:moveTo>
                <a:lnTo>
                  <a:pt x="1299612" y="0"/>
                </a:lnTo>
                <a:lnTo>
                  <a:pt x="1299612" y="703776"/>
                </a:lnTo>
                <a:lnTo>
                  <a:pt x="0" y="7037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95106"/>
            <a:ext cx="12192000" cy="6663055"/>
            <a:chOff x="0" y="195106"/>
            <a:chExt cx="12192000" cy="66630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162" y="2166937"/>
              <a:ext cx="3286199" cy="29765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162" y="1904999"/>
              <a:ext cx="685799" cy="21050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162" y="419100"/>
              <a:ext cx="3286199" cy="2971799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Integrity</a:t>
            </a:r>
            <a:r>
              <a:rPr spc="45" dirty="0"/>
              <a:t> </a:t>
            </a:r>
            <a:r>
              <a:rPr dirty="0"/>
              <a:t>Constraints</a:t>
            </a:r>
            <a:r>
              <a:rPr spc="50" dirty="0"/>
              <a:t> </a:t>
            </a:r>
            <a:r>
              <a:rPr dirty="0"/>
              <a:t>&amp;</a:t>
            </a:r>
            <a:r>
              <a:rPr spc="50" dirty="0"/>
              <a:t> </a:t>
            </a:r>
            <a:r>
              <a:rPr spc="80" dirty="0"/>
              <a:t>Business</a:t>
            </a:r>
            <a:r>
              <a:rPr spc="50" dirty="0"/>
              <a:t> </a:t>
            </a:r>
            <a:r>
              <a:rPr spc="60" dirty="0"/>
              <a:t>Rule</a:t>
            </a:r>
            <a:r>
              <a:rPr spc="50" dirty="0"/>
              <a:t> </a:t>
            </a:r>
            <a:r>
              <a:rPr spc="90" dirty="0"/>
              <a:t>Enforcement</a:t>
            </a:r>
          </a:p>
        </p:txBody>
      </p:sp>
      <p:sp>
        <p:nvSpPr>
          <p:cNvPr id="7" name="object 7"/>
          <p:cNvSpPr/>
          <p:nvPr/>
        </p:nvSpPr>
        <p:spPr>
          <a:xfrm>
            <a:off x="762000" y="1000125"/>
            <a:ext cx="10668000" cy="400685"/>
          </a:xfrm>
          <a:custGeom>
            <a:avLst/>
            <a:gdLst/>
            <a:ahLst/>
            <a:cxnLst/>
            <a:rect l="l" t="t" r="r" b="b"/>
            <a:pathLst>
              <a:path w="10668000" h="400684">
                <a:moveTo>
                  <a:pt x="10610831" y="400199"/>
                </a:moveTo>
                <a:lnTo>
                  <a:pt x="57168" y="400199"/>
                </a:lnTo>
                <a:lnTo>
                  <a:pt x="34915" y="395707"/>
                </a:lnTo>
                <a:lnTo>
                  <a:pt x="16744" y="383455"/>
                </a:lnTo>
                <a:lnTo>
                  <a:pt x="4492" y="365284"/>
                </a:lnTo>
                <a:lnTo>
                  <a:pt x="0" y="343031"/>
                </a:lnTo>
                <a:lnTo>
                  <a:pt x="0" y="57168"/>
                </a:lnTo>
                <a:lnTo>
                  <a:pt x="4492" y="34915"/>
                </a:lnTo>
                <a:lnTo>
                  <a:pt x="16744" y="16744"/>
                </a:lnTo>
                <a:lnTo>
                  <a:pt x="34915" y="4492"/>
                </a:lnTo>
                <a:lnTo>
                  <a:pt x="57168" y="0"/>
                </a:lnTo>
                <a:lnTo>
                  <a:pt x="10610831" y="0"/>
                </a:lnTo>
                <a:lnTo>
                  <a:pt x="10651255" y="16744"/>
                </a:lnTo>
                <a:lnTo>
                  <a:pt x="10667999" y="57168"/>
                </a:lnTo>
                <a:lnTo>
                  <a:pt x="10667999" y="343031"/>
                </a:lnTo>
                <a:lnTo>
                  <a:pt x="10663507" y="365284"/>
                </a:lnTo>
                <a:lnTo>
                  <a:pt x="10651255" y="383455"/>
                </a:lnTo>
                <a:lnTo>
                  <a:pt x="10633084" y="395707"/>
                </a:lnTo>
                <a:lnTo>
                  <a:pt x="10610831" y="400199"/>
                </a:lnTo>
                <a:close/>
              </a:path>
            </a:pathLst>
          </a:custGeom>
          <a:solidFill>
            <a:srgbClr val="0191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92175" y="1098117"/>
            <a:ext cx="99098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FFFFFF"/>
                </a:solidFill>
                <a:latin typeface="Tahoma"/>
                <a:cs typeface="Tahoma"/>
              </a:rPr>
              <a:t>Guideline:</a:t>
            </a:r>
            <a:r>
              <a:rPr sz="1100" b="1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Use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 database-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enforced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 rules</a:t>
            </a:r>
            <a:r>
              <a:rPr sz="11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where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Verdana"/>
                <a:cs typeface="Verdana"/>
              </a:rPr>
              <a:t>possible;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complement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11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application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checks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 user</a:t>
            </a:r>
            <a:r>
              <a:rPr sz="11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experience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FFFFFF"/>
                </a:solidFill>
                <a:latin typeface="Verdana"/>
                <a:cs typeface="Verdana"/>
              </a:rPr>
              <a:t>better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Verdana"/>
                <a:cs typeface="Verdana"/>
              </a:rPr>
              <a:t>error</a:t>
            </a:r>
            <a:r>
              <a:rPr sz="11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Verdana"/>
                <a:cs typeface="Verdana"/>
              </a:rPr>
              <a:t>messaging.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54697" y="1564322"/>
            <a:ext cx="5206365" cy="2158365"/>
            <a:chOff x="754697" y="1564322"/>
            <a:chExt cx="5206365" cy="2158365"/>
          </a:xfrm>
        </p:grpSpPr>
        <p:sp>
          <p:nvSpPr>
            <p:cNvPr id="10" name="object 10"/>
            <p:cNvSpPr/>
            <p:nvPr/>
          </p:nvSpPr>
          <p:spPr>
            <a:xfrm>
              <a:off x="761999" y="1571625"/>
              <a:ext cx="5191760" cy="2143760"/>
            </a:xfrm>
            <a:custGeom>
              <a:avLst/>
              <a:gdLst/>
              <a:ahLst/>
              <a:cxnLst/>
              <a:rect l="l" t="t" r="r" b="b"/>
              <a:pathLst>
                <a:path w="5191760" h="2143760">
                  <a:moveTo>
                    <a:pt x="5076902" y="2143199"/>
                  </a:moveTo>
                  <a:lnTo>
                    <a:pt x="114296" y="2143199"/>
                  </a:lnTo>
                  <a:lnTo>
                    <a:pt x="69807" y="2134218"/>
                  </a:lnTo>
                  <a:lnTo>
                    <a:pt x="33476" y="2109723"/>
                  </a:lnTo>
                  <a:lnTo>
                    <a:pt x="8982" y="2073392"/>
                  </a:lnTo>
                  <a:lnTo>
                    <a:pt x="0" y="2028902"/>
                  </a:lnTo>
                  <a:lnTo>
                    <a:pt x="0" y="114296"/>
                  </a:lnTo>
                  <a:lnTo>
                    <a:pt x="8982" y="69807"/>
                  </a:lnTo>
                  <a:lnTo>
                    <a:pt x="33476" y="33476"/>
                  </a:lnTo>
                  <a:lnTo>
                    <a:pt x="69807" y="8982"/>
                  </a:lnTo>
                  <a:lnTo>
                    <a:pt x="114296" y="0"/>
                  </a:lnTo>
                  <a:lnTo>
                    <a:pt x="5076902" y="0"/>
                  </a:lnTo>
                  <a:lnTo>
                    <a:pt x="5120642" y="8700"/>
                  </a:lnTo>
                  <a:lnTo>
                    <a:pt x="5157722" y="33476"/>
                  </a:lnTo>
                  <a:lnTo>
                    <a:pt x="5182499" y="70557"/>
                  </a:lnTo>
                  <a:lnTo>
                    <a:pt x="5191199" y="114296"/>
                  </a:lnTo>
                  <a:lnTo>
                    <a:pt x="5191199" y="2028902"/>
                  </a:lnTo>
                  <a:lnTo>
                    <a:pt x="5182217" y="2073392"/>
                  </a:lnTo>
                  <a:lnTo>
                    <a:pt x="5157723" y="2109723"/>
                  </a:lnTo>
                  <a:lnTo>
                    <a:pt x="5121392" y="2134218"/>
                  </a:lnTo>
                  <a:lnTo>
                    <a:pt x="5076902" y="214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1999" y="1571625"/>
              <a:ext cx="5191760" cy="2143760"/>
            </a:xfrm>
            <a:custGeom>
              <a:avLst/>
              <a:gdLst/>
              <a:ahLst/>
              <a:cxnLst/>
              <a:rect l="l" t="t" r="r" b="b"/>
              <a:pathLst>
                <a:path w="5191760" h="2143760">
                  <a:moveTo>
                    <a:pt x="0" y="114296"/>
                  </a:moveTo>
                  <a:lnTo>
                    <a:pt x="8982" y="69807"/>
                  </a:lnTo>
                  <a:lnTo>
                    <a:pt x="33476" y="33476"/>
                  </a:lnTo>
                  <a:lnTo>
                    <a:pt x="69807" y="8982"/>
                  </a:lnTo>
                  <a:lnTo>
                    <a:pt x="114296" y="0"/>
                  </a:lnTo>
                  <a:lnTo>
                    <a:pt x="5076902" y="0"/>
                  </a:lnTo>
                  <a:lnTo>
                    <a:pt x="5120642" y="8700"/>
                  </a:lnTo>
                  <a:lnTo>
                    <a:pt x="5157722" y="33476"/>
                  </a:lnTo>
                  <a:lnTo>
                    <a:pt x="5182499" y="70557"/>
                  </a:lnTo>
                  <a:lnTo>
                    <a:pt x="5191199" y="114296"/>
                  </a:lnTo>
                  <a:lnTo>
                    <a:pt x="5191199" y="2028902"/>
                  </a:lnTo>
                  <a:lnTo>
                    <a:pt x="5182217" y="2073392"/>
                  </a:lnTo>
                  <a:lnTo>
                    <a:pt x="5157723" y="2109723"/>
                  </a:lnTo>
                  <a:lnTo>
                    <a:pt x="5121392" y="2134218"/>
                  </a:lnTo>
                  <a:lnTo>
                    <a:pt x="5076902" y="2143199"/>
                  </a:lnTo>
                  <a:lnTo>
                    <a:pt x="114296" y="2143199"/>
                  </a:lnTo>
                  <a:lnTo>
                    <a:pt x="69807" y="2134218"/>
                  </a:lnTo>
                  <a:lnTo>
                    <a:pt x="33476" y="2109723"/>
                  </a:lnTo>
                  <a:lnTo>
                    <a:pt x="8982" y="2073392"/>
                  </a:lnTo>
                  <a:lnTo>
                    <a:pt x="0" y="2028902"/>
                  </a:lnTo>
                  <a:lnTo>
                    <a:pt x="0" y="114296"/>
                  </a:lnTo>
                  <a:close/>
                </a:path>
              </a:pathLst>
            </a:custGeom>
            <a:ln w="14299">
              <a:solidFill>
                <a:srgbClr val="0191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2000" y="1571637"/>
              <a:ext cx="5191760" cy="381000"/>
            </a:xfrm>
            <a:custGeom>
              <a:avLst/>
              <a:gdLst/>
              <a:ahLst/>
              <a:cxnLst/>
              <a:rect l="l" t="t" r="r" b="b"/>
              <a:pathLst>
                <a:path w="5191760" h="381000">
                  <a:moveTo>
                    <a:pt x="5191188" y="114300"/>
                  </a:moveTo>
                  <a:lnTo>
                    <a:pt x="5182489" y="70548"/>
                  </a:lnTo>
                  <a:lnTo>
                    <a:pt x="5157711" y="33477"/>
                  </a:lnTo>
                  <a:lnTo>
                    <a:pt x="5120640" y="8699"/>
                  </a:lnTo>
                  <a:lnTo>
                    <a:pt x="5076888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190500"/>
                  </a:lnTo>
                  <a:lnTo>
                    <a:pt x="0" y="266700"/>
                  </a:lnTo>
                  <a:lnTo>
                    <a:pt x="0" y="381000"/>
                  </a:lnTo>
                  <a:lnTo>
                    <a:pt x="114300" y="381000"/>
                  </a:lnTo>
                  <a:lnTo>
                    <a:pt x="5076888" y="381000"/>
                  </a:lnTo>
                  <a:lnTo>
                    <a:pt x="5191188" y="381000"/>
                  </a:lnTo>
                  <a:lnTo>
                    <a:pt x="5191188" y="266700"/>
                  </a:lnTo>
                  <a:lnTo>
                    <a:pt x="5191188" y="190500"/>
                  </a:lnTo>
                  <a:lnTo>
                    <a:pt x="5191188" y="114300"/>
                  </a:lnTo>
                  <a:close/>
                </a:path>
              </a:pathLst>
            </a:custGeom>
            <a:solidFill>
              <a:srgbClr val="019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20750" y="1662810"/>
            <a:ext cx="198818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Tahoma"/>
                <a:cs typeface="Tahoma"/>
              </a:rPr>
              <a:t>UNIQUE</a:t>
            </a:r>
            <a:r>
              <a:rPr sz="1300" b="1" spc="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40" dirty="0">
                <a:solidFill>
                  <a:srgbClr val="FFFFFF"/>
                </a:solidFill>
                <a:latin typeface="Tahoma"/>
                <a:cs typeface="Tahoma"/>
              </a:rPr>
              <a:t>BatchNumber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9800" y="2048636"/>
            <a:ext cx="4731385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Ensures</a:t>
            </a:r>
            <a:r>
              <a:rPr sz="1100" spc="-3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that</a:t>
            </a:r>
            <a:r>
              <a:rPr sz="1100" spc="-3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40" dirty="0">
                <a:solidFill>
                  <a:srgbClr val="3E3E3E"/>
                </a:solidFill>
                <a:latin typeface="Verdana"/>
                <a:cs typeface="Verdana"/>
              </a:rPr>
              <a:t>every</a:t>
            </a:r>
            <a:r>
              <a:rPr sz="1100" spc="-3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lot</a:t>
            </a:r>
            <a:r>
              <a:rPr sz="1100" spc="-3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managed</a:t>
            </a:r>
            <a:r>
              <a:rPr sz="1100" spc="-3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within</a:t>
            </a:r>
            <a:r>
              <a:rPr sz="1100" spc="-3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the</a:t>
            </a:r>
            <a:r>
              <a:rPr sz="1100" spc="-3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E3E3E"/>
                </a:solidFill>
                <a:latin typeface="Verdana"/>
                <a:cs typeface="Verdana"/>
              </a:rPr>
              <a:t>inventory</a:t>
            </a:r>
            <a:r>
              <a:rPr sz="1100" spc="-3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system</a:t>
            </a:r>
            <a:r>
              <a:rPr sz="1100" spc="-3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carries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an</a:t>
            </a:r>
            <a:r>
              <a:rPr sz="1100" spc="-2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absolute</a:t>
            </a:r>
            <a:r>
              <a:rPr sz="1100" spc="-2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unique</a:t>
            </a:r>
            <a:r>
              <a:rPr sz="1100" spc="-2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identity.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b="1" dirty="0">
                <a:solidFill>
                  <a:srgbClr val="3E3E3E"/>
                </a:solidFill>
                <a:latin typeface="Tahoma"/>
                <a:cs typeface="Tahoma"/>
              </a:rPr>
              <a:t>Constraint:</a:t>
            </a:r>
            <a:r>
              <a:rPr sz="1100" b="1" spc="20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UNIQUE</a:t>
            </a:r>
            <a:r>
              <a:rPr sz="1000" b="1" spc="5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000" b="1" spc="-10" dirty="0">
                <a:solidFill>
                  <a:srgbClr val="01918C"/>
                </a:solidFill>
                <a:latin typeface="Tahoma"/>
                <a:cs typeface="Tahoma"/>
              </a:rPr>
              <a:t>(BatchNumber)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b="1" dirty="0">
                <a:solidFill>
                  <a:srgbClr val="3E3E3E"/>
                </a:solidFill>
                <a:latin typeface="Tahoma"/>
                <a:cs typeface="Tahoma"/>
              </a:rPr>
              <a:t>Target</a:t>
            </a:r>
            <a:r>
              <a:rPr sz="1100" b="1" spc="20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3E3E3E"/>
                </a:solidFill>
                <a:latin typeface="Tahoma"/>
                <a:cs typeface="Tahoma"/>
              </a:rPr>
              <a:t>Table:</a:t>
            </a:r>
            <a:r>
              <a:rPr sz="1100" b="1" spc="-15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000" b="1" spc="-10" dirty="0">
                <a:solidFill>
                  <a:srgbClr val="01918C"/>
                </a:solidFill>
                <a:latin typeface="Tahoma"/>
                <a:cs typeface="Tahoma"/>
              </a:rPr>
              <a:t>Batches</a:t>
            </a:r>
            <a:endParaRPr sz="1000">
              <a:latin typeface="Tahoma"/>
              <a:cs typeface="Tahoma"/>
            </a:endParaRPr>
          </a:p>
          <a:p>
            <a:pPr marL="12700" marR="386080">
              <a:lnSpc>
                <a:spcPct val="100000"/>
              </a:lnSpc>
              <a:spcBef>
                <a:spcPts val="600"/>
              </a:spcBef>
            </a:pPr>
            <a:r>
              <a:rPr sz="1000" spc="-10" dirty="0">
                <a:solidFill>
                  <a:srgbClr val="595959"/>
                </a:solidFill>
                <a:latin typeface="Verdana"/>
                <a:cs typeface="Verdana"/>
              </a:rPr>
              <a:t>Prevents</a:t>
            </a:r>
            <a:r>
              <a:rPr sz="1000" spc="-5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creation</a:t>
            </a:r>
            <a:r>
              <a:rPr sz="1000" spc="-45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of</a:t>
            </a:r>
            <a:r>
              <a:rPr sz="1000" spc="-5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duplicate</a:t>
            </a:r>
            <a:r>
              <a:rPr sz="1000" spc="-45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lot</a:t>
            </a:r>
            <a:r>
              <a:rPr sz="1000" spc="-5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Verdana"/>
                <a:cs typeface="Verdana"/>
              </a:rPr>
              <a:t>identiﬁers</a:t>
            </a:r>
            <a:r>
              <a:rPr sz="1000" spc="-45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595959"/>
                </a:solidFill>
                <a:latin typeface="Verdana"/>
                <a:cs typeface="Verdana"/>
              </a:rPr>
              <a:t>across</a:t>
            </a:r>
            <a:r>
              <a:rPr sz="1000" spc="-45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Verdana"/>
                <a:cs typeface="Verdana"/>
              </a:rPr>
              <a:t>all</a:t>
            </a:r>
            <a:r>
              <a:rPr sz="1000" spc="-5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recorded</a:t>
            </a:r>
            <a:r>
              <a:rPr sz="1000" spc="-45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595959"/>
                </a:solidFill>
                <a:latin typeface="Verdana"/>
                <a:cs typeface="Verdana"/>
              </a:rPr>
              <a:t>drug </a:t>
            </a:r>
            <a:r>
              <a:rPr sz="1000" spc="-10" dirty="0">
                <a:solidFill>
                  <a:srgbClr val="595959"/>
                </a:solidFill>
                <a:latin typeface="Verdana"/>
                <a:cs typeface="Verdana"/>
              </a:rPr>
              <a:t>batches.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31572" y="1564322"/>
            <a:ext cx="5206365" cy="2158365"/>
            <a:chOff x="6231572" y="1564322"/>
            <a:chExt cx="5206365" cy="2158365"/>
          </a:xfrm>
        </p:grpSpPr>
        <p:sp>
          <p:nvSpPr>
            <p:cNvPr id="16" name="object 16"/>
            <p:cNvSpPr/>
            <p:nvPr/>
          </p:nvSpPr>
          <p:spPr>
            <a:xfrm>
              <a:off x="6238874" y="1571625"/>
              <a:ext cx="5191760" cy="2143760"/>
            </a:xfrm>
            <a:custGeom>
              <a:avLst/>
              <a:gdLst/>
              <a:ahLst/>
              <a:cxnLst/>
              <a:rect l="l" t="t" r="r" b="b"/>
              <a:pathLst>
                <a:path w="5191759" h="2143760">
                  <a:moveTo>
                    <a:pt x="5076902" y="2143199"/>
                  </a:moveTo>
                  <a:lnTo>
                    <a:pt x="114296" y="2143199"/>
                  </a:lnTo>
                  <a:lnTo>
                    <a:pt x="69807" y="2134218"/>
                  </a:lnTo>
                  <a:lnTo>
                    <a:pt x="33476" y="2109723"/>
                  </a:lnTo>
                  <a:lnTo>
                    <a:pt x="8981" y="2073392"/>
                  </a:lnTo>
                  <a:lnTo>
                    <a:pt x="0" y="2028902"/>
                  </a:lnTo>
                  <a:lnTo>
                    <a:pt x="0" y="114296"/>
                  </a:lnTo>
                  <a:lnTo>
                    <a:pt x="8981" y="69807"/>
                  </a:lnTo>
                  <a:lnTo>
                    <a:pt x="33476" y="33476"/>
                  </a:lnTo>
                  <a:lnTo>
                    <a:pt x="69807" y="8982"/>
                  </a:lnTo>
                  <a:lnTo>
                    <a:pt x="114296" y="0"/>
                  </a:lnTo>
                  <a:lnTo>
                    <a:pt x="5076902" y="0"/>
                  </a:lnTo>
                  <a:lnTo>
                    <a:pt x="5120642" y="8700"/>
                  </a:lnTo>
                  <a:lnTo>
                    <a:pt x="5157723" y="33476"/>
                  </a:lnTo>
                  <a:lnTo>
                    <a:pt x="5182499" y="70557"/>
                  </a:lnTo>
                  <a:lnTo>
                    <a:pt x="5191199" y="114296"/>
                  </a:lnTo>
                  <a:lnTo>
                    <a:pt x="5191199" y="2028902"/>
                  </a:lnTo>
                  <a:lnTo>
                    <a:pt x="5182217" y="2073392"/>
                  </a:lnTo>
                  <a:lnTo>
                    <a:pt x="5157723" y="2109723"/>
                  </a:lnTo>
                  <a:lnTo>
                    <a:pt x="5121392" y="2134218"/>
                  </a:lnTo>
                  <a:lnTo>
                    <a:pt x="5076902" y="2143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38874" y="1571625"/>
              <a:ext cx="5191760" cy="2143760"/>
            </a:xfrm>
            <a:custGeom>
              <a:avLst/>
              <a:gdLst/>
              <a:ahLst/>
              <a:cxnLst/>
              <a:rect l="l" t="t" r="r" b="b"/>
              <a:pathLst>
                <a:path w="5191759" h="2143760">
                  <a:moveTo>
                    <a:pt x="0" y="114296"/>
                  </a:moveTo>
                  <a:lnTo>
                    <a:pt x="8981" y="69807"/>
                  </a:lnTo>
                  <a:lnTo>
                    <a:pt x="33476" y="33476"/>
                  </a:lnTo>
                  <a:lnTo>
                    <a:pt x="69807" y="8982"/>
                  </a:lnTo>
                  <a:lnTo>
                    <a:pt x="114296" y="0"/>
                  </a:lnTo>
                  <a:lnTo>
                    <a:pt x="5076902" y="0"/>
                  </a:lnTo>
                  <a:lnTo>
                    <a:pt x="5120642" y="8700"/>
                  </a:lnTo>
                  <a:lnTo>
                    <a:pt x="5157723" y="33476"/>
                  </a:lnTo>
                  <a:lnTo>
                    <a:pt x="5182499" y="70557"/>
                  </a:lnTo>
                  <a:lnTo>
                    <a:pt x="5191199" y="114296"/>
                  </a:lnTo>
                  <a:lnTo>
                    <a:pt x="5191199" y="2028902"/>
                  </a:lnTo>
                  <a:lnTo>
                    <a:pt x="5182217" y="2073392"/>
                  </a:lnTo>
                  <a:lnTo>
                    <a:pt x="5157723" y="2109723"/>
                  </a:lnTo>
                  <a:lnTo>
                    <a:pt x="5121392" y="2134218"/>
                  </a:lnTo>
                  <a:lnTo>
                    <a:pt x="5076902" y="2143199"/>
                  </a:lnTo>
                  <a:lnTo>
                    <a:pt x="114296" y="2143199"/>
                  </a:lnTo>
                  <a:lnTo>
                    <a:pt x="69807" y="2134218"/>
                  </a:lnTo>
                  <a:lnTo>
                    <a:pt x="33476" y="2109723"/>
                  </a:lnTo>
                  <a:lnTo>
                    <a:pt x="8981" y="2073392"/>
                  </a:lnTo>
                  <a:lnTo>
                    <a:pt x="0" y="2028902"/>
                  </a:lnTo>
                  <a:lnTo>
                    <a:pt x="0" y="114296"/>
                  </a:lnTo>
                  <a:close/>
                </a:path>
              </a:pathLst>
            </a:custGeom>
            <a:ln w="14299">
              <a:solidFill>
                <a:srgbClr val="0191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38875" y="1571637"/>
              <a:ext cx="5191760" cy="381000"/>
            </a:xfrm>
            <a:custGeom>
              <a:avLst/>
              <a:gdLst/>
              <a:ahLst/>
              <a:cxnLst/>
              <a:rect l="l" t="t" r="r" b="b"/>
              <a:pathLst>
                <a:path w="5191759" h="381000">
                  <a:moveTo>
                    <a:pt x="5191188" y="114300"/>
                  </a:moveTo>
                  <a:lnTo>
                    <a:pt x="5182489" y="70548"/>
                  </a:lnTo>
                  <a:lnTo>
                    <a:pt x="5157711" y="33477"/>
                  </a:lnTo>
                  <a:lnTo>
                    <a:pt x="5120640" y="8699"/>
                  </a:lnTo>
                  <a:lnTo>
                    <a:pt x="5076888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190500"/>
                  </a:lnTo>
                  <a:lnTo>
                    <a:pt x="0" y="266700"/>
                  </a:lnTo>
                  <a:lnTo>
                    <a:pt x="0" y="381000"/>
                  </a:lnTo>
                  <a:lnTo>
                    <a:pt x="114300" y="381000"/>
                  </a:lnTo>
                  <a:lnTo>
                    <a:pt x="5076888" y="381000"/>
                  </a:lnTo>
                  <a:lnTo>
                    <a:pt x="5191188" y="381000"/>
                  </a:lnTo>
                  <a:lnTo>
                    <a:pt x="5191188" y="266700"/>
                  </a:lnTo>
                  <a:lnTo>
                    <a:pt x="5191188" y="190500"/>
                  </a:lnTo>
                  <a:lnTo>
                    <a:pt x="5191188" y="114300"/>
                  </a:lnTo>
                  <a:close/>
                </a:path>
              </a:pathLst>
            </a:custGeom>
            <a:solidFill>
              <a:srgbClr val="019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397625" y="1662810"/>
            <a:ext cx="145732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Tahoma"/>
                <a:cs typeface="Tahoma"/>
              </a:rPr>
              <a:t>Quantity</a:t>
            </a:r>
            <a:r>
              <a:rPr sz="1300" b="1" spc="2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ahoma"/>
                <a:cs typeface="Tahoma"/>
              </a:rPr>
              <a:t>Checks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16675" y="2048636"/>
            <a:ext cx="4476750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1765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Validates</a:t>
            </a:r>
            <a:r>
              <a:rPr sz="1100" spc="-4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numerical</a:t>
            </a:r>
            <a:r>
              <a:rPr sz="1100" spc="-4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domains</a:t>
            </a:r>
            <a:r>
              <a:rPr sz="1100" spc="-4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to</a:t>
            </a:r>
            <a:r>
              <a:rPr sz="1100" spc="-4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guarantee</a:t>
            </a:r>
            <a:r>
              <a:rPr sz="1100" spc="-4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stock</a:t>
            </a:r>
            <a:r>
              <a:rPr sz="1100" spc="-4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integrity</a:t>
            </a:r>
            <a:r>
              <a:rPr sz="1100" spc="-4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and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transaction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validity.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b="1" dirty="0">
                <a:solidFill>
                  <a:srgbClr val="3E3E3E"/>
                </a:solidFill>
                <a:latin typeface="Tahoma"/>
                <a:cs typeface="Tahoma"/>
              </a:rPr>
              <a:t>Stock</a:t>
            </a:r>
            <a:r>
              <a:rPr sz="1100" b="1" spc="95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3E3E3E"/>
                </a:solidFill>
                <a:latin typeface="Tahoma"/>
                <a:cs typeface="Tahoma"/>
              </a:rPr>
              <a:t>Constraint:</a:t>
            </a:r>
            <a:r>
              <a:rPr sz="1100" b="1" spc="60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CHECK</a:t>
            </a:r>
            <a:r>
              <a:rPr sz="1000" b="1" spc="9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(StockQuantity</a:t>
            </a:r>
            <a:r>
              <a:rPr sz="1000" b="1" spc="9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000" b="1" spc="-225" dirty="0">
                <a:solidFill>
                  <a:srgbClr val="01918C"/>
                </a:solidFill>
                <a:latin typeface="Tahoma"/>
                <a:cs typeface="Tahoma"/>
              </a:rPr>
              <a:t>&gt;=</a:t>
            </a:r>
            <a:r>
              <a:rPr sz="1000" b="1" spc="9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0)</a:t>
            </a:r>
            <a:r>
              <a:rPr sz="1000" b="1" spc="8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on</a:t>
            </a:r>
            <a:r>
              <a:rPr sz="1100" spc="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000" b="1" spc="-10" dirty="0">
                <a:solidFill>
                  <a:srgbClr val="01918C"/>
                </a:solidFill>
                <a:latin typeface="Tahoma"/>
                <a:cs typeface="Tahoma"/>
              </a:rPr>
              <a:t>Batches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b="1" dirty="0">
                <a:solidFill>
                  <a:srgbClr val="3E3E3E"/>
                </a:solidFill>
                <a:latin typeface="Tahoma"/>
                <a:cs typeface="Tahoma"/>
              </a:rPr>
              <a:t>Sales</a:t>
            </a:r>
            <a:r>
              <a:rPr sz="1100" b="1" spc="60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3E3E3E"/>
                </a:solidFill>
                <a:latin typeface="Tahoma"/>
                <a:cs typeface="Tahoma"/>
              </a:rPr>
              <a:t>Constraint:</a:t>
            </a:r>
            <a:r>
              <a:rPr sz="1100" b="1" spc="20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CHECK</a:t>
            </a:r>
            <a:r>
              <a:rPr sz="1000" b="1" spc="6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(Quantity</a:t>
            </a:r>
            <a:r>
              <a:rPr sz="1000" b="1" spc="5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000" b="1" spc="-225" dirty="0">
                <a:solidFill>
                  <a:srgbClr val="01918C"/>
                </a:solidFill>
                <a:latin typeface="Tahoma"/>
                <a:cs typeface="Tahoma"/>
              </a:rPr>
              <a:t>&gt;</a:t>
            </a:r>
            <a:r>
              <a:rPr sz="1000" b="1" spc="6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0)</a:t>
            </a:r>
            <a:r>
              <a:rPr sz="1000" b="1" spc="6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on</a:t>
            </a:r>
            <a:r>
              <a:rPr sz="1100" spc="-3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000" b="1" spc="-10" dirty="0">
                <a:solidFill>
                  <a:srgbClr val="01918C"/>
                </a:solidFill>
                <a:latin typeface="Tahoma"/>
                <a:cs typeface="Tahoma"/>
              </a:rPr>
              <a:t>Sale_Items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1000" spc="-10" dirty="0">
                <a:solidFill>
                  <a:srgbClr val="595959"/>
                </a:solidFill>
                <a:latin typeface="Verdana"/>
                <a:cs typeface="Verdana"/>
              </a:rPr>
              <a:t>Prevents</a:t>
            </a:r>
            <a:r>
              <a:rPr sz="1000" spc="-4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negative</a:t>
            </a:r>
            <a:r>
              <a:rPr sz="1000" spc="-35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595959"/>
                </a:solidFill>
                <a:latin typeface="Verdana"/>
                <a:cs typeface="Verdana"/>
              </a:rPr>
              <a:t>inventory</a:t>
            </a:r>
            <a:r>
              <a:rPr sz="1000" spc="-35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balances</a:t>
            </a:r>
            <a:r>
              <a:rPr sz="1000" spc="-35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and</a:t>
            </a:r>
            <a:r>
              <a:rPr sz="1000" spc="-35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595959"/>
                </a:solidFill>
                <a:latin typeface="Verdana"/>
                <a:cs typeface="Verdana"/>
              </a:rPr>
              <a:t>zero/negative</a:t>
            </a:r>
            <a:r>
              <a:rPr sz="1000" spc="-4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quantity</a:t>
            </a:r>
            <a:r>
              <a:rPr sz="1000" spc="-35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Verdana"/>
                <a:cs typeface="Verdana"/>
              </a:rPr>
              <a:t>sales items.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54697" y="3897947"/>
            <a:ext cx="5206365" cy="2586990"/>
            <a:chOff x="754697" y="3897947"/>
            <a:chExt cx="5206365" cy="2586990"/>
          </a:xfrm>
        </p:grpSpPr>
        <p:sp>
          <p:nvSpPr>
            <p:cNvPr id="22" name="object 22"/>
            <p:cNvSpPr/>
            <p:nvPr/>
          </p:nvSpPr>
          <p:spPr>
            <a:xfrm>
              <a:off x="761999" y="3905249"/>
              <a:ext cx="5191760" cy="2572385"/>
            </a:xfrm>
            <a:custGeom>
              <a:avLst/>
              <a:gdLst/>
              <a:ahLst/>
              <a:cxnLst/>
              <a:rect l="l" t="t" r="r" b="b"/>
              <a:pathLst>
                <a:path w="5191760" h="2572385">
                  <a:moveTo>
                    <a:pt x="5076904" y="2571899"/>
                  </a:moveTo>
                  <a:lnTo>
                    <a:pt x="114295" y="2571899"/>
                  </a:lnTo>
                  <a:lnTo>
                    <a:pt x="69806" y="2562918"/>
                  </a:lnTo>
                  <a:lnTo>
                    <a:pt x="33476" y="2538423"/>
                  </a:lnTo>
                  <a:lnTo>
                    <a:pt x="8981" y="2502093"/>
                  </a:lnTo>
                  <a:lnTo>
                    <a:pt x="0" y="2457604"/>
                  </a:lnTo>
                  <a:lnTo>
                    <a:pt x="0" y="114295"/>
                  </a:lnTo>
                  <a:lnTo>
                    <a:pt x="8981" y="69806"/>
                  </a:lnTo>
                  <a:lnTo>
                    <a:pt x="33476" y="33476"/>
                  </a:lnTo>
                  <a:lnTo>
                    <a:pt x="69806" y="8981"/>
                  </a:lnTo>
                  <a:lnTo>
                    <a:pt x="114295" y="0"/>
                  </a:lnTo>
                  <a:lnTo>
                    <a:pt x="5076904" y="0"/>
                  </a:lnTo>
                  <a:lnTo>
                    <a:pt x="5120643" y="8700"/>
                  </a:lnTo>
                  <a:lnTo>
                    <a:pt x="5157723" y="33476"/>
                  </a:lnTo>
                  <a:lnTo>
                    <a:pt x="5182499" y="70556"/>
                  </a:lnTo>
                  <a:lnTo>
                    <a:pt x="5191199" y="114295"/>
                  </a:lnTo>
                  <a:lnTo>
                    <a:pt x="5191199" y="2457604"/>
                  </a:lnTo>
                  <a:lnTo>
                    <a:pt x="5182218" y="2502093"/>
                  </a:lnTo>
                  <a:lnTo>
                    <a:pt x="5157723" y="2538423"/>
                  </a:lnTo>
                  <a:lnTo>
                    <a:pt x="5121393" y="2562918"/>
                  </a:lnTo>
                  <a:lnTo>
                    <a:pt x="5076904" y="2571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1999" y="3905249"/>
              <a:ext cx="5191760" cy="2572385"/>
            </a:xfrm>
            <a:custGeom>
              <a:avLst/>
              <a:gdLst/>
              <a:ahLst/>
              <a:cxnLst/>
              <a:rect l="l" t="t" r="r" b="b"/>
              <a:pathLst>
                <a:path w="5191760" h="2572385">
                  <a:moveTo>
                    <a:pt x="0" y="114295"/>
                  </a:moveTo>
                  <a:lnTo>
                    <a:pt x="8981" y="69806"/>
                  </a:lnTo>
                  <a:lnTo>
                    <a:pt x="33476" y="33476"/>
                  </a:lnTo>
                  <a:lnTo>
                    <a:pt x="69806" y="8981"/>
                  </a:lnTo>
                  <a:lnTo>
                    <a:pt x="114295" y="0"/>
                  </a:lnTo>
                  <a:lnTo>
                    <a:pt x="5076904" y="0"/>
                  </a:lnTo>
                  <a:lnTo>
                    <a:pt x="5120643" y="8700"/>
                  </a:lnTo>
                  <a:lnTo>
                    <a:pt x="5157723" y="33476"/>
                  </a:lnTo>
                  <a:lnTo>
                    <a:pt x="5182499" y="70556"/>
                  </a:lnTo>
                  <a:lnTo>
                    <a:pt x="5191199" y="114295"/>
                  </a:lnTo>
                  <a:lnTo>
                    <a:pt x="5191199" y="2457604"/>
                  </a:lnTo>
                  <a:lnTo>
                    <a:pt x="5182218" y="2502093"/>
                  </a:lnTo>
                  <a:lnTo>
                    <a:pt x="5157723" y="2538423"/>
                  </a:lnTo>
                  <a:lnTo>
                    <a:pt x="5121393" y="2562918"/>
                  </a:lnTo>
                  <a:lnTo>
                    <a:pt x="5076904" y="2571899"/>
                  </a:lnTo>
                  <a:lnTo>
                    <a:pt x="114295" y="2571899"/>
                  </a:lnTo>
                  <a:lnTo>
                    <a:pt x="69806" y="2562918"/>
                  </a:lnTo>
                  <a:lnTo>
                    <a:pt x="33476" y="2538423"/>
                  </a:lnTo>
                  <a:lnTo>
                    <a:pt x="8981" y="2502093"/>
                  </a:lnTo>
                  <a:lnTo>
                    <a:pt x="0" y="2457604"/>
                  </a:lnTo>
                  <a:lnTo>
                    <a:pt x="0" y="114295"/>
                  </a:lnTo>
                  <a:close/>
                </a:path>
              </a:pathLst>
            </a:custGeom>
            <a:ln w="14299">
              <a:solidFill>
                <a:srgbClr val="0191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62000" y="3905262"/>
              <a:ext cx="5191760" cy="381000"/>
            </a:xfrm>
            <a:custGeom>
              <a:avLst/>
              <a:gdLst/>
              <a:ahLst/>
              <a:cxnLst/>
              <a:rect l="l" t="t" r="r" b="b"/>
              <a:pathLst>
                <a:path w="5191760" h="381000">
                  <a:moveTo>
                    <a:pt x="5191188" y="114300"/>
                  </a:moveTo>
                  <a:lnTo>
                    <a:pt x="5182489" y="70548"/>
                  </a:lnTo>
                  <a:lnTo>
                    <a:pt x="5157711" y="33477"/>
                  </a:lnTo>
                  <a:lnTo>
                    <a:pt x="5120640" y="8699"/>
                  </a:lnTo>
                  <a:lnTo>
                    <a:pt x="5076888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190500"/>
                  </a:lnTo>
                  <a:lnTo>
                    <a:pt x="0" y="266700"/>
                  </a:lnTo>
                  <a:lnTo>
                    <a:pt x="0" y="381000"/>
                  </a:lnTo>
                  <a:lnTo>
                    <a:pt x="114300" y="381000"/>
                  </a:lnTo>
                  <a:lnTo>
                    <a:pt x="5076888" y="381000"/>
                  </a:lnTo>
                  <a:lnTo>
                    <a:pt x="5191188" y="381000"/>
                  </a:lnTo>
                  <a:lnTo>
                    <a:pt x="5191188" y="266700"/>
                  </a:lnTo>
                  <a:lnTo>
                    <a:pt x="5191188" y="190500"/>
                  </a:lnTo>
                  <a:lnTo>
                    <a:pt x="5191188" y="114300"/>
                  </a:lnTo>
                  <a:close/>
                </a:path>
              </a:pathLst>
            </a:custGeom>
            <a:solidFill>
              <a:srgbClr val="019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20750" y="3996435"/>
            <a:ext cx="183515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10" dirty="0">
                <a:solidFill>
                  <a:srgbClr val="FFFFFF"/>
                </a:solidFill>
                <a:latin typeface="Tahoma"/>
                <a:cs typeface="Tahoma"/>
              </a:rPr>
              <a:t>Controlled</a:t>
            </a:r>
            <a:r>
              <a:rPr sz="1300" b="1" spc="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55" dirty="0">
                <a:solidFill>
                  <a:srgbClr val="FFFFFF"/>
                </a:solidFill>
                <a:latin typeface="Tahoma"/>
                <a:cs typeface="Tahoma"/>
              </a:rPr>
              <a:t>Drug</a:t>
            </a:r>
            <a:r>
              <a:rPr sz="1300" b="1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Tahoma"/>
                <a:cs typeface="Tahoma"/>
              </a:rPr>
              <a:t>Flag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39800" y="4382261"/>
            <a:ext cx="421576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Categorizes</a:t>
            </a:r>
            <a:r>
              <a:rPr sz="1100" spc="-4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pharmaceutical</a:t>
            </a:r>
            <a:r>
              <a:rPr sz="1100" spc="-3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items</a:t>
            </a:r>
            <a:r>
              <a:rPr sz="1100" spc="-4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subject</a:t>
            </a:r>
            <a:r>
              <a:rPr sz="1100" spc="-3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to</a:t>
            </a:r>
            <a:r>
              <a:rPr sz="1100" spc="-3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strict</a:t>
            </a:r>
            <a:r>
              <a:rPr sz="1100" spc="-4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legal</a:t>
            </a:r>
            <a:r>
              <a:rPr sz="1100" spc="-3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and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regulatory</a:t>
            </a:r>
            <a:r>
              <a:rPr sz="1100" spc="3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compliance</a:t>
            </a:r>
            <a:r>
              <a:rPr sz="1100" spc="4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requirements.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b="1" spc="10" dirty="0">
                <a:solidFill>
                  <a:srgbClr val="3E3E3E"/>
                </a:solidFill>
                <a:latin typeface="Tahoma"/>
                <a:cs typeface="Tahoma"/>
              </a:rPr>
              <a:t>Column:</a:t>
            </a:r>
            <a:r>
              <a:rPr sz="1100" b="1" spc="40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000" b="1" spc="10" dirty="0">
                <a:solidFill>
                  <a:srgbClr val="01918C"/>
                </a:solidFill>
                <a:latin typeface="Tahoma"/>
                <a:cs typeface="Tahoma"/>
              </a:rPr>
              <a:t>Medicines.IsRestricted</a:t>
            </a:r>
            <a:r>
              <a:rPr sz="1000" b="1" spc="6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(BOOLEAN)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b="1" dirty="0">
                <a:solidFill>
                  <a:srgbClr val="3E3E3E"/>
                </a:solidFill>
                <a:latin typeface="Tahoma"/>
                <a:cs typeface="Tahoma"/>
              </a:rPr>
              <a:t>Business</a:t>
            </a:r>
            <a:r>
              <a:rPr sz="1100" b="1" spc="265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3E3E3E"/>
                </a:solidFill>
                <a:latin typeface="Tahoma"/>
                <a:cs typeface="Tahoma"/>
              </a:rPr>
              <a:t>Rules: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61068" y="5252139"/>
            <a:ext cx="3730625" cy="55626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SzPct val="140000"/>
              <a:buFont typeface="Arial MT"/>
              <a:buChar char="●"/>
              <a:tabLst>
                <a:tab pos="347980" algn="l"/>
              </a:tabLst>
            </a:pPr>
            <a:r>
              <a:rPr sz="1000" b="1" spc="-40" dirty="0">
                <a:solidFill>
                  <a:srgbClr val="01918C"/>
                </a:solidFill>
                <a:latin typeface="Tahoma"/>
                <a:cs typeface="Tahoma"/>
              </a:rPr>
              <a:t>TRUE</a:t>
            </a:r>
            <a:r>
              <a:rPr sz="1100" spc="-40" dirty="0">
                <a:solidFill>
                  <a:srgbClr val="3E3E3E"/>
                </a:solidFill>
                <a:latin typeface="Verdana"/>
                <a:cs typeface="Verdana"/>
              </a:rPr>
              <a:t>:</a:t>
            </a:r>
            <a:r>
              <a:rPr sz="1100" spc="-5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Prescription-only</a:t>
            </a:r>
            <a:r>
              <a:rPr sz="1100" spc="-5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or</a:t>
            </a:r>
            <a:r>
              <a:rPr sz="1100" spc="-5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regulated</a:t>
            </a:r>
            <a:r>
              <a:rPr sz="1100" spc="-50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substances.</a:t>
            </a:r>
            <a:endParaRPr sz="1100">
              <a:latin typeface="Verdana"/>
              <a:cs typeface="Verdana"/>
            </a:endParaRPr>
          </a:p>
          <a:p>
            <a:pPr marL="347980" indent="-335280">
              <a:lnSpc>
                <a:spcPct val="100000"/>
              </a:lnSpc>
              <a:spcBef>
                <a:spcPts val="960"/>
              </a:spcBef>
              <a:buClr>
                <a:srgbClr val="000000"/>
              </a:buClr>
              <a:buSzPct val="140000"/>
              <a:buFont typeface="Arial MT"/>
              <a:buChar char="●"/>
              <a:tabLst>
                <a:tab pos="347980" algn="l"/>
              </a:tabLst>
            </a:pPr>
            <a:r>
              <a:rPr sz="1000" b="1" spc="-25" dirty="0">
                <a:solidFill>
                  <a:srgbClr val="01918C"/>
                </a:solidFill>
                <a:latin typeface="Tahoma"/>
                <a:cs typeface="Tahoma"/>
              </a:rPr>
              <a:t>FALSE</a:t>
            </a:r>
            <a:r>
              <a:rPr sz="1100" spc="-25" dirty="0">
                <a:solidFill>
                  <a:srgbClr val="3E3E3E"/>
                </a:solidFill>
                <a:latin typeface="Verdana"/>
                <a:cs typeface="Verdana"/>
              </a:rPr>
              <a:t>: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 Standard </a:t>
            </a:r>
            <a:r>
              <a:rPr sz="1100" spc="-45" dirty="0">
                <a:solidFill>
                  <a:srgbClr val="3E3E3E"/>
                </a:solidFill>
                <a:latin typeface="Verdana"/>
                <a:cs typeface="Verdana"/>
              </a:rPr>
              <a:t>over-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the-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counter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 medications.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231572" y="3897947"/>
            <a:ext cx="5206365" cy="2586990"/>
            <a:chOff x="6231572" y="3897947"/>
            <a:chExt cx="5206365" cy="2586990"/>
          </a:xfrm>
        </p:grpSpPr>
        <p:sp>
          <p:nvSpPr>
            <p:cNvPr id="29" name="object 29"/>
            <p:cNvSpPr/>
            <p:nvPr/>
          </p:nvSpPr>
          <p:spPr>
            <a:xfrm>
              <a:off x="6238874" y="3905249"/>
              <a:ext cx="5191760" cy="2572385"/>
            </a:xfrm>
            <a:custGeom>
              <a:avLst/>
              <a:gdLst/>
              <a:ahLst/>
              <a:cxnLst/>
              <a:rect l="l" t="t" r="r" b="b"/>
              <a:pathLst>
                <a:path w="5191759" h="2572385">
                  <a:moveTo>
                    <a:pt x="5076904" y="2571899"/>
                  </a:moveTo>
                  <a:lnTo>
                    <a:pt x="114295" y="2571899"/>
                  </a:lnTo>
                  <a:lnTo>
                    <a:pt x="69806" y="2562918"/>
                  </a:lnTo>
                  <a:lnTo>
                    <a:pt x="33476" y="2538423"/>
                  </a:lnTo>
                  <a:lnTo>
                    <a:pt x="8981" y="2502093"/>
                  </a:lnTo>
                  <a:lnTo>
                    <a:pt x="0" y="2457604"/>
                  </a:lnTo>
                  <a:lnTo>
                    <a:pt x="0" y="114295"/>
                  </a:lnTo>
                  <a:lnTo>
                    <a:pt x="8981" y="69806"/>
                  </a:lnTo>
                  <a:lnTo>
                    <a:pt x="33476" y="33476"/>
                  </a:lnTo>
                  <a:lnTo>
                    <a:pt x="69806" y="8981"/>
                  </a:lnTo>
                  <a:lnTo>
                    <a:pt x="114295" y="0"/>
                  </a:lnTo>
                  <a:lnTo>
                    <a:pt x="5076904" y="0"/>
                  </a:lnTo>
                  <a:lnTo>
                    <a:pt x="5120643" y="8700"/>
                  </a:lnTo>
                  <a:lnTo>
                    <a:pt x="5157723" y="33476"/>
                  </a:lnTo>
                  <a:lnTo>
                    <a:pt x="5182499" y="70556"/>
                  </a:lnTo>
                  <a:lnTo>
                    <a:pt x="5191199" y="114295"/>
                  </a:lnTo>
                  <a:lnTo>
                    <a:pt x="5191199" y="2457604"/>
                  </a:lnTo>
                  <a:lnTo>
                    <a:pt x="5182218" y="2502093"/>
                  </a:lnTo>
                  <a:lnTo>
                    <a:pt x="5157723" y="2538423"/>
                  </a:lnTo>
                  <a:lnTo>
                    <a:pt x="5121393" y="2562918"/>
                  </a:lnTo>
                  <a:lnTo>
                    <a:pt x="5076904" y="2571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38874" y="3905249"/>
              <a:ext cx="5191760" cy="2572385"/>
            </a:xfrm>
            <a:custGeom>
              <a:avLst/>
              <a:gdLst/>
              <a:ahLst/>
              <a:cxnLst/>
              <a:rect l="l" t="t" r="r" b="b"/>
              <a:pathLst>
                <a:path w="5191759" h="2572385">
                  <a:moveTo>
                    <a:pt x="0" y="114295"/>
                  </a:moveTo>
                  <a:lnTo>
                    <a:pt x="8981" y="69806"/>
                  </a:lnTo>
                  <a:lnTo>
                    <a:pt x="33476" y="33476"/>
                  </a:lnTo>
                  <a:lnTo>
                    <a:pt x="69806" y="8981"/>
                  </a:lnTo>
                  <a:lnTo>
                    <a:pt x="114295" y="0"/>
                  </a:lnTo>
                  <a:lnTo>
                    <a:pt x="5076904" y="0"/>
                  </a:lnTo>
                  <a:lnTo>
                    <a:pt x="5120643" y="8700"/>
                  </a:lnTo>
                  <a:lnTo>
                    <a:pt x="5157723" y="33476"/>
                  </a:lnTo>
                  <a:lnTo>
                    <a:pt x="5182499" y="70556"/>
                  </a:lnTo>
                  <a:lnTo>
                    <a:pt x="5191199" y="114295"/>
                  </a:lnTo>
                  <a:lnTo>
                    <a:pt x="5191199" y="2457604"/>
                  </a:lnTo>
                  <a:lnTo>
                    <a:pt x="5182218" y="2502093"/>
                  </a:lnTo>
                  <a:lnTo>
                    <a:pt x="5157723" y="2538423"/>
                  </a:lnTo>
                  <a:lnTo>
                    <a:pt x="5121393" y="2562918"/>
                  </a:lnTo>
                  <a:lnTo>
                    <a:pt x="5076904" y="2571899"/>
                  </a:lnTo>
                  <a:lnTo>
                    <a:pt x="114295" y="2571899"/>
                  </a:lnTo>
                  <a:lnTo>
                    <a:pt x="69806" y="2562918"/>
                  </a:lnTo>
                  <a:lnTo>
                    <a:pt x="33476" y="2538423"/>
                  </a:lnTo>
                  <a:lnTo>
                    <a:pt x="8981" y="2502093"/>
                  </a:lnTo>
                  <a:lnTo>
                    <a:pt x="0" y="2457604"/>
                  </a:lnTo>
                  <a:lnTo>
                    <a:pt x="0" y="114295"/>
                  </a:lnTo>
                  <a:close/>
                </a:path>
              </a:pathLst>
            </a:custGeom>
            <a:ln w="14299">
              <a:solidFill>
                <a:srgbClr val="01918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38875" y="3905262"/>
              <a:ext cx="5191760" cy="381000"/>
            </a:xfrm>
            <a:custGeom>
              <a:avLst/>
              <a:gdLst/>
              <a:ahLst/>
              <a:cxnLst/>
              <a:rect l="l" t="t" r="r" b="b"/>
              <a:pathLst>
                <a:path w="5191759" h="381000">
                  <a:moveTo>
                    <a:pt x="5191188" y="114300"/>
                  </a:moveTo>
                  <a:lnTo>
                    <a:pt x="5182489" y="70548"/>
                  </a:lnTo>
                  <a:lnTo>
                    <a:pt x="5157711" y="33477"/>
                  </a:lnTo>
                  <a:lnTo>
                    <a:pt x="5120640" y="8699"/>
                  </a:lnTo>
                  <a:lnTo>
                    <a:pt x="5076888" y="0"/>
                  </a:lnTo>
                  <a:lnTo>
                    <a:pt x="114300" y="0"/>
                  </a:lnTo>
                  <a:lnTo>
                    <a:pt x="69799" y="8978"/>
                  </a:lnTo>
                  <a:lnTo>
                    <a:pt x="33477" y="33477"/>
                  </a:lnTo>
                  <a:lnTo>
                    <a:pt x="8978" y="69799"/>
                  </a:lnTo>
                  <a:lnTo>
                    <a:pt x="0" y="114300"/>
                  </a:lnTo>
                  <a:lnTo>
                    <a:pt x="0" y="190500"/>
                  </a:lnTo>
                  <a:lnTo>
                    <a:pt x="0" y="266700"/>
                  </a:lnTo>
                  <a:lnTo>
                    <a:pt x="0" y="381000"/>
                  </a:lnTo>
                  <a:lnTo>
                    <a:pt x="114300" y="381000"/>
                  </a:lnTo>
                  <a:lnTo>
                    <a:pt x="5076888" y="381000"/>
                  </a:lnTo>
                  <a:lnTo>
                    <a:pt x="5191188" y="381000"/>
                  </a:lnTo>
                  <a:lnTo>
                    <a:pt x="5191188" y="266700"/>
                  </a:lnTo>
                  <a:lnTo>
                    <a:pt x="5191188" y="190500"/>
                  </a:lnTo>
                  <a:lnTo>
                    <a:pt x="5191188" y="114300"/>
                  </a:lnTo>
                  <a:close/>
                </a:path>
              </a:pathLst>
            </a:custGeom>
            <a:solidFill>
              <a:srgbClr val="01918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6397625" y="3996435"/>
            <a:ext cx="285432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FFFFFF"/>
                </a:solidFill>
                <a:latin typeface="Tahoma"/>
                <a:cs typeface="Tahoma"/>
              </a:rPr>
              <a:t>Trigger:</a:t>
            </a:r>
            <a:r>
              <a:rPr sz="1300" b="1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10" dirty="0">
                <a:solidFill>
                  <a:srgbClr val="FFFFFF"/>
                </a:solidFill>
                <a:latin typeface="Tahoma"/>
                <a:cs typeface="Tahoma"/>
              </a:rPr>
              <a:t>EnforcePrescriptionRule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16675" y="4382261"/>
            <a:ext cx="4592320" cy="1424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Automated</a:t>
            </a:r>
            <a:r>
              <a:rPr sz="1100" spc="-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database-</a:t>
            </a:r>
            <a:r>
              <a:rPr sz="1100" spc="-35" dirty="0">
                <a:solidFill>
                  <a:srgbClr val="3E3E3E"/>
                </a:solidFill>
                <a:latin typeface="Verdana"/>
                <a:cs typeface="Verdana"/>
              </a:rPr>
              <a:t>level</a:t>
            </a:r>
            <a:r>
              <a:rPr sz="1100" spc="-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policy enforcement</a:t>
            </a:r>
            <a:r>
              <a:rPr sz="1100" spc="-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E3E3E"/>
                </a:solidFill>
                <a:latin typeface="Verdana"/>
                <a:cs typeface="Verdana"/>
              </a:rPr>
              <a:t>for</a:t>
            </a:r>
            <a:r>
              <a:rPr sz="1100" spc="-5" dirty="0">
                <a:solidFill>
                  <a:srgbClr val="3E3E3E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E3E3E"/>
                </a:solidFill>
                <a:latin typeface="Verdana"/>
                <a:cs typeface="Verdana"/>
              </a:rPr>
              <a:t>regulated </a:t>
            </a:r>
            <a:r>
              <a:rPr sz="1100" spc="-20" dirty="0">
                <a:solidFill>
                  <a:srgbClr val="3E3E3E"/>
                </a:solidFill>
                <a:latin typeface="Verdana"/>
                <a:cs typeface="Verdana"/>
              </a:rPr>
              <a:t>drug </a:t>
            </a:r>
            <a:r>
              <a:rPr sz="1100" spc="-10" dirty="0">
                <a:solidFill>
                  <a:srgbClr val="3E3E3E"/>
                </a:solidFill>
                <a:latin typeface="Verdana"/>
                <a:cs typeface="Verdana"/>
              </a:rPr>
              <a:t>transactions.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b="1" dirty="0">
                <a:solidFill>
                  <a:srgbClr val="3E3E3E"/>
                </a:solidFill>
                <a:latin typeface="Tahoma"/>
                <a:cs typeface="Tahoma"/>
              </a:rPr>
              <a:t>Timing</a:t>
            </a:r>
            <a:r>
              <a:rPr sz="1100" b="1" spc="50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100" b="1" spc="-70" dirty="0">
                <a:solidFill>
                  <a:srgbClr val="3E3E3E"/>
                </a:solidFill>
                <a:latin typeface="Tahoma"/>
                <a:cs typeface="Tahoma"/>
              </a:rPr>
              <a:t>&amp;</a:t>
            </a:r>
            <a:r>
              <a:rPr sz="1100" b="1" spc="50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3E3E3E"/>
                </a:solidFill>
                <a:latin typeface="Tahoma"/>
                <a:cs typeface="Tahoma"/>
              </a:rPr>
              <a:t>Event:</a:t>
            </a:r>
            <a:r>
              <a:rPr sz="1100" b="1" spc="15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000" b="1" spc="50" dirty="0">
                <a:solidFill>
                  <a:srgbClr val="01918C"/>
                </a:solidFill>
                <a:latin typeface="Tahoma"/>
                <a:cs typeface="Tahoma"/>
              </a:rPr>
              <a:t>BEFORE </a:t>
            </a:r>
            <a:r>
              <a:rPr sz="1000" b="1" spc="-10" dirty="0">
                <a:solidFill>
                  <a:srgbClr val="01918C"/>
                </a:solidFill>
                <a:latin typeface="Tahoma"/>
                <a:cs typeface="Tahoma"/>
              </a:rPr>
              <a:t>INSERT</a:t>
            </a:r>
            <a:r>
              <a:rPr sz="1000" b="1" spc="5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000" b="1" dirty="0">
                <a:solidFill>
                  <a:srgbClr val="01918C"/>
                </a:solidFill>
                <a:latin typeface="Tahoma"/>
                <a:cs typeface="Tahoma"/>
              </a:rPr>
              <a:t>ON</a:t>
            </a:r>
            <a:r>
              <a:rPr sz="1000" b="1" spc="5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000" b="1" spc="-10" dirty="0">
                <a:solidFill>
                  <a:srgbClr val="01918C"/>
                </a:solidFill>
                <a:latin typeface="Tahoma"/>
                <a:cs typeface="Tahoma"/>
              </a:rPr>
              <a:t>Sale_Items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100" b="1" dirty="0">
                <a:solidFill>
                  <a:srgbClr val="3E3E3E"/>
                </a:solidFill>
                <a:latin typeface="Tahoma"/>
                <a:cs typeface="Tahoma"/>
              </a:rPr>
              <a:t>Rule</a:t>
            </a:r>
            <a:r>
              <a:rPr sz="1100" b="1" spc="80" dirty="0">
                <a:solidFill>
                  <a:srgbClr val="3E3E3E"/>
                </a:solidFill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3E3E3E"/>
                </a:solidFill>
                <a:latin typeface="Tahoma"/>
                <a:cs typeface="Tahoma"/>
              </a:rPr>
              <a:t>Logic:</a:t>
            </a:r>
            <a:endParaRPr sz="1100">
              <a:latin typeface="Tahoma"/>
              <a:cs typeface="Tahoma"/>
            </a:endParaRPr>
          </a:p>
          <a:p>
            <a:pPr marL="12700" marR="53975">
              <a:lnSpc>
                <a:spcPct val="100000"/>
              </a:lnSpc>
              <a:spcBef>
                <a:spcPts val="605"/>
              </a:spcBef>
            </a:pPr>
            <a:r>
              <a:rPr sz="950" b="1" spc="-50" dirty="0">
                <a:solidFill>
                  <a:srgbClr val="01918C"/>
                </a:solidFill>
                <a:latin typeface="Tahoma"/>
                <a:cs typeface="Tahoma"/>
              </a:rPr>
              <a:t>IF</a:t>
            </a:r>
            <a:r>
              <a:rPr sz="950" b="1" spc="11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50" b="1" dirty="0">
                <a:solidFill>
                  <a:srgbClr val="01918C"/>
                </a:solidFill>
                <a:latin typeface="Tahoma"/>
                <a:cs typeface="Tahoma"/>
              </a:rPr>
              <a:t>Medicine.IsRestricted</a:t>
            </a:r>
            <a:r>
              <a:rPr sz="950" b="1" spc="11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50" b="1" spc="-215" dirty="0">
                <a:solidFill>
                  <a:srgbClr val="01918C"/>
                </a:solidFill>
                <a:latin typeface="Tahoma"/>
                <a:cs typeface="Tahoma"/>
              </a:rPr>
              <a:t>=</a:t>
            </a:r>
            <a:r>
              <a:rPr sz="950" b="1" spc="11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50" b="1" dirty="0">
                <a:solidFill>
                  <a:srgbClr val="01918C"/>
                </a:solidFill>
                <a:latin typeface="Tahoma"/>
                <a:cs typeface="Tahoma"/>
              </a:rPr>
              <a:t>TRUE</a:t>
            </a:r>
            <a:r>
              <a:rPr sz="950" b="1" spc="114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50" b="1" dirty="0">
                <a:solidFill>
                  <a:srgbClr val="01918C"/>
                </a:solidFill>
                <a:latin typeface="Tahoma"/>
                <a:cs typeface="Tahoma"/>
              </a:rPr>
              <a:t>AND</a:t>
            </a:r>
            <a:r>
              <a:rPr sz="950" b="1" spc="11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50" b="1" dirty="0">
                <a:solidFill>
                  <a:srgbClr val="01918C"/>
                </a:solidFill>
                <a:latin typeface="Tahoma"/>
                <a:cs typeface="Tahoma"/>
              </a:rPr>
              <a:t>NEW.PrescriptionID</a:t>
            </a:r>
            <a:r>
              <a:rPr sz="950" b="1" spc="11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50" b="1" spc="-75" dirty="0">
                <a:solidFill>
                  <a:srgbClr val="01918C"/>
                </a:solidFill>
                <a:latin typeface="Tahoma"/>
                <a:cs typeface="Tahoma"/>
              </a:rPr>
              <a:t>IS</a:t>
            </a:r>
            <a:r>
              <a:rPr sz="950" b="1" spc="11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50" b="1" dirty="0">
                <a:solidFill>
                  <a:srgbClr val="01918C"/>
                </a:solidFill>
                <a:latin typeface="Tahoma"/>
                <a:cs typeface="Tahoma"/>
              </a:rPr>
              <a:t>NULL</a:t>
            </a:r>
            <a:r>
              <a:rPr sz="950" b="1" spc="114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50" b="1" spc="-20" dirty="0">
                <a:solidFill>
                  <a:srgbClr val="01918C"/>
                </a:solidFill>
                <a:latin typeface="Tahoma"/>
                <a:cs typeface="Tahoma"/>
              </a:rPr>
              <a:t>THEN </a:t>
            </a:r>
            <a:r>
              <a:rPr sz="950" b="1" dirty="0">
                <a:solidFill>
                  <a:srgbClr val="01918C"/>
                </a:solidFill>
                <a:latin typeface="Tahoma"/>
                <a:cs typeface="Tahoma"/>
              </a:rPr>
              <a:t>ABORT</a:t>
            </a:r>
            <a:r>
              <a:rPr sz="950" b="1" spc="19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950" b="1" spc="-10" dirty="0">
                <a:solidFill>
                  <a:srgbClr val="01918C"/>
                </a:solidFill>
                <a:latin typeface="Tahoma"/>
                <a:cs typeface="Tahoma"/>
              </a:rPr>
              <a:t>INSERT;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Blocks</a:t>
            </a:r>
            <a:r>
              <a:rPr sz="1000" spc="-4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unlawful</a:t>
            </a:r>
            <a:r>
              <a:rPr sz="1000" spc="-4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30" dirty="0">
                <a:solidFill>
                  <a:srgbClr val="595959"/>
                </a:solidFill>
                <a:latin typeface="Verdana"/>
                <a:cs typeface="Verdana"/>
              </a:rPr>
              <a:t>sales</a:t>
            </a:r>
            <a:r>
              <a:rPr sz="1000" spc="-4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Verdana"/>
                <a:cs typeface="Verdana"/>
              </a:rPr>
              <a:t>transactions</a:t>
            </a:r>
            <a:r>
              <a:rPr sz="1000" spc="-4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Verdana"/>
                <a:cs typeface="Verdana"/>
              </a:rPr>
              <a:t>at</a:t>
            </a:r>
            <a:r>
              <a:rPr sz="1000" spc="-4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the</a:t>
            </a:r>
            <a:r>
              <a:rPr sz="1000" spc="-4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engine</a:t>
            </a:r>
            <a:r>
              <a:rPr sz="1000" spc="-4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595959"/>
                </a:solidFill>
                <a:latin typeface="Verdana"/>
                <a:cs typeface="Verdana"/>
              </a:rPr>
              <a:t>level</a:t>
            </a:r>
            <a:r>
              <a:rPr sz="1000" spc="-4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Verdana"/>
                <a:cs typeface="Verdana"/>
              </a:rPr>
              <a:t>prior</a:t>
            </a:r>
            <a:r>
              <a:rPr sz="1000" spc="-4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Verdana"/>
                <a:cs typeface="Verdana"/>
              </a:rPr>
              <a:t>to</a:t>
            </a:r>
            <a:r>
              <a:rPr sz="1000" spc="-4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595959"/>
                </a:solidFill>
                <a:latin typeface="Verdana"/>
                <a:cs typeface="Verdana"/>
              </a:rPr>
              <a:t>data</a:t>
            </a:r>
            <a:r>
              <a:rPr sz="1000" spc="-4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595959"/>
                </a:solidFill>
                <a:latin typeface="Verdana"/>
                <a:cs typeface="Verdana"/>
              </a:rPr>
              <a:t>write.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430000" y="65722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499" y="190499"/>
                </a:moveTo>
                <a:lnTo>
                  <a:pt x="0" y="0"/>
                </a:lnTo>
                <a:lnTo>
                  <a:pt x="190499" y="0"/>
                </a:lnTo>
                <a:lnTo>
                  <a:pt x="190499" y="190499"/>
                </a:lnTo>
                <a:close/>
              </a:path>
            </a:pathLst>
          </a:custGeom>
          <a:solidFill>
            <a:srgbClr val="FFC1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Freeform 32">
            <a:extLst>
              <a:ext uri="{FF2B5EF4-FFF2-40B4-BE49-F238E27FC236}">
                <a16:creationId xmlns:a16="http://schemas.microsoft.com/office/drawing/2014/main" id="{5D82CDC8-0792-75E2-B9D7-2BB592FD3520}"/>
              </a:ext>
            </a:extLst>
          </p:cNvPr>
          <p:cNvSpPr/>
          <p:nvPr/>
        </p:nvSpPr>
        <p:spPr>
          <a:xfrm>
            <a:off x="11201400" y="66339"/>
            <a:ext cx="982824" cy="285231"/>
          </a:xfrm>
          <a:custGeom>
            <a:avLst/>
            <a:gdLst/>
            <a:ahLst/>
            <a:cxnLst/>
            <a:rect l="l" t="t" r="r" b="b"/>
            <a:pathLst>
              <a:path w="1299612" h="703776">
                <a:moveTo>
                  <a:pt x="0" y="0"/>
                </a:moveTo>
                <a:lnTo>
                  <a:pt x="1299612" y="0"/>
                </a:lnTo>
                <a:lnTo>
                  <a:pt x="1299612" y="703776"/>
                </a:lnTo>
                <a:lnTo>
                  <a:pt x="0" y="703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55" y="-7757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476500" y="952500"/>
              <a:ext cx="7239000" cy="4953000"/>
            </a:xfrm>
            <a:custGeom>
              <a:avLst/>
              <a:gdLst/>
              <a:ahLst/>
              <a:cxnLst/>
              <a:rect l="l" t="t" r="r" b="b"/>
              <a:pathLst>
                <a:path w="7239000" h="4953000">
                  <a:moveTo>
                    <a:pt x="6667481" y="4952999"/>
                  </a:moveTo>
                  <a:lnTo>
                    <a:pt x="571519" y="4952999"/>
                  </a:lnTo>
                  <a:lnTo>
                    <a:pt x="515796" y="4951571"/>
                  </a:lnTo>
                  <a:lnTo>
                    <a:pt x="462930" y="4947285"/>
                  </a:lnTo>
                  <a:lnTo>
                    <a:pt x="412922" y="4940142"/>
                  </a:lnTo>
                  <a:lnTo>
                    <a:pt x="365772" y="4930141"/>
                  </a:lnTo>
                  <a:lnTo>
                    <a:pt x="321479" y="4917283"/>
                  </a:lnTo>
                  <a:lnTo>
                    <a:pt x="280044" y="4901568"/>
                  </a:lnTo>
                  <a:lnTo>
                    <a:pt x="241466" y="4882995"/>
                  </a:lnTo>
                  <a:lnTo>
                    <a:pt x="205746" y="4861564"/>
                  </a:lnTo>
                  <a:lnTo>
                    <a:pt x="172884" y="4837277"/>
                  </a:lnTo>
                  <a:lnTo>
                    <a:pt x="142879" y="4810131"/>
                  </a:lnTo>
                  <a:lnTo>
                    <a:pt x="115732" y="4780128"/>
                  </a:lnTo>
                  <a:lnTo>
                    <a:pt x="91443" y="4747268"/>
                  </a:lnTo>
                  <a:lnTo>
                    <a:pt x="70011" y="4711550"/>
                  </a:lnTo>
                  <a:lnTo>
                    <a:pt x="51436" y="4672974"/>
                  </a:lnTo>
                  <a:lnTo>
                    <a:pt x="35719" y="4631540"/>
                  </a:lnTo>
                  <a:lnTo>
                    <a:pt x="22860" y="4587249"/>
                  </a:lnTo>
                  <a:lnTo>
                    <a:pt x="12859" y="4540100"/>
                  </a:lnTo>
                  <a:lnTo>
                    <a:pt x="5715" y="4490093"/>
                  </a:lnTo>
                  <a:lnTo>
                    <a:pt x="1428" y="4437228"/>
                  </a:lnTo>
                  <a:lnTo>
                    <a:pt x="0" y="4381506"/>
                  </a:lnTo>
                  <a:lnTo>
                    <a:pt x="0" y="0"/>
                  </a:lnTo>
                  <a:lnTo>
                    <a:pt x="6667481" y="0"/>
                  </a:lnTo>
                  <a:lnTo>
                    <a:pt x="6723204" y="1428"/>
                  </a:lnTo>
                  <a:lnTo>
                    <a:pt x="6776069" y="5714"/>
                  </a:lnTo>
                  <a:lnTo>
                    <a:pt x="6826077" y="12857"/>
                  </a:lnTo>
                  <a:lnTo>
                    <a:pt x="6873227" y="22858"/>
                  </a:lnTo>
                  <a:lnTo>
                    <a:pt x="6917520" y="35716"/>
                  </a:lnTo>
                  <a:lnTo>
                    <a:pt x="6958955" y="51431"/>
                  </a:lnTo>
                  <a:lnTo>
                    <a:pt x="6997533" y="70004"/>
                  </a:lnTo>
                  <a:lnTo>
                    <a:pt x="7033253" y="91435"/>
                  </a:lnTo>
                  <a:lnTo>
                    <a:pt x="7066115" y="115722"/>
                  </a:lnTo>
                  <a:lnTo>
                    <a:pt x="7096120" y="142868"/>
                  </a:lnTo>
                  <a:lnTo>
                    <a:pt x="7123267" y="172871"/>
                  </a:lnTo>
                  <a:lnTo>
                    <a:pt x="7147556" y="205731"/>
                  </a:lnTo>
                  <a:lnTo>
                    <a:pt x="7168988" y="241449"/>
                  </a:lnTo>
                  <a:lnTo>
                    <a:pt x="7187563" y="280025"/>
                  </a:lnTo>
                  <a:lnTo>
                    <a:pt x="7203280" y="321459"/>
                  </a:lnTo>
                  <a:lnTo>
                    <a:pt x="7216139" y="365750"/>
                  </a:lnTo>
                  <a:lnTo>
                    <a:pt x="7226140" y="412899"/>
                  </a:lnTo>
                  <a:lnTo>
                    <a:pt x="7233284" y="462906"/>
                  </a:lnTo>
                  <a:lnTo>
                    <a:pt x="7237571" y="515771"/>
                  </a:lnTo>
                  <a:lnTo>
                    <a:pt x="7238999" y="571493"/>
                  </a:lnTo>
                  <a:lnTo>
                    <a:pt x="7238999" y="4381506"/>
                  </a:lnTo>
                  <a:lnTo>
                    <a:pt x="7237571" y="4437228"/>
                  </a:lnTo>
                  <a:lnTo>
                    <a:pt x="7233284" y="4490093"/>
                  </a:lnTo>
                  <a:lnTo>
                    <a:pt x="7226140" y="4540100"/>
                  </a:lnTo>
                  <a:lnTo>
                    <a:pt x="7216139" y="4587249"/>
                  </a:lnTo>
                  <a:lnTo>
                    <a:pt x="7203280" y="4631540"/>
                  </a:lnTo>
                  <a:lnTo>
                    <a:pt x="7187563" y="4672974"/>
                  </a:lnTo>
                  <a:lnTo>
                    <a:pt x="7168988" y="4711550"/>
                  </a:lnTo>
                  <a:lnTo>
                    <a:pt x="7147556" y="4747268"/>
                  </a:lnTo>
                  <a:lnTo>
                    <a:pt x="7123267" y="4780128"/>
                  </a:lnTo>
                  <a:lnTo>
                    <a:pt x="7096120" y="4810131"/>
                  </a:lnTo>
                  <a:lnTo>
                    <a:pt x="7066115" y="4837277"/>
                  </a:lnTo>
                  <a:lnTo>
                    <a:pt x="7033253" y="4861564"/>
                  </a:lnTo>
                  <a:lnTo>
                    <a:pt x="6997533" y="4882995"/>
                  </a:lnTo>
                  <a:lnTo>
                    <a:pt x="6958955" y="4901568"/>
                  </a:lnTo>
                  <a:lnTo>
                    <a:pt x="6917520" y="4917283"/>
                  </a:lnTo>
                  <a:lnTo>
                    <a:pt x="6873227" y="4930141"/>
                  </a:lnTo>
                  <a:lnTo>
                    <a:pt x="6826077" y="4940142"/>
                  </a:lnTo>
                  <a:lnTo>
                    <a:pt x="6776069" y="4947285"/>
                  </a:lnTo>
                  <a:lnTo>
                    <a:pt x="6723204" y="4951571"/>
                  </a:lnTo>
                  <a:lnTo>
                    <a:pt x="6667481" y="4952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578272" y="2133935"/>
              <a:ext cx="1184275" cy="1186180"/>
            </a:xfrm>
            <a:custGeom>
              <a:avLst/>
              <a:gdLst/>
              <a:ahLst/>
              <a:cxnLst/>
              <a:rect l="l" t="t" r="r" b="b"/>
              <a:pathLst>
                <a:path w="1184275" h="1186179">
                  <a:moveTo>
                    <a:pt x="615834" y="1185939"/>
                  </a:moveTo>
                  <a:lnTo>
                    <a:pt x="568341" y="1185939"/>
                  </a:lnTo>
                  <a:lnTo>
                    <a:pt x="522654" y="1171403"/>
                  </a:lnTo>
                  <a:lnTo>
                    <a:pt x="482387" y="1142332"/>
                  </a:lnTo>
                  <a:lnTo>
                    <a:pt x="43625" y="703565"/>
                  </a:lnTo>
                  <a:lnTo>
                    <a:pt x="14541" y="663300"/>
                  </a:lnTo>
                  <a:lnTo>
                    <a:pt x="0" y="617619"/>
                  </a:lnTo>
                  <a:lnTo>
                    <a:pt x="0" y="570132"/>
                  </a:lnTo>
                  <a:lnTo>
                    <a:pt x="14541" y="524450"/>
                  </a:lnTo>
                  <a:lnTo>
                    <a:pt x="43625" y="484186"/>
                  </a:lnTo>
                  <a:lnTo>
                    <a:pt x="482387" y="45439"/>
                  </a:lnTo>
                  <a:lnTo>
                    <a:pt x="533708" y="11359"/>
                  </a:lnTo>
                  <a:lnTo>
                    <a:pt x="592087" y="0"/>
                  </a:lnTo>
                  <a:lnTo>
                    <a:pt x="621720" y="2839"/>
                  </a:lnTo>
                  <a:lnTo>
                    <a:pt x="677448" y="25559"/>
                  </a:lnTo>
                  <a:lnTo>
                    <a:pt x="1140550" y="484186"/>
                  </a:lnTo>
                  <a:lnTo>
                    <a:pt x="1169633" y="524450"/>
                  </a:lnTo>
                  <a:lnTo>
                    <a:pt x="1184175" y="570132"/>
                  </a:lnTo>
                  <a:lnTo>
                    <a:pt x="1184175" y="617619"/>
                  </a:lnTo>
                  <a:lnTo>
                    <a:pt x="1169633" y="663300"/>
                  </a:lnTo>
                  <a:lnTo>
                    <a:pt x="1140550" y="703565"/>
                  </a:lnTo>
                  <a:lnTo>
                    <a:pt x="701788" y="1142332"/>
                  </a:lnTo>
                  <a:lnTo>
                    <a:pt x="661520" y="1171403"/>
                  </a:lnTo>
                  <a:lnTo>
                    <a:pt x="615834" y="1185939"/>
                  </a:lnTo>
                  <a:close/>
                </a:path>
              </a:pathLst>
            </a:custGeom>
            <a:solidFill>
              <a:srgbClr val="FFC1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578272" y="1885847"/>
              <a:ext cx="1184275" cy="1186180"/>
            </a:xfrm>
            <a:custGeom>
              <a:avLst/>
              <a:gdLst/>
              <a:ahLst/>
              <a:cxnLst/>
              <a:rect l="l" t="t" r="r" b="b"/>
              <a:pathLst>
                <a:path w="1184275" h="1186180">
                  <a:moveTo>
                    <a:pt x="592087" y="0"/>
                  </a:moveTo>
                  <a:lnTo>
                    <a:pt x="650466" y="11361"/>
                  </a:lnTo>
                  <a:lnTo>
                    <a:pt x="701788" y="45446"/>
                  </a:lnTo>
                  <a:lnTo>
                    <a:pt x="1140550" y="484257"/>
                  </a:lnTo>
                  <a:lnTo>
                    <a:pt x="1169633" y="524528"/>
                  </a:lnTo>
                  <a:lnTo>
                    <a:pt x="1184175" y="570219"/>
                  </a:lnTo>
                  <a:lnTo>
                    <a:pt x="1184175" y="617716"/>
                  </a:lnTo>
                  <a:lnTo>
                    <a:pt x="1169633" y="663407"/>
                  </a:lnTo>
                  <a:lnTo>
                    <a:pt x="1140550" y="703678"/>
                  </a:lnTo>
                  <a:lnTo>
                    <a:pt x="701788" y="1142480"/>
                  </a:lnTo>
                  <a:lnTo>
                    <a:pt x="661520" y="1171565"/>
                  </a:lnTo>
                  <a:lnTo>
                    <a:pt x="615834" y="1186108"/>
                  </a:lnTo>
                  <a:lnTo>
                    <a:pt x="568341" y="1186108"/>
                  </a:lnTo>
                  <a:lnTo>
                    <a:pt x="522654" y="1171565"/>
                  </a:lnTo>
                  <a:lnTo>
                    <a:pt x="482387" y="1142480"/>
                  </a:lnTo>
                  <a:lnTo>
                    <a:pt x="43625" y="703678"/>
                  </a:lnTo>
                  <a:lnTo>
                    <a:pt x="14541" y="663407"/>
                  </a:lnTo>
                  <a:lnTo>
                    <a:pt x="0" y="617716"/>
                  </a:lnTo>
                  <a:lnTo>
                    <a:pt x="0" y="570219"/>
                  </a:lnTo>
                  <a:lnTo>
                    <a:pt x="14541" y="524528"/>
                  </a:lnTo>
                  <a:lnTo>
                    <a:pt x="43625" y="484257"/>
                  </a:lnTo>
                  <a:lnTo>
                    <a:pt x="482387" y="45446"/>
                  </a:lnTo>
                  <a:lnTo>
                    <a:pt x="533708" y="11361"/>
                  </a:lnTo>
                  <a:lnTo>
                    <a:pt x="592087" y="0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4132745" y="1081883"/>
            <a:ext cx="3928745" cy="1223645"/>
          </a:xfrm>
          <a:prstGeom prst="rect">
            <a:avLst/>
          </a:prstGeom>
        </p:spPr>
        <p:txBody>
          <a:bodyPr vert="horz" wrap="square" lIns="0" tIns="1797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15"/>
              </a:spcBef>
            </a:pPr>
            <a:r>
              <a:rPr sz="4450" spc="135" dirty="0"/>
              <a:t>Thank</a:t>
            </a:r>
            <a:r>
              <a:rPr sz="4450" spc="-40" dirty="0"/>
              <a:t> </a:t>
            </a:r>
            <a:r>
              <a:rPr sz="4450" spc="-25" dirty="0"/>
              <a:t>You</a:t>
            </a:r>
            <a:endParaRPr sz="4450"/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1850" spc="95" dirty="0">
                <a:solidFill>
                  <a:srgbClr val="02C1BB"/>
                </a:solidFill>
              </a:rPr>
              <a:t>Open</a:t>
            </a:r>
            <a:r>
              <a:rPr sz="1850" spc="-5" dirty="0">
                <a:solidFill>
                  <a:srgbClr val="02C1BB"/>
                </a:solidFill>
              </a:rPr>
              <a:t> </a:t>
            </a:r>
            <a:r>
              <a:rPr sz="1850" dirty="0">
                <a:solidFill>
                  <a:srgbClr val="02C1BB"/>
                </a:solidFill>
              </a:rPr>
              <a:t>for </a:t>
            </a:r>
            <a:r>
              <a:rPr sz="1850" spc="50" dirty="0">
                <a:solidFill>
                  <a:srgbClr val="02C1BB"/>
                </a:solidFill>
              </a:rPr>
              <a:t>Questions</a:t>
            </a:r>
            <a:r>
              <a:rPr sz="1850" spc="-5" dirty="0">
                <a:solidFill>
                  <a:srgbClr val="02C1BB"/>
                </a:solidFill>
              </a:rPr>
              <a:t> </a:t>
            </a:r>
            <a:r>
              <a:rPr sz="1850" spc="-120" dirty="0">
                <a:solidFill>
                  <a:srgbClr val="02C1BB"/>
                </a:solidFill>
              </a:rPr>
              <a:t>&amp;</a:t>
            </a:r>
            <a:r>
              <a:rPr sz="1850" dirty="0">
                <a:solidFill>
                  <a:srgbClr val="02C1BB"/>
                </a:solidFill>
              </a:rPr>
              <a:t> </a:t>
            </a:r>
            <a:r>
              <a:rPr sz="1850" spc="60" dirty="0">
                <a:solidFill>
                  <a:srgbClr val="02C1BB"/>
                </a:solidFill>
              </a:rPr>
              <a:t>Feedback</a:t>
            </a:r>
            <a:endParaRPr sz="1850"/>
          </a:p>
        </p:txBody>
      </p:sp>
      <p:sp>
        <p:nvSpPr>
          <p:cNvPr id="11" name="object 11"/>
          <p:cNvSpPr txBox="1"/>
          <p:nvPr/>
        </p:nvSpPr>
        <p:spPr>
          <a:xfrm>
            <a:off x="3083003" y="2574944"/>
            <a:ext cx="6026785" cy="45529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1000" b="1" spc="35" dirty="0">
                <a:solidFill>
                  <a:srgbClr val="02C1BB"/>
                </a:solidFill>
                <a:latin typeface="Tahoma"/>
                <a:cs typeface="Tahoma"/>
              </a:rPr>
              <a:t>PROJECT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25"/>
              </a:spcBef>
            </a:pPr>
            <a:r>
              <a:rPr sz="1350" b="1" spc="75" dirty="0">
                <a:solidFill>
                  <a:srgbClr val="01918C"/>
                </a:solidFill>
                <a:latin typeface="Tahoma"/>
                <a:cs typeface="Tahoma"/>
              </a:rPr>
              <a:t>Pharmacy</a:t>
            </a:r>
            <a:r>
              <a:rPr sz="1350" b="1" spc="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50" b="1" spc="50" dirty="0">
                <a:solidFill>
                  <a:srgbClr val="01918C"/>
                </a:solidFill>
                <a:latin typeface="Tahoma"/>
                <a:cs typeface="Tahoma"/>
              </a:rPr>
              <a:t>Prescription</a:t>
            </a:r>
            <a:r>
              <a:rPr sz="1350" b="1" spc="1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50" b="1" spc="80" dirty="0">
                <a:solidFill>
                  <a:srgbClr val="01918C"/>
                </a:solidFill>
                <a:latin typeface="Tahoma"/>
                <a:cs typeface="Tahoma"/>
              </a:rPr>
              <a:t>and</a:t>
            </a:r>
            <a:r>
              <a:rPr sz="1350" b="1" spc="1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50" b="1" spc="65" dirty="0">
                <a:solidFill>
                  <a:srgbClr val="01918C"/>
                </a:solidFill>
                <a:latin typeface="Tahoma"/>
                <a:cs typeface="Tahoma"/>
              </a:rPr>
              <a:t>Medicine</a:t>
            </a:r>
            <a:r>
              <a:rPr sz="1350" b="1" spc="1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50" b="1" spc="60" dirty="0">
                <a:solidFill>
                  <a:srgbClr val="01918C"/>
                </a:solidFill>
                <a:latin typeface="Tahoma"/>
                <a:cs typeface="Tahoma"/>
              </a:rPr>
              <a:t>Stock</a:t>
            </a:r>
            <a:r>
              <a:rPr sz="1350" b="1" spc="5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50" b="1" spc="85" dirty="0">
                <a:solidFill>
                  <a:srgbClr val="01918C"/>
                </a:solidFill>
                <a:latin typeface="Tahoma"/>
                <a:cs typeface="Tahoma"/>
              </a:rPr>
              <a:t>Management</a:t>
            </a:r>
            <a:r>
              <a:rPr sz="1350" b="1" spc="10" dirty="0">
                <a:solidFill>
                  <a:srgbClr val="01918C"/>
                </a:solidFill>
                <a:latin typeface="Tahoma"/>
                <a:cs typeface="Tahoma"/>
              </a:rPr>
              <a:t> </a:t>
            </a:r>
            <a:r>
              <a:rPr sz="1350" b="1" spc="45" dirty="0">
                <a:solidFill>
                  <a:srgbClr val="01918C"/>
                </a:solidFill>
                <a:latin typeface="Tahoma"/>
                <a:cs typeface="Tahoma"/>
              </a:rPr>
              <a:t>System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72000" y="4367471"/>
            <a:ext cx="28892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solidFill>
                  <a:srgbClr val="595959"/>
                </a:solidFill>
                <a:latin typeface="Tahoma"/>
                <a:cs typeface="Tahoma"/>
              </a:rPr>
              <a:t>Woxsen</a:t>
            </a:r>
            <a:r>
              <a:rPr sz="1100" b="1" spc="10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595959"/>
                </a:solidFill>
                <a:latin typeface="Tahoma"/>
                <a:cs typeface="Tahoma"/>
              </a:rPr>
              <a:t>University</a:t>
            </a:r>
            <a:r>
              <a:rPr sz="1100" b="1" spc="10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365" dirty="0">
                <a:solidFill>
                  <a:srgbClr val="02C1BB"/>
                </a:solidFill>
                <a:latin typeface="Tahoma"/>
                <a:cs typeface="Tahoma"/>
              </a:rPr>
              <a:t>|</a:t>
            </a:r>
            <a:r>
              <a:rPr sz="1100" b="1" spc="105" dirty="0">
                <a:solidFill>
                  <a:srgbClr val="02C1BB"/>
                </a:solidFill>
                <a:latin typeface="Tahoma"/>
                <a:cs typeface="Tahoma"/>
              </a:rPr>
              <a:t> </a:t>
            </a:r>
            <a:r>
              <a:rPr sz="1100" b="1" dirty="0">
                <a:solidFill>
                  <a:srgbClr val="595959"/>
                </a:solidFill>
                <a:latin typeface="Tahoma"/>
                <a:cs typeface="Tahoma"/>
              </a:rPr>
              <a:t>B.Tech</a:t>
            </a:r>
            <a:r>
              <a:rPr sz="1100" b="1" spc="10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spc="-75" dirty="0">
                <a:solidFill>
                  <a:srgbClr val="595959"/>
                </a:solidFill>
                <a:latin typeface="Tahoma"/>
                <a:cs typeface="Tahoma"/>
              </a:rPr>
              <a:t>(2025–</a:t>
            </a:r>
            <a:r>
              <a:rPr sz="1100" b="1" spc="-10" dirty="0">
                <a:solidFill>
                  <a:srgbClr val="595959"/>
                </a:solidFill>
                <a:latin typeface="Tahoma"/>
                <a:cs typeface="Tahoma"/>
              </a:rPr>
              <a:t>2029)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9" name="Freeform 32">
            <a:extLst>
              <a:ext uri="{FF2B5EF4-FFF2-40B4-BE49-F238E27FC236}">
                <a16:creationId xmlns:a16="http://schemas.microsoft.com/office/drawing/2014/main" id="{CD28E746-051A-24E7-E9E2-0BB497B09725}"/>
              </a:ext>
            </a:extLst>
          </p:cNvPr>
          <p:cNvSpPr/>
          <p:nvPr/>
        </p:nvSpPr>
        <p:spPr>
          <a:xfrm>
            <a:off x="11201400" y="66339"/>
            <a:ext cx="982824" cy="285231"/>
          </a:xfrm>
          <a:custGeom>
            <a:avLst/>
            <a:gdLst/>
            <a:ahLst/>
            <a:cxnLst/>
            <a:rect l="l" t="t" r="r" b="b"/>
            <a:pathLst>
              <a:path w="1299612" h="703776">
                <a:moveTo>
                  <a:pt x="0" y="0"/>
                </a:moveTo>
                <a:lnTo>
                  <a:pt x="1299612" y="0"/>
                </a:lnTo>
                <a:lnTo>
                  <a:pt x="1299612" y="703776"/>
                </a:lnTo>
                <a:lnTo>
                  <a:pt x="0" y="703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785</Words>
  <Application>Microsoft Office PowerPoint</Application>
  <PresentationFormat>Widescreen</PresentationFormat>
  <Paragraphs>134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MT</vt:lpstr>
      <vt:lpstr>Calibri</vt:lpstr>
      <vt:lpstr>Tahoma</vt:lpstr>
      <vt:lpstr>Verdana</vt:lpstr>
      <vt:lpstr>Office Theme</vt:lpstr>
      <vt:lpstr>Pharmacy Prescription and Medicine Stock Management System</vt:lpstr>
      <vt:lpstr>Conceptual Design: Entity-Relationship (ER) Diagram</vt:lpstr>
      <vt:lpstr>Relational Schema: Master Data &amp; Inventory</vt:lpstr>
      <vt:lpstr>Relational Schema: Transactions &amp; Movements</vt:lpstr>
      <vt:lpstr>Normalization Pipeline: Achieving 1NF &amp; 2NF</vt:lpstr>
      <vt:lpstr>Third Normal Form (3NF) &amp; Dependency Resolution</vt:lpstr>
      <vt:lpstr>Integrity Constraints &amp; Business Rule Enforcement</vt:lpstr>
      <vt:lpstr>Thank You Open for Questions &amp;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y abhinavsriram</cp:lastModifiedBy>
  <cp:revision>2</cp:revision>
  <dcterms:created xsi:type="dcterms:W3CDTF">2026-09-14T16:21:43Z</dcterms:created>
  <dcterms:modified xsi:type="dcterms:W3CDTF">2026-09-14T16:52:56Z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2026-09-14T00:00:00Z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2026-09-14T00:00:00Z</vt:filetime>
  </property>
</Properties>
</file>